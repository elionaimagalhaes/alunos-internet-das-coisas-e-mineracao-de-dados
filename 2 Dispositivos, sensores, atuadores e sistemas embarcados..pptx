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0523" autoAdjust="0"/>
  </p:normalViewPr>
  <p:slideViewPr>
    <p:cSldViewPr snapToGrid="0" snapToObjects="1">
      <p:cViewPr varScale="1">
        <p:scale>
          <a:sx n="66" d="100"/>
          <a:sy n="66" d="100"/>
        </p:scale>
        <p:origin x="130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6223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Apresente a aula como uma ponte entre hardware, software e rede. Explique que IoT significa conectar objetos físicos à internet ou a redes locais para coletar dados, tomar decisões e acionar respostas. Antecipe que não é necessário dominar eletrônica para acompanhar, pois os conceitos serão introduzidos progressivamente.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Use a estufa como exemplo integrador da aula. Reforce que o objetivo de IoT não é apenas “colocar internet” em um objeto, mas criar um ciclo de percepção, processamento, comunicação e ação.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Explique que os objetivos são verificáveis: o estudante deve conseguir nomear, diferenciar e aplicar conceitos. Faça a transição informando que a aula começará pela visão geral da arquitetura IoT.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Defina “objeto físico” como qualquer equipamento capaz de interagir com o mundo real. Explique “nuvem” como servidores acessados pela internet. Evite aprofundar protocolos neste momento; foque no ciclo de funcionamento.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Desenhe oralmente o ciclo: sensor, processamento, comunicação, atuador e registro. Aponte que nem todo sistema IoT precisa de todos os elementos externos, mas o ciclo ajuda a organizar o raciocínio.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Explique que esses componentes trabalham juntos. Destaque o termo “grandeza” como característica mensurável, como temperatura, pressão, luz ou movimento. Prepare a transição para o conceito de dispositivo.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Defina hardware como a parte física. Defina firmware como software gravado no dispositivo para controlar seu funcionamento. Antecipe erro comum: nem todo aparelho eletrônico é IoT; ele precisa participar de uma rede ou sistema digital.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Use a analogia dos sentidos humanos: sensores são como olhos, ouvidos e pele do sistema. Explique que os dados podem ser numéricos ou estados simples, como aberto/fechado.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Explique “contínuo” usando o exemplo de volume de som variando suavemente. Explique “discreto” como valores separados, por exemplo 0 ou 1. Não entre em matemática pesada; mantenha foco no conceito.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Relacione cada grandeza a uma aplicação real. Reforce que o sensor certo depende do problema a resolver, não apenas do preço ou da disponibilidade.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Explique a diferença entre precisão e resolução com uma régua: uma régua com marcações pequenas tem boa resolução, mas pode estar mal posicionada e medir com erro. A transição natural é mostrar que medir não basta; é preciso agir.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Use a analogia: atuadores são os “músculos” do sistema. Explique que muitos atuadores exigem circuitos de potência e cuidados elétricos. Evite incentivar montagem com rede elétrica sem supervisão.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Explique rapidamente cada atuador e conecte com exemplos cotidianos. Destaque que o atuador deve ser escolhido de acordo com o tipo de ação necessária.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Antecipe o erro de confundir sensor com dispositivo. Um dispositivo pode conter sensores e atuadores ao mesmo tempo. Peça aos estudantes exemplos rápidos: celular tem sensor? Tem atuador?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Explique que “dedicado” significa projetado para uma tarefa principal, diferente de um computador de uso geral. Relacione com IoT: muitos dispositivos IoT são sistemas embarcados conectados.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Explique “periféricos” como recursos de entrada e saída, como portas digitais, ADC, comunicação serial e temporizadores. Dê exemplos genéricos sem prender a uma marca.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Mostre que muitos projetos de IoT podem ser desenhados como entrada-processamento-saída. Essa estrutura ajuda estudantes com diferentes níveis de conhecimento prévio.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Explique que firmware não é apenas código de exemplo; em aplicações reais deve ser robusto. Antecipe dúvidas sobre diferença entre firmware e aplicativo: firmware roda no dispositivo; aplicativo roda em celular, computador ou servidor.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Explique “limiar” como valor de corte. Explique “histerese” com o exemplo dos 30 °C e 28 °C, mostrando que evita oscilações quando a temperatura fica perto do limite.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Defina protocolo como conjunto de regras de comunicação. Não aprofunde especificações técnicas; apresente critérios de escolha. Mostre que Wi‑Fi nem sempre é a melhor solução.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Use uma representação em camadas. Explique “borda” como processamento perto do dispositivo. Essa ideia prepara a discussão sobre processamento local e nuvem.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Explique latência como atraso entre evento e resposta. Destaque que decisões críticas não devem depender exclusivamente de conexão com internet.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Mostre que programadores precisam pensar em significado dos dados. Explique que timestamp é o registro de data e hora de uma medição.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Percorra o exemplo passo a passo: problema, dados necessários, sensores, regras e saída. Reforce a diferença entre automatizar completamente e apenas recomendar uma ação.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Explique que o limite deve ser definido conforme planta, solo e clima. Antecipe erro: ligar bomba continuamente sem medir novamente pode causar desperdício ou dano.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Enfatize segurança e testes incrementais. Mostre que projetos IoT falham quando se tenta integrar tudo de uma vez sem validar partes menores.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Discuta cada erro como oportunidade de melhoria. Aponte que “funcionar uma vez” não significa estar pronto para uso real.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Defina criptografia como técnica para proteger dados contra leitura indevida. Evite termos excessivamente técnicos. Relacione com responsabilidade profissional do engenheiro.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Defina API como interface de comunicação entre sistemas. Defina JSON como formato textual comum para representar dados estruturados. Conecte IoT com conteúdos de programação web.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Explique ida e volta de dados: telemetria do dispositivo para o sistema e comando do usuário para o dispositivo. Antecipe que comandos devem ter autenticação.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Mostre que escolha técnica envolve restrições reais. Reforce que componentes baratos podem ser úteis para protótipos, mas aplicações críticas exigem validação maior.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Este slide consolida conceitos. Peça que os estudantes identifiquem sensores, atuadores, sistema embarcado, comunicação e aplicação. Prepare a transição para revisão.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Use este momento para revisar conceitos-chave. Pergunte: qual componente mede? Qual componente age? Onde entra o software? Onde entra a rede?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Organize a turma em duplas ou pequenos grupos. Dê de 8 a 10 minutos para discussão e 2 minutos para compartilhamento de respostas. Estimule justificativas: por que escolheram esses sensores e atuadores?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para a explicação do professor:
Explique que existem várias respostas corretas desde que sejam coerentes. Valorize justificativas técnicas: grandeza medida, ação executada, regra, comunicação e segurança. Finalize retomando o ciclo medir-processar-comunicar-agir.
Tempo sugerido: aproximadamente 2 minutos, ajustando conforme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236208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das Coisas: dispositivos, sensores, atuadores e sistemas embarcados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1065276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Disciplina: Internet das Coisas</a:t>
            </a:r>
            <a:endParaRPr lang="en-US" sz="2200" dirty="0"/>
          </a:p>
          <a:p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Conteúdo: dispositivos, sensores, atuadores e sistemas embarcados</a:t>
            </a:r>
            <a:endParaRPr lang="en-US" sz="2200" dirty="0"/>
          </a:p>
          <a:p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Público-alvo: estudantes de graduação</a:t>
            </a:r>
            <a:endParaRPr lang="en-US" sz="2200" dirty="0"/>
          </a:p>
          <a:p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Foco: conceitos fundamentais e aplicação prática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Exemplo de partida: uma sala inteligente mede presença e luminosidade para ligar luzes automaticamente.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1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1026" name="Picture 2" descr="Internet das coisas: conheça as tendências | ConectaJá">
            <a:extLst>
              <a:ext uri="{FF2B5EF4-FFF2-40B4-BE49-F238E27FC236}">
                <a16:creationId xmlns:a16="http://schemas.microsoft.com/office/drawing/2014/main" id="{8AC31DDD-AD4D-A24E-DCE4-74D47D93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9401" y="2397087"/>
            <a:ext cx="4090599" cy="2755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inicial: por que conectar objetos?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7105698" cy="3785613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/>
          </a:bodyPr>
          <a:lstStyle/>
          <a:p>
            <a:pPr algn="just">
              <a:lnSpc>
                <a:spcPct val="200000"/>
              </a:lnSpc>
            </a:pPr>
            <a:r>
              <a:rPr lang="en-US" sz="2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tradicionais dependem de intervenção humana constante</a:t>
            </a:r>
            <a:endParaRPr lang="en-US" sz="2400" dirty="0"/>
          </a:p>
          <a:p>
            <a:pPr algn="just">
              <a:lnSpc>
                <a:spcPct val="200000"/>
              </a:lnSpc>
            </a:pPr>
            <a:r>
              <a:rPr lang="en-US" sz="2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permite medir o ambiente em tempo real</a:t>
            </a:r>
            <a:endParaRPr lang="en-US" sz="2400" dirty="0"/>
          </a:p>
          <a:p>
            <a:pPr algn="just">
              <a:lnSpc>
                <a:spcPct val="200000"/>
              </a:lnSpc>
            </a:pPr>
            <a:r>
              <a:rPr lang="en-US" sz="2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coletados podem apoiar decisões automáticas</a:t>
            </a:r>
            <a:endParaRPr lang="en-US" sz="2400" dirty="0"/>
          </a:p>
          <a:p>
            <a:pPr algn="just">
              <a:lnSpc>
                <a:spcPct val="200000"/>
              </a:lnSpc>
            </a:pPr>
            <a:r>
              <a:rPr lang="en-US" sz="2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físicas podem ser realizadas por atuadores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Em uma estufa, sensores medem temperatura e umidade; o sistema decide quando ligar ventilação ou irrigação.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2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050" name="Picture 2" descr="Integração de IoT, Sensores Terrestres e Satélites: A Convergência  Tecnológica do Monitoramento Ambiental - Novaterra Geoprocessamento e  Consultoria em Meio Ambiente">
            <a:extLst>
              <a:ext uri="{FF2B5EF4-FFF2-40B4-BE49-F238E27FC236}">
                <a16:creationId xmlns:a16="http://schemas.microsoft.com/office/drawing/2014/main" id="{E30CD962-2058-DBB4-70A4-DEE5ED057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555" y="1140373"/>
            <a:ext cx="3362446" cy="4108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aprendizagem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6272321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Internet das Coisas e seus componentes básicos</a:t>
            </a:r>
            <a:endParaRPr lang="en-US" sz="2200" dirty="0"/>
          </a:p>
          <a:p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dispositivos, sensores, atuadores e sistemas embarcados</a:t>
            </a:r>
            <a:endParaRPr lang="en-US" sz="2200" dirty="0"/>
          </a:p>
          <a:p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Diferenciar sensor, atuador, microcontrolador e sistema embarcado</a:t>
            </a:r>
            <a:endParaRPr lang="en-US" sz="2200" dirty="0"/>
          </a:p>
          <a:p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Relacionar componentes físicos com aplicações em software</a:t>
            </a:r>
            <a:endParaRPr lang="en-US" sz="2200" dirty="0"/>
          </a:p>
          <a:p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Analisar um cenário simples de solução IoT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Ao final, o estudante deverá explicar o funcionamento de um sistema como uma fechadura inteligente ou um monitor de ambiente.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3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8" name="Picture 2" descr="Internet das Coisas: o que você precisa saber">
            <a:extLst>
              <a:ext uri="{FF2B5EF4-FFF2-40B4-BE49-F238E27FC236}">
                <a16:creationId xmlns:a16="http://schemas.microsoft.com/office/drawing/2014/main" id="{55393F2C-3C20-29FA-B32B-CA442A2B2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7274" y="1515762"/>
            <a:ext cx="3912726" cy="317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Internet das Coisas?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6249172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conecta objetos físicos a sistemas digitais</a:t>
            </a:r>
            <a:endParaRPr lang="en-US" sz="2200" dirty="0"/>
          </a:p>
          <a:p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objetos coletam dados por sensores</a:t>
            </a:r>
            <a:endParaRPr lang="en-US" sz="2200" dirty="0"/>
          </a:p>
          <a:p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dados podem ser processados localmente ou na nuvem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pode gerar alertas, relatórios ou ações automáticas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Um relógio inteligente mede batimentos cardíacos e envia informações para um aplicativo.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4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3074" name="Picture 2" descr="Internet das Coisas: o que você precisa saber">
            <a:extLst>
              <a:ext uri="{FF2B5EF4-FFF2-40B4-BE49-F238E27FC236}">
                <a16:creationId xmlns:a16="http://schemas.microsoft.com/office/drawing/2014/main" id="{5DEF44F1-6244-1AC5-565E-39D593E5B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7274" y="1515762"/>
            <a:ext cx="3912726" cy="317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básico de uma solução IoT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6388068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Perceber: sensores capturam dados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Processar: sistema interpreta os dados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Comunicar: dados trafegam pela rede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Agir: atuadores executam comandos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Registrar: informações podem ser armazenadas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Sensor de presença detecta movimento → microcontrolador processa → lâmpada é acionada → evento é registrado.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5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4098" name="Picture 2" descr="Untitled">
            <a:extLst>
              <a:ext uri="{FF2B5EF4-FFF2-40B4-BE49-F238E27FC236}">
                <a16:creationId xmlns:a16="http://schemas.microsoft.com/office/drawing/2014/main" id="{6DE8410E-4EB8-056B-A6EF-840C22A13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765" y="1106425"/>
            <a:ext cx="4638675" cy="39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principais de um sistema IoT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5936655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Dispositivo: equipamento físico conectado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Sensor: mede uma grandeza do ambiente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Atuador: realiza uma ação física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embarcado: computador dedicado dentro do dispositivo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Aplicação: interface, painel ou serviço digital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Em uma tomada inteligente, o dispositivo inclui circuito, microcontrolador, comunicação sem fio e relé para ligar/desligar energia.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6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Dispositivos IoT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6596412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objetos físicos com capacidade de medir, comunicar ou agir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Podem ser simples, como sensores ambientais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Podem ser complexos, como veículos conectados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Normalmente possuem hardware, firmware e conectividade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Uma câmera de segurança conectada captura imagem, processa movimento e envia notificações ao usuário.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7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026" name="Picture 2" descr="O que é IoT?">
            <a:extLst>
              <a:ext uri="{FF2B5EF4-FFF2-40B4-BE49-F238E27FC236}">
                <a16:creationId xmlns:a16="http://schemas.microsoft.com/office/drawing/2014/main" id="{2333DF86-B441-E195-9E3B-433F52D58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6762" y="996695"/>
            <a:ext cx="4803683" cy="3688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Sensores: medindo o mundo físico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649224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converte uma grandeza física em sinal elétrico ou digital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medir temperatura, luz, distância, pressão, som ou movimento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qualidade da medição depende de calibração e ambiente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geram dados para decisões do sistema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Um sensor de luminosidade informa se o ambiente está claro ou escuro para controlar uma lâmpada.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8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analógicos e digitais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6515389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Analógico: varia continuamente dentro de uma faixa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Digital: fornece valores discretos ou mensagens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Conversor A/D transforma sinal analógico em valor digital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escolha depende da aplicação e do microcontrolador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Um potenciômetro gera sinal analógico; um sensor de porta pode indicar apenas aberto ou fechado.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9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Grandezas comuns medidas por sensores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6596412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Temperatura: controle ambiental e industrial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Umidade: agricultura, climatização e armazenamento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Luminosidade: automação de iluminação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Movimento/presença: segurança e economia de energia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Distância: robótica, estacionamento e nível de reservatório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Em um estacionamento inteligente, sensores de distância indicam vagas livres ou ocupadas.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10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 importantes dos sensores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666586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 de medição: limites que o sensor consegue medir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Precisão: proximidade do valor medido ao valor real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Resolução: menor variação detectável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resposta: velocidade para perceber mudanças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 de energia: impacto em dispositivos com bateria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Para monitorar febre, pequenas variações de temperatura importam; para uma estufa, a exigência pode ser diferente.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11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Atuadores: agindo no mundo físico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6353344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Atuador converte comando elétrico em ação física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ligar, mover, abrir, fechar, aquecer ou emitir sinal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 comandos do sistema embarcado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 ser dimensionado conforme carga, tensão e segurança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Um relé permite que um microcontrolador controle uma lâmpada de maior potência.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12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comuns de atuadores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612185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LED: indicação visual simples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Buzzer: alerta sonoro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Motor: movimento contínuo ou controlado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Servo motor: movimento angular com posição definida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Relé: chaveamento de cargas elétricas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Em uma lixeira automática, um sensor detecta aproximação e um servo motor abre a tampa.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13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x Atuador: diferença essencial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6202873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Sensor: entrada de dados do mundo físico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Atuador: saída que modifica o mundo físico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responde à pergunta: “o que está acontecendo?”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Atuador responde à pergunta: “o que o sistema deve fazer?”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Sensor de temperatura mede calor; ventilador ou resistência atuam para resfriar ou aquecer.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14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embarcados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6110275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sistemas computacionais dedicados a uma função específica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Ficam “embarcados” dentro de produtos ou equipamentos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Integram hardware, software e, muitas vezes, comunicação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Operam com restrições de energia, memória e processamento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O controle eletrônico de uma máquina de lavar é um sistema embarcado dedicado a controlar ciclos de lavagem.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15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Microcontrolador e microprocessador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6631136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Microcontrolador: integra processador, memória e periféricos em um chip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Microprocessador: geralmente depende de componentes externos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Microcontroladores são comuns em sensores e automação simples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Microprocessadores são comuns em sistemas mais complexos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Uma placa simples com microcontrolador pode ler um sensor; um computador embarcado pode processar imagem de câmera.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16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Entradas, processamento e saídas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612185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Entradas: sinais vindos de sensores e botões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Processamento: regras, cálculos e decisões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Saídas: comandos para atuadores ou mensagens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 modelo ajuda a projetar sistemas simples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Entrada: temperatura alta → processamento: comparar com limite → saída: ligar ventilador.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17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  <p:pic>
        <p:nvPicPr>
          <p:cNvPr id="5124" name="Picture 4" descr="Ciclo de Processamento da Informação - Criado por estudante, para  estudantes!">
            <a:extLst>
              <a:ext uri="{FF2B5EF4-FFF2-40B4-BE49-F238E27FC236}">
                <a16:creationId xmlns:a16="http://schemas.microsoft.com/office/drawing/2014/main" id="{F1A743BC-9136-C5A9-24B5-D0A914D81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580" y="1632966"/>
            <a:ext cx="4848828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Firmware: o software do dispositivo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6596412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é o programa que controla o hardware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sensores, executa regras e controla atuadores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se comunicar com rede, aplicativo ou servidor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 tratar erros, atrasos e falhas de comunicação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Um firmware pode ler a temperatura a cada 5 segundos e enviar alerta se passar de um limite.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18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básica de controle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629547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simples: se condição ocorrer, execute ação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Limiares definem valores de decisão</a:t>
            </a:r>
            <a:endParaRPr lang="en-US" sz="2200" dirty="0"/>
          </a:p>
          <a:p>
            <a:pPr>
              <a:lnSpc>
                <a:spcPct val="20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Histerese evita liga/desliga repetitivo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Temporização evita leituras instáveis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Se temperatura &gt; 30 °C, ligar ventilador; se temperatura &lt; 28 °C, desligar ventilador.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19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 em IoT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6503815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Dispositivos podem usar Wi‑Fi, Bluetooth, Zigbee, LoRa ou rede celular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escolha depende de alcance, consumo, custo e volume de dados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Protocolos organizam a troca de mensagens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conectividade afeta segurança e confiabilidade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Um sensor agrícola distante pode priorizar longo alcance e baixo consumo em vez de alta velocidade.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20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simplificada de IoT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6272321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física: sensores, atuadores e dispositivo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de comunicação: rede e protocolos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de processamento: borda, servidor ou nuvem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de aplicação: dashboard, app ou integração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Um medidor inteligente envia dados para um painel que permite acompanhar consumo ao longo do tempo.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21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Processamento local, borda e nuvem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649224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Local: decisão ocorre no próprio dispositivo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Borda: processamento próximo ao local de coleta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Nuvem: processamento em servidores remotos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opção envolve latência, custo, privacidade e energia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Alarme de incêndio deve agir localmente; relatório mensal pode ser processado na nuvem.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22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em sistemas IoT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7522387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podem ser eventos, medições ou estados</a:t>
            </a: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 excessiva aumenta custo e consumo</a:t>
            </a: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precisam de contexto: unidade, horário e origem</a:t>
            </a: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dos dados afeta a qualidade da decisão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“25” sem unidade não informa se é 25 °C, 25% de umidade ou 25 cm de distância.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23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resolvido: monitor de sala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577461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Problema: monitorar conforto em uma sala de aula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Sensores: temperatura, umidade e luminosidade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Processamento: comparar valores com limites definidos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Atuadores: LED de alerta ou ventilação controlada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Aplicação: painel com leituras atuais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Se a sala estiver escura e ocupada, o sistema pode sugerir ligar iluminação.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24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resolvido: irrigação inteligente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6214448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Problema: evitar desperdício de água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Sensor: umidade do solo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Regra: irrigar apenas abaixo do limite definido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Atuador: válvula ou bomba de água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Comunicação: registro e alerta no aplicativo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Se umidade do solo &lt; limite, abrir válvula por tempo controlado; depois medir novamente.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25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Boas práticas de projeto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1065276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Começar pelo problema, não pela tecnologia</a:t>
            </a:r>
            <a:endParaRPr lang="en-US" sz="2200" dirty="0"/>
          </a:p>
          <a:p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Escolher sensores compatíveis com a grandeza medida</a:t>
            </a:r>
            <a:endParaRPr lang="en-US" sz="2200" dirty="0"/>
          </a:p>
          <a:p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circuito de controle e circuito de potência</a:t>
            </a:r>
            <a:endParaRPr lang="en-US" sz="2200" dirty="0"/>
          </a:p>
          <a:p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Planejar alimentação e consumo de energia</a:t>
            </a:r>
            <a:endParaRPr lang="en-US" sz="2200" dirty="0"/>
          </a:p>
          <a:p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em etapas antes de integrar tudo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Antes de conectar uma bomba, teste leitura do sensor, regra de decisão e acionamento de um LED.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26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comuns em projetos IoT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6411217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sz="2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sem definir claramente o objetivo</a:t>
            </a:r>
            <a:endParaRPr lang="en-US" sz="2400" dirty="0"/>
          </a:p>
          <a:p>
            <a:pPr algn="just">
              <a:lnSpc>
                <a:spcPct val="200000"/>
              </a:lnSpc>
            </a:pPr>
            <a:r>
              <a:rPr lang="en-US" sz="2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sensor inadequado ao ambiente</a:t>
            </a:r>
            <a:endParaRPr lang="en-US" sz="2400" dirty="0"/>
          </a:p>
          <a:p>
            <a:pPr algn="just">
              <a:lnSpc>
                <a:spcPct val="200000"/>
              </a:lnSpc>
            </a:pPr>
            <a:r>
              <a:rPr lang="en-US" sz="2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Ignorar ruído, atraso ou falhas de leitura</a:t>
            </a:r>
            <a:endParaRPr lang="en-US" sz="2400" dirty="0"/>
          </a:p>
          <a:p>
            <a:pPr algn="just">
              <a:lnSpc>
                <a:spcPct val="200000"/>
              </a:lnSpc>
            </a:pPr>
            <a:r>
              <a:rPr lang="en-US" sz="2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Depender da internet para ações críticas</a:t>
            </a:r>
            <a:endParaRPr lang="en-US" sz="2400" dirty="0"/>
          </a:p>
          <a:p>
            <a:pPr algn="just">
              <a:lnSpc>
                <a:spcPct val="200000"/>
              </a:lnSpc>
            </a:pPr>
            <a:r>
              <a:rPr lang="en-US" sz="2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considerar segurança e privacidade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Uma porta automática que depende apenas da nuvem pode falhar se a conexão cair.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27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e privacidade em IoT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5589415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Dispositivos conectados podem expor dados sensíveis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Senhas padrão devem ser alteradas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Atualizações corrigem falhas de segurança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Criptografia protege dados durante transmissão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Coletar apenas dados necessários reduz riscos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Uma câmera conectada exige cuidado maior que um sensor de luminosidade, pois pode capturar informações pessoais.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28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com Programação para Internet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6723734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permitem troca de dados entre dispositivo e aplicação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mostram medições em tempo real ou histórico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 pode armazenar e processar eventos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 transforma dados em visualização compreensível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Um sensor envia JSON com temperatura; a aplicação web exibe gráfico e alerta visual.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29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de dados em uma aplicação web IoT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5982954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 coleta e envia dados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recebe, valida e armazena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consulta dados e apresenta ao usuário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 pode enviar comandos de volta ao dispositivo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Usuário toca em “ligar ventilador” no painel; o comando chega ao dispositivo e aciona o relé.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30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para escolher componentes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6966802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Grandeza a medir ou ação a executar</a:t>
            </a:r>
            <a:endParaRPr lang="en-US" sz="2200" dirty="0"/>
          </a:p>
          <a:p>
            <a:pPr algn="just">
              <a:lnSpc>
                <a:spcPct val="20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Precisão e tempo de resposta necessários</a:t>
            </a:r>
            <a:endParaRPr lang="en-US" sz="2200" dirty="0"/>
          </a:p>
          <a:p>
            <a:pPr algn="just">
              <a:lnSpc>
                <a:spcPct val="20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de uso: interno, externo, úmido ou industrial</a:t>
            </a:r>
            <a:endParaRPr lang="en-US" sz="2200" dirty="0"/>
          </a:p>
          <a:p>
            <a:pPr algn="just">
              <a:lnSpc>
                <a:spcPct val="20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Alimentação: tomada, bateria ou energia solar</a:t>
            </a:r>
            <a:endParaRPr lang="en-US" sz="2200" dirty="0"/>
          </a:p>
          <a:p>
            <a:pPr algn="just">
              <a:lnSpc>
                <a:spcPct val="20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Custo, disponibilidade e manutenção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Um sensor externo precisa resistir melhor ao ambiente que um sensor usado em laboratório.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31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de caso simplificado: sala inteligente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59" y="1115568"/>
            <a:ext cx="7452939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melhorar conforto e economia de energia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Entradas: presença, luminosidade e temperatura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Processamento: regras locais com envio de dados ao servidor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Saídas: luz, ventilação e alertas no painel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Avaliação: conforto, consumo e confiabilidade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Se não houver presença por 10 minutos, apagar luzes e registrar economia estimada.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32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da aula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59" y="1115568"/>
            <a:ext cx="6538539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conecta objetos físicos a sistemas digitais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produzem dados sobre o ambiente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Atuadores executam ações físicas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embarcados controlam o dispositivo</a:t>
            </a: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Aplicações web permitem visualização, registro e comando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Ciclo completo: medir → processar → comunicar → agir → registrar.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33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prática de fixação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7522387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Cenário: projetar um sistema IoT para monitorar uma sala de laboratório</a:t>
            </a: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Defina pelo menos 2 sensores e 1 atuador</a:t>
            </a: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Descreva uma regra de decisão simples</a:t>
            </a: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Indique como os dados chegariam a uma aplicação web</a:t>
            </a: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 um cuidado de segurança ou privacidade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Entrega esperada: uma proposta curta com componentes, fluxo de dados e regra de funcionamento.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34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27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Gabarito comentado da atividade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41832"/>
            <a:ext cx="1092708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6943653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/>
          </a:bodyPr>
          <a:lstStyle/>
          <a:p>
            <a:pPr algn="just">
              <a:lnSpc>
                <a:spcPct val="16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possíveis: temperatura, luminosidade e presença</a:t>
            </a:r>
            <a:endParaRPr lang="en-US" sz="2200" dirty="0"/>
          </a:p>
          <a:p>
            <a:pPr algn="just">
              <a:lnSpc>
                <a:spcPct val="16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Atuador possível: LED de alerta, ventilador ou relé para iluminação</a:t>
            </a:r>
            <a:endParaRPr lang="en-US" sz="2200" dirty="0"/>
          </a:p>
          <a:p>
            <a:pPr algn="just">
              <a:lnSpc>
                <a:spcPct val="16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exemplo: se houver presença e baixa luminosidade, acionar luz</a:t>
            </a:r>
            <a:endParaRPr lang="en-US" sz="2200" dirty="0"/>
          </a:p>
          <a:p>
            <a:pPr algn="just">
              <a:lnSpc>
                <a:spcPct val="16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Fluxo: dispositivo → rede → servidor/API → dashboard web</a:t>
            </a:r>
            <a:endParaRPr lang="en-US" sz="2200" dirty="0"/>
          </a:p>
          <a:p>
            <a:pPr algn="just">
              <a:lnSpc>
                <a:spcPct val="160000"/>
              </a:lnSpc>
            </a:pPr>
            <a:r>
              <a:rPr lang="en-US" sz="2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Cuidado: autenticação, senha forte e coleta mínima de dados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6D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367528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Resposta completa: sensor de presença + luminosidade, relé de iluminação, envio de medições para API e painel com status da sala.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3459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N° 35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4310</Words>
  <Application>Microsoft Office PowerPoint</Application>
  <PresentationFormat>Widescreen</PresentationFormat>
  <Paragraphs>366</Paragraphs>
  <Slides>35</Slides>
  <Notes>35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7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Material didático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das Coisas: Dispositivos, sensores, atuadores e sistemas embarcados</dc:title>
  <dc:subject>Internet das Coisas: dispositivos, sensores, atuadores e sistemas embarcados</dc:subject>
  <dc:creator>Professor Msc Elionai Magalhães</dc:creator>
  <cp:lastModifiedBy>Elionai</cp:lastModifiedBy>
  <cp:revision>4</cp:revision>
  <dcterms:created xsi:type="dcterms:W3CDTF">2026-08-14T00:49:51Z</dcterms:created>
  <dcterms:modified xsi:type="dcterms:W3CDTF">2026-08-14T13:27:38Z</dcterms:modified>
</cp:coreProperties>
</file>