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2601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Fluxo e características dos dados de sensores
Apresente o tema como ponte entre hardware e software. Explique que, em IoT, o dado de sensor não é apenas um número: ele tem origem física, contexto, tempo, qualidade e finalidade. Conduza a transição dizendo que primeiro veremos por que esses dados são importantes.
Termos técnicos a enfatizar: Internet das Coisas em nível intermediário. Explique com exemplos antes de avançar. Tempo sugerido: aproximadamente 3 minutos.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Por que estudar dados de sensores?
Explique que o dado de sensor tem impacto direto na confiabilidade da aplicação. Reforce a ideia de que decisões automatizadas dependem da qualidade da medição. Use o exemplo do alarme de temperatura para mostrar que nem todo valor alto significa problema real.
Termos técnicos a enfatizar: Valor prático dos dados.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Objetivos da aula
Leia os objetivos como metas verificáveis. Diga que a aula avançará de fundamentos para decisões de projeto: frequência de amostragem, formato da mensagem, tratamento na borda e visualização. Transição: antes do fluxo, vamos relembrar o que é sensor.
Termos técnicos a enfatizar: O que o estudante deverá ser capaz de fazer.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Relembrando: o que é um sensor?
Defina grandeza física como aquilo que se deseja medir. Explique que o sensor não mede “dados”; ele mede fenômenos e produz sinais. Antecipe dúvida comum: sensor não é o mesmo que atuador. Sensor percebe; atuador age.
Termos técnicos a enfatizar: Sensor como interface com o mundo físico.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Do fenômeno físico ao dado digital
Explique transdução como conversão de uma forma de energia ou informação em outra. Exemplo: um sensor de temperatura pode alterar sua resistência elétrica conforme a temperatura. Transição: depois de digitalizado, o dado precisa ser descrito corretamente.
Termos técnicos a enfatizar: Conversão em etapas.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Anatomia de um dado de sensor
Explique timestamp como carimbo de tempo. Mostre que o valor 28,4 isolado não é suficiente: pode ser temperatura, umidade ou outro indicador. Diga que a unidade evita interpretação errada. Transição: veremos tipos de variáveis medidas.
Termos técnicos a enfatizar: O dado precisa de contexto.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Tipos de variáveis medidas
Diferencie contínuo e discreto com exemplos simples. Esclareça que digital não significa necessariamente “melhor”; significa que o sinal já chega codificado ao processador. Transição: com os tipos claros, vamos montar o fluxo completo.
Termos técnicos a enfatizar: Nem todo sensor produz o mesmo tipo de dado.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Fluxo geral dos dados em IoT
Mostre que cada etapa pode alterar, enriquecer ou reduzir o dado. Enfatize que o fluxo não é apenas técnico; ele define custo, latência e confiabilidade. Transição: a primeira etapa é a aquisição por amostragem.
Termos técnicos a enfatizar: Da coleta à decisão.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Aquisição: amostragem
Explique frequência de amostragem em hertz: 1 Hz significa uma leitura por segundo. Use analogia de fotografar um movimento: poucas fotos podem perder detalhes. Transição: vamos aprofundar a escolha da frequência.
Termos técnicos a enfatizar: Transformar sinal em sequência de leituras.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Frequência de amostragem
Dê exemplos: temperatura ambiente muda lentamente; vibração de motor pode mudar rapidamente. Explique o trade-off: coletar mais dados não é sempre melhor. Transição: além da frequência, existe a conversão analógica-digital.
Termos técnicos a enfatizar: Quanto medir é suficiente?.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Conversão analógica-digital
Defina ADC sem entrar em eletrônica profunda. Explique quantização com analogia de régua: uma régua com marcações menores permite leitura mais detalhada. Antecipe erro comum: resolução alta não garante acurácia alta.
Termos técnicos a enfatizar: ADC e quantização.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Resolução e faixa de medição
Explique que resolução responde: “qual é a menor diferença que consigo perceber?”. Faixa responde: “até onde consigo medir?”. Use o exemplo da balança de cozinha versus balança industrial.
Termos técnicos a enfatizar: Detalhe e limite do sensor.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Acurácia, precisão e calibração
Use a analogia do alvo: tiros agrupados longe do centro são precisos, mas não acurados. Explique calibração como comparação com um padrão confiável. Transição: mesmo sensores calibrados sofrem com ruído.
Termos técnicos a enfatizar: Qualidade da medição.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Ruído nos dados de sensores
Explique que ruído não significa defeito necessariamente; é comum em medições. Dê exemplo: leitura de temperatura oscilando 0,2 °C sem mudança real no ambiente. Transição: uma forma de lidar com ruído é tratar o dado.
Termos técnicos a enfatizar: Variações indesejadas.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Dados brutos e dados tratados
Explique borda como processamento próximo ao sensor. Mostre que há trade-off: tratar antes de enviar economiza rede, mas pode perder detalhes. Transição: todo dado precisa estar corretamente associado ao tempo.
Termos técnicos a enfatizar: Quando processar antes de enviar.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Timestamp: o carimbo de tempo
Explique que uma série temporal é uma sequência de valores indexados pelo tempo. Mostre que, sem timestamp, não sabemos a ordem nem a duração dos eventos. Transição: além de telemetria contínua, há eventos.
Termos técnicos a enfatizar: Tempo como eixo principal.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Telemetria, eventos e comandos
Explique que telemetria responde “como está agora e ao longo do tempo?”. Evento responde “algo importante aconteceu”. Comando responde “faça algo”. Transição: para trafegar, cada mensagem precisa de payload e metadados.
Termos técnicos a enfatizar: Três tipos de mensagens comuns.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Payload e metadados
Defina payload como carga útil da mensagem. Explique metadados como dados sobre os dados. Mostre que quality=ok poderia indicar leitura validada; outro valor poderia indicar falha ou suspeita.
Termos técnicos a enfatizar: Mensagem bem formada.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Formatos de dados
Explique JSON como formato textual de pares chave-valor. Diga que CSV é útil para planilhas e logs simples. Formatos binários são comuns quando banda e energia são restritas. Transição: formato e protocolo são decisões diferentes.
Termos técnicos a enfatizar: JSON, CSV e binário.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Protocolo e transporte
Explique tópico MQTT como um endereço lógico para mensagens. Exemplo: escola/sala204/temperatura. Diferencie formato da mensagem e protocolo: JSON pode trafegar em MQTT ou HTTP. Transição: sistemas reais precisam lidar com falhas de envio.
Termos técnicos a enfatizar: Como os dados viajam.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 Buffering e filas
Use analogia de fila de impressão: documentos aguardam até a impressora estar disponível. Explique que buffering é útil, mas limitado por memória. Transição: quando há processamento local, entramos em edge computing.
Termos técnicos a enfatizar: Quando a rede falha ou atrasa.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 Processamento na borda
Explique edge computing como computação próxima da origem dos dados. Dê exemplo: detectar vibração anormal no gateway antes de enviar tudo à nuvem. Transição: uma técnica comum de borda é agregar dados por janelas de tempo.
Termos técnicos a enfatizar: Edge computing em sensores.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 Agregação e janelas temporais
Explique janela temporal como o “pedaço de tempo” analisado. Mostre que agregação reduz volume, mas pode esconder picos. Pergunte aos alunos: em quais casos o máximo é mais importante que a média?
Termos técnicos a enfatizar: Resumir para entender.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 Bancos de séries temporais
Explique TSDB como banco de dados pensado para muitos registros com tempo. Diga que tags são úteis para filtrar e agrupar. Transição: depois de armazenar, precisamos visualizar o comportamento.
Termos técnicos a enfatizar: Armazenar dados indexados pelo tempo.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 Visualização: dashboards
Explique que visualização não é enfeite; é ferramenta de diagnóstico. Use exemplo de gráfico de CO2 numa sala: tendência de subida pode indicar pouca ventilação. Transição: antes de confiar no painel, precisamos avaliar qualidade do dado.
Termos técnicos a enfatizar: Transformar números em compreensão.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 Qualidade dos dados
Explique cada critério com um exemplo. Valor de temperatura de 400 °C em sala de aula deve ser validado como erro ou evento improvável. Transição: qualidade também é afetada por volume, velocidade e variedade.
Termos técnicos a enfatizar: Confiabilidade antes da análise.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 Volume, velocidade e variedade
Dê exemplo: 10 sensores por minuto é simples; milhares de sensores por segundo exige outra arquitetura. Enfatize que volume sem contexto não gera valor. Transição: velocidade nos leva ao conceito de latência.
Termos técnicos a enfatizar: Características clássicas dos dados IoT.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28 — Latência e tempo real
Explique latência como tempo de ponta a ponta. Dê exemplos: irrigação pode tolerar segundos ou minutos; freio automatizado não. Transição: além do tempo, precisamos proteger os dados.
Termos técnicos a enfatizar: Tempo entre medir e agir.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29 — Segurança e privacidade dos dados
Defina autenticação como prova de identidade. Explique que sensores aparentemente simples podem expor informações sensíveis: presença em uma sala, consumo de energia ou rotina de manutenção. Transição: vamos aplicar os conceitos em um caso de sala monitorada.
Termos técnicos a enfatizar: Proteger leitura, transmissão e acesso.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30 — Exemplo 1: sala de aula inteligente
Use esse exemplo por ser próximo da realidade dos estudantes. Explique que CO2 pode indicar ventilação, não apenas qualidade do sensor. Faça conexão com frequência de amostragem e qualidade do dado.
Termos técnicos a enfatizar: Temperatura, umidade e CO₂.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31 — Exemplo 2: manutenção preditiva
Explique manutenção preditiva como tentativa de prever falhas antes de parada. Reforce que sensores rápidos geram alto volume. Mostre que agregação e eventos ajudam a evitar envio de tudo.
Termos técnicos a enfatizar: Vibração em motores.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32 — Boas práticas na modelagem de mensagens
Explique schemaVersion como versão do formato. Diga que mudanças sem versão quebram sistemas consumidores. Transição: além da mensagem, há decisões de projeto em todo o fluxo.
Termos técnicos a enfatizar: Padronização para evitar ambiguidade.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33 — Decisões de projeto no fluxo de dados
Conduza como checklist de projeto. Reforce que tecnologia vem depois do objetivo. Uma arquitetura eficiente começa pelo problema de decisão: que ação o dado deve apoiar?
Termos técnicos a enfatizar: Perguntas que orientam a arquitetura.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34 — Erros comuns de interpretação
Use esse slide para antecipar dúvidas. Mostre que muitos problemas de IoT aparecem depois da coleta, quando dados são interpretados sem contexto. Transição: vamos organizar um fluxo de projeto passo a passo.
Termos técnicos a enfatizar: Contraexemplos úteis. Explique com exemplos antes de avançar. Tempo sugerido: aproximadamente 6 minutos.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35 — Fluxo de projeto passo a passo
Explique que esse roteiro pode ser usado em trabalhos acadêmicos e projetos reais. Apresente Node-RED como ferramenta possível para prototipar fluxos, sem tornar obrigatório. Transição: agora os alunos aplicarão o roteiro em uma atividade.
Termos técnicos a enfatizar: Da ideia ao painel. Explique com exemplos antes de avançar. Tempo sugerido: aproximadamente 6 minutos.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36 — Atividade prática de fixação
Organize a atividade em duplas ou grupos pequenos. Dê 8 a 10 minutos para discussão e 5 minutos para socialização. Oriente que não existe uma única resposta correta, mas a justificativa deve ser coerente com o fenômeno medido.
Termos técnicos a enfatizar: Projeto rápido de fluxo de dados.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37 — Gabarito comentado da atividade
Comente que a frequência proposta é exemplo, não regra absoluta. Se o laboratório tiver processos rápidos ou risco térmico, a frequência pode ser maior. Reforce a importância do timestamp, unidade e status de qualidade.
Termos técnicos a enfatizar: Uma solução possível.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38 — Síntese da aula
Feche conectando os principais conceitos. Oriente os alunos a revisar os termos técnicos nas anotações e a aplicar o checklist em projetos da disciplina. Diga que a próxima aula pode aprofundar protocolos, dashboards ou processamento de eventos.
Termos técnicos a enfatizar: O que levar para o projeto.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39 — Referências e links consultados
Indique que os links do material servem para aprofundamento e consulta. Enfatize que documentação oficial deve ser priorizada em projetos acadêmicos e profissionais. As fontes foram usadas para apoiar definições, protocolos, arquitetura e exemplos práticos.
Termos técnicos a enfatizar: Fontes para estudo complementar.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766E"/>
          </a:solidFill>
          <a:ln w="12700">
            <a:solidFill>
              <a:srgbClr val="0F766E"/>
            </a:solidFill>
            <a:prstDash val="solid"/>
          </a:ln>
        </p:spPr>
      </p:sp>
      <p:sp>
        <p:nvSpPr>
          <p:cNvPr id="3" name="Shape 1"/>
          <p:cNvSpPr/>
          <p:nvPr/>
        </p:nvSpPr>
        <p:spPr>
          <a:xfrm>
            <a:off x="457200" y="6355080"/>
            <a:ext cx="11247120" cy="0"/>
          </a:xfrm>
          <a:prstGeom prst="line">
            <a:avLst/>
          </a:prstGeom>
          <a:noFill/>
          <a:ln w="8890">
            <a:solidFill>
              <a:srgbClr val="CBD5E1"/>
            </a:solidFill>
            <a:prstDash val="solid"/>
          </a:ln>
        </p:spPr>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src.nist.gov/pubs/sp/800/183/fina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csrc.nist.gov/pubs/sp/800/183/fina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csrc.nist.gov/pubs/sp/800/183/final"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ni.com/en/shop/data-acquisition/measurement-fundamentals/analog-fundamentals/analog-sample-quality--accuracy--sensitivity--precision--and-noi.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rafana.com/docs/grafana/latest/visualizations/panels-visualizations/visualizations/time-serie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ni.com/en/shop/data-acquisition/measurement-fundamentals/analog-fundamentals/analog-sample-quality--accuracy--sensitivity--precision--and-noi.ht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csrc.nist.gov/pubs/sp/500/325/fina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mathworks.com/help/daq/making-quality-measurements.htm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mathworks.com/help/daq/making-quality-measurements.htm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ni.com/en/shop/data-acquisition/measurement-fundamentals/analog-fundamentals/analog-sample-quality--accuracy--sensitivity--precision--and-noi.html"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ni.com/en/shop/data-acquisition/measurement-fundamentals/analog-fundamentals/analog-sample-quality--accuracy--sensitivity--precision--and-noi.ht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ni.com/en/shop/data-acquisition/measurement-fundamentals/analog-fundamentals/analog-sample-quality--accuracy--sensitivity--precision--and-noi.ht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ni.com/en/shop/data-acquisition/measurement-fundamentals/analog-fundamentals/analog-sample-quality--accuracy--sensitivity--precision--and-noi.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csrc.nist.gov/pubs/sp/500/325/final"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grafana.com/docs/grafana/latest/fundamentals/timeseries/"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ocs.oasis-open.org/mqtt/mqtt/v5.0/mqtt-v5.0.html"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w3.org/TR/wot-architecture11/"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datatracker.ietf.org/doc/html/rfc8259"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atatracker.ietf.org/doc/html/rfc7252"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docs.oasis-open.org/mqtt/mqtt/v5.0/mqtt-v5.0.htm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csrc.nist.gov/pubs/sp/500/325/fina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grafana.com/docs/grafana/latest/fundamentals/timeseries/"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docs.influxdata.com/influxdb/v1/concepts/key_concepts/"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grafana.com/docs/grafana/latest/visualizations/panels-visualizations/visualizations/time-series/"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grafana.com/docs/grafana/latest/fundamentals/timeseries/"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csrc.nist.gov/pubs/sp/800/183/final"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csrc.nist.gov/pubs/sp/500/325/final"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docs.oasis-open.org/mqtt/mqtt/v5.0/mqtt-v5.0.html"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docs.aws.amazon.com/iot/latest/developerguide/iot-moisture-raspi-setup.html"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csrc.nist.gov/pubs/sp/500/325/final"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datatracker.ietf.org/doc/html/rfc8259"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w3.org/TR/wot-architecture11/"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nodered.org/"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grafana.com/docs/grafana/latest/visualizations/panels-visualizations/visualizations/time-series/"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csrc.nist.gov/pubs/sp/800/183/final"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Fluxo e características dos dados de sensores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Internet das Coisas em nível intermediário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lnSpc>
                <a:spcPct val="150000"/>
              </a:lnSpc>
              <a:buNone/>
            </a:pPr>
            <a:r>
              <a:rPr lang="en-US" sz="2400" dirty="0">
                <a:solidFill>
                  <a:srgbClr val="1E293B"/>
                </a:solidFill>
                <a:latin typeface="Aptos" pitchFamily="34" charset="0"/>
                <a:ea typeface="Aptos" pitchFamily="34" charset="-122"/>
                <a:cs typeface="Aptos" pitchFamily="34" charset="-120"/>
              </a:rPr>
              <a:t>• Como sensores transformam fenômenos físicos em dados digitais.</a:t>
            </a:r>
            <a:endParaRPr lang="en-US" sz="2400" dirty="0"/>
          </a:p>
          <a:p>
            <a:pPr marL="0" indent="0">
              <a:lnSpc>
                <a:spcPct val="150000"/>
              </a:lnSpc>
              <a:buNone/>
            </a:pPr>
            <a:r>
              <a:rPr lang="en-US" sz="2400" dirty="0">
                <a:solidFill>
                  <a:srgbClr val="1E293B"/>
                </a:solidFill>
                <a:latin typeface="Aptos" pitchFamily="34" charset="0"/>
                <a:ea typeface="Aptos" pitchFamily="34" charset="-122"/>
                <a:cs typeface="Aptos" pitchFamily="34" charset="-120"/>
              </a:rPr>
              <a:t>• Como os dados percorrem dispositivo, gateway, borda, nuvem e aplicação.</a:t>
            </a:r>
            <a:endParaRPr lang="en-US" sz="2400" dirty="0"/>
          </a:p>
          <a:p>
            <a:pPr marL="0" indent="0">
              <a:lnSpc>
                <a:spcPct val="150000"/>
              </a:lnSpc>
              <a:buNone/>
            </a:pPr>
            <a:r>
              <a:rPr lang="en-US" sz="2400" dirty="0">
                <a:solidFill>
                  <a:srgbClr val="1E293B"/>
                </a:solidFill>
                <a:latin typeface="Aptos" pitchFamily="34" charset="0"/>
                <a:ea typeface="Aptos" pitchFamily="34" charset="-122"/>
                <a:cs typeface="Aptos" pitchFamily="34" charset="-120"/>
              </a:rPr>
              <a:t>• Quais características influenciam análise, armazenamento e decisão.</a:t>
            </a:r>
            <a:endParaRPr lang="en-US" sz="2400" dirty="0"/>
          </a:p>
          <a:p>
            <a:pPr marL="0" indent="0">
              <a:lnSpc>
                <a:spcPct val="150000"/>
              </a:lnSpc>
              <a:buNone/>
            </a:pPr>
            <a:endParaRPr lang="en-US" sz="2400" dirty="0"/>
          </a:p>
        </p:txBody>
      </p:sp>
      <p:sp>
        <p:nvSpPr>
          <p:cNvPr id="7" name="Text 5">
            <a:hlinkClick r:id="rId3" tooltip="https://csrc.nist.gov/pubs/sp/800/183/fina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csrc.nist.gov/pubs/sp/800/183/final">
                  <a:extLst>
                    <a:ext uri="{A12FA001-AC4F-418D-AE19-62706E023703}">
                      <ahyp:hlinkClr xmlns:ahyp="http://schemas.microsoft.com/office/drawing/2018/hyperlinkcolor" val="tx"/>
                    </a:ext>
                  </a:extLst>
                </a:hlinkClick>
              </a:rPr>
              <a:t>Link: NIST SP 800-183 — fundamentos de IoT</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Da realidade ao software</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Text 10"/>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Fenômeno físico</a:t>
            </a:r>
            <a:endParaRPr lang="en-US" sz="1200" dirty="0"/>
          </a:p>
        </p:txBody>
      </p:sp>
      <p:sp>
        <p:nvSpPr>
          <p:cNvPr id="13" name="Text 11"/>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Sensor</a:t>
            </a:r>
            <a:endParaRPr lang="en-US" sz="1200" dirty="0"/>
          </a:p>
        </p:txBody>
      </p:sp>
      <p:sp>
        <p:nvSpPr>
          <p:cNvPr id="14" name="Text 12"/>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Dados</a:t>
            </a:r>
            <a:endParaRPr lang="en-US" sz="1200" dirty="0"/>
          </a:p>
        </p:txBody>
      </p:sp>
      <p:sp>
        <p:nvSpPr>
          <p:cNvPr id="15" name="Text 13"/>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Aplicação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Por que estudar dados de sensores?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Valor prático dos dados</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lgn="just">
              <a:lnSpc>
                <a:spcPct val="150000"/>
              </a:lnSpc>
              <a:buNone/>
            </a:pPr>
            <a:r>
              <a:rPr lang="en-US" sz="2400" dirty="0">
                <a:solidFill>
                  <a:srgbClr val="1E293B"/>
                </a:solidFill>
                <a:latin typeface="Aptos" pitchFamily="34" charset="0"/>
                <a:ea typeface="Aptos" pitchFamily="34" charset="-122"/>
                <a:cs typeface="Aptos" pitchFamily="34" charset="-120"/>
              </a:rPr>
              <a:t>• Sensores produzem sinais sobre o mundo físico.</a:t>
            </a:r>
            <a:endParaRPr lang="en-US" sz="2400" dirty="0"/>
          </a:p>
          <a:p>
            <a:pPr marL="0" indent="0" algn="just">
              <a:lnSpc>
                <a:spcPct val="150000"/>
              </a:lnSpc>
              <a:buNone/>
            </a:pPr>
            <a:r>
              <a:rPr lang="en-US" sz="2400" dirty="0">
                <a:solidFill>
                  <a:srgbClr val="1E293B"/>
                </a:solidFill>
                <a:latin typeface="Aptos" pitchFamily="34" charset="0"/>
                <a:ea typeface="Aptos" pitchFamily="34" charset="-122"/>
                <a:cs typeface="Aptos" pitchFamily="34" charset="-120"/>
              </a:rPr>
              <a:t>• Aplicações IoT usam esses sinais para monitorar, alertar e automatizar.</a:t>
            </a:r>
            <a:endParaRPr lang="en-US" sz="2400" dirty="0"/>
          </a:p>
          <a:p>
            <a:pPr marL="0" indent="0" algn="just">
              <a:lnSpc>
                <a:spcPct val="150000"/>
              </a:lnSpc>
              <a:buNone/>
            </a:pPr>
            <a:r>
              <a:rPr lang="en-US" sz="2400" dirty="0">
                <a:solidFill>
                  <a:srgbClr val="1E293B"/>
                </a:solidFill>
                <a:latin typeface="Aptos" pitchFamily="34" charset="0"/>
                <a:ea typeface="Aptos" pitchFamily="34" charset="-122"/>
                <a:cs typeface="Aptos" pitchFamily="34" charset="-120"/>
              </a:rPr>
              <a:t>• Sem entender o dado, o sistema pode tomar decisões incorretas.</a:t>
            </a:r>
            <a:endParaRPr lang="en-US" sz="2400" dirty="0"/>
          </a:p>
          <a:p>
            <a:pPr marL="0" indent="0" algn="just">
              <a:lnSpc>
                <a:spcPct val="150000"/>
              </a:lnSpc>
              <a:buNone/>
            </a:pPr>
            <a:r>
              <a:rPr lang="en-US" sz="2400" dirty="0">
                <a:solidFill>
                  <a:srgbClr val="1E293B"/>
                </a:solidFill>
                <a:latin typeface="Aptos" pitchFamily="34" charset="0"/>
                <a:ea typeface="Aptos" pitchFamily="34" charset="-122"/>
                <a:cs typeface="Aptos" pitchFamily="34" charset="-120"/>
              </a:rPr>
              <a:t>• Exemplo: um alarme ruim pode disparar por ruído, e não por perigo real.</a:t>
            </a:r>
            <a:endParaRPr lang="en-US" sz="2400" dirty="0"/>
          </a:p>
        </p:txBody>
      </p:sp>
      <p:sp>
        <p:nvSpPr>
          <p:cNvPr id="7" name="Text 5">
            <a:hlinkClick r:id="rId3" tooltip="https://csrc.nist.gov/pubs/sp/800/183/fina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csrc.nist.gov/pubs/sp/800/183/final">
                  <a:extLst>
                    <a:ext uri="{A12FA001-AC4F-418D-AE19-62706E023703}">
                      <ahyp:hlinkClr xmlns:ahyp="http://schemas.microsoft.com/office/drawing/2018/hyperlinkcolor" val="tx"/>
                    </a:ext>
                  </a:extLst>
                </a:hlinkClick>
              </a:rPr>
              <a:t>Link: NIST SP 800-183 — fundamentos de IoT</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Ciclo de valor</a:t>
            </a:r>
            <a:endParaRPr lang="en-US" sz="1300" dirty="0"/>
          </a:p>
        </p:txBody>
      </p:sp>
      <p:sp>
        <p:nvSpPr>
          <p:cNvPr id="9" name="Text 7"/>
          <p:cNvSpPr/>
          <p:nvPr/>
        </p:nvSpPr>
        <p:spPr>
          <a:xfrm>
            <a:off x="8092440" y="1554480"/>
            <a:ext cx="3337560" cy="402336"/>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1. Medir</a:t>
            </a:r>
            <a:endParaRPr lang="en-US" sz="1200" dirty="0"/>
          </a:p>
        </p:txBody>
      </p:sp>
      <p:sp>
        <p:nvSpPr>
          <p:cNvPr id="10" name="Text 8"/>
          <p:cNvSpPr/>
          <p:nvPr/>
        </p:nvSpPr>
        <p:spPr>
          <a:xfrm>
            <a:off x="8092440" y="2176272"/>
            <a:ext cx="3337560" cy="402336"/>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2. Enviar</a:t>
            </a:r>
            <a:endParaRPr lang="en-US" sz="1200" dirty="0"/>
          </a:p>
        </p:txBody>
      </p:sp>
      <p:sp>
        <p:nvSpPr>
          <p:cNvPr id="11" name="Text 9"/>
          <p:cNvSpPr/>
          <p:nvPr/>
        </p:nvSpPr>
        <p:spPr>
          <a:xfrm>
            <a:off x="8092440" y="2798064"/>
            <a:ext cx="3337560" cy="402336"/>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3. Analisar</a:t>
            </a:r>
            <a:endParaRPr lang="en-US" sz="1200" dirty="0"/>
          </a:p>
        </p:txBody>
      </p:sp>
      <p:sp>
        <p:nvSpPr>
          <p:cNvPr id="12" name="Text 10"/>
          <p:cNvSpPr/>
          <p:nvPr/>
        </p:nvSpPr>
        <p:spPr>
          <a:xfrm>
            <a:off x="8092440" y="3419856"/>
            <a:ext cx="3337560" cy="402336"/>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4. Agir</a:t>
            </a:r>
            <a:endParaRPr lang="en-US" sz="1200" dirty="0"/>
          </a:p>
        </p:txBody>
      </p:sp>
      <p:sp>
        <p:nvSpPr>
          <p:cNvPr id="13" name="Text 11"/>
          <p:cNvSpPr/>
          <p:nvPr/>
        </p:nvSpPr>
        <p:spPr>
          <a:xfrm>
            <a:off x="8613648" y="5230368"/>
            <a:ext cx="2286000" cy="384048"/>
          </a:xfrm>
          <a:prstGeom prst="rect">
            <a:avLst/>
          </a:prstGeom>
          <a:solidFill>
            <a:srgbClr val="FFFFFF"/>
          </a:solidFill>
          <a:ln w="12700">
            <a:solidFill>
              <a:srgbClr val="CBD5E1"/>
            </a:solidFill>
          </a:ln>
        </p:spPr>
        <p:txBody>
          <a:bodyPr wrap="square" lIns="635" tIns="635" rIns="635" bIns="635" rtlCol="0" anchor="ctr">
            <a:normAutofit/>
          </a:bodyPr>
          <a:lstStyle/>
          <a:p>
            <a:pPr marL="0" indent="0" algn="ctr">
              <a:buNone/>
            </a:pPr>
            <a:r>
              <a:rPr lang="en-US" sz="1150" b="1" dirty="0">
                <a:solidFill>
                  <a:srgbClr val="64748B"/>
                </a:solidFill>
                <a:latin typeface="Aptos" pitchFamily="34" charset="0"/>
                <a:ea typeface="Aptos" pitchFamily="34" charset="-122"/>
                <a:cs typeface="Aptos" pitchFamily="34" charset="-120"/>
              </a:rPr>
              <a:t>ciclo contínuo</a:t>
            </a:r>
            <a:endParaRPr lang="en-US" sz="115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Objetivos da aula</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O que o estudante deverá ser capaz de fazer</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Identificar as etapas do fluxo de dados de sensores em IoT.</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Diferenciar dado bruto, dado tratado, evento e telemetria.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Explicar termos como amostragem, timestamp, ruído e latência.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Aplicar boas práticas para estruturar mensagens de sensores.</a:t>
            </a:r>
            <a:endParaRPr lang="en-US" sz="2400" dirty="0"/>
          </a:p>
        </p:txBody>
      </p:sp>
      <p:sp>
        <p:nvSpPr>
          <p:cNvPr id="7" name="Text 5"/>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dirty="0">
                <a:solidFill>
                  <a:srgbClr val="64748B"/>
                </a:solidFill>
                <a:latin typeface="Aptos" pitchFamily="34" charset="0"/>
                <a:ea typeface="Aptos" pitchFamily="34" charset="-122"/>
                <a:cs typeface="Aptos" pitchFamily="34" charset="-120"/>
              </a:rPr>
              <a:t>Link: nenhum link adicional necessário neste slide.</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Resultados esperados</a:t>
            </a:r>
            <a:endParaRPr lang="en-US" sz="1300" dirty="0"/>
          </a:p>
        </p:txBody>
      </p:sp>
      <p:sp>
        <p:nvSpPr>
          <p:cNvPr id="9" name="Text 7"/>
          <p:cNvSpPr/>
          <p:nvPr/>
        </p:nvSpPr>
        <p:spPr>
          <a:xfrm>
            <a:off x="8046720" y="1627632"/>
            <a:ext cx="3520440" cy="4023360"/>
          </a:xfrm>
          <a:prstGeom prst="rect">
            <a:avLst/>
          </a:prstGeom>
          <a:solidFill>
            <a:srgbClr val="FFFFFF"/>
          </a:solidFill>
          <a:ln w="12700">
            <a:solidFill>
              <a:srgbClr val="CBD5E1"/>
            </a:solidFill>
          </a:ln>
        </p:spPr>
        <p:txBody>
          <a:bodyPr wrap="square" lIns="1524" tIns="1524" rIns="1524" bIns="1524" rtlCol="0" anchor="ctr">
            <a:normAutofit/>
          </a:bodyPr>
          <a:lstStyle/>
          <a:p>
            <a:pPr marL="0" indent="0">
              <a:lnSpc>
                <a:spcPct val="200000"/>
              </a:lnSpc>
              <a:buNone/>
            </a:pPr>
            <a:r>
              <a:rPr lang="en-US" sz="2000" dirty="0">
                <a:solidFill>
                  <a:srgbClr val="1E293B"/>
                </a:solidFill>
                <a:latin typeface="Aptos" pitchFamily="34" charset="0"/>
                <a:ea typeface="Aptos" pitchFamily="34" charset="-122"/>
                <a:cs typeface="Aptos" pitchFamily="34" charset="-120"/>
              </a:rPr>
              <a:t>✓ Identificar fluxo</a:t>
            </a:r>
            <a:endParaRPr lang="en-US" sz="2000" dirty="0"/>
          </a:p>
          <a:p>
            <a:pPr marL="0" indent="0">
              <a:lnSpc>
                <a:spcPct val="200000"/>
              </a:lnSpc>
              <a:buNone/>
            </a:pPr>
            <a:r>
              <a:rPr lang="en-US" sz="2000" dirty="0">
                <a:solidFill>
                  <a:srgbClr val="1E293B"/>
                </a:solidFill>
                <a:latin typeface="Aptos" pitchFamily="34" charset="0"/>
                <a:ea typeface="Aptos" pitchFamily="34" charset="-122"/>
                <a:cs typeface="Aptos" pitchFamily="34" charset="-120"/>
              </a:rPr>
              <a:t>✓ Diferenciar conceitos</a:t>
            </a:r>
            <a:endParaRPr lang="en-US" sz="2000" dirty="0"/>
          </a:p>
          <a:p>
            <a:pPr marL="0" indent="0">
              <a:lnSpc>
                <a:spcPct val="200000"/>
              </a:lnSpc>
              <a:buNone/>
            </a:pPr>
            <a:r>
              <a:rPr lang="en-US" sz="2000" dirty="0">
                <a:solidFill>
                  <a:srgbClr val="1E293B"/>
                </a:solidFill>
                <a:latin typeface="Aptos" pitchFamily="34" charset="0"/>
                <a:ea typeface="Aptos" pitchFamily="34" charset="-122"/>
                <a:cs typeface="Aptos" pitchFamily="34" charset="-120"/>
              </a:rPr>
              <a:t>✓ Explicar termos</a:t>
            </a:r>
            <a:endParaRPr lang="en-US" sz="2000" dirty="0"/>
          </a:p>
          <a:p>
            <a:pPr marL="0" indent="0">
              <a:lnSpc>
                <a:spcPct val="200000"/>
              </a:lnSpc>
              <a:buNone/>
            </a:pPr>
            <a:r>
              <a:rPr lang="en-US" sz="2000" dirty="0">
                <a:solidFill>
                  <a:srgbClr val="1E293B"/>
                </a:solidFill>
                <a:latin typeface="Aptos" pitchFamily="34" charset="0"/>
                <a:ea typeface="Aptos" pitchFamily="34" charset="-122"/>
                <a:cs typeface="Aptos" pitchFamily="34" charset="-120"/>
              </a:rPr>
              <a:t>✓ Aplicar no projeto</a:t>
            </a:r>
            <a:endParaRPr lang="en-US" sz="20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Relembrando: o que é um sensor?</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4</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Sensor como interface com o mundo físico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lnSpcReduction="10000"/>
          </a:bodyPr>
          <a:lstStyle/>
          <a:p>
            <a:pPr marL="0" indent="0" algn="just">
              <a:lnSpc>
                <a:spcPct val="150000"/>
              </a:lnSpc>
              <a:buNone/>
            </a:pPr>
            <a:r>
              <a:rPr lang="en-US" sz="2400" dirty="0">
                <a:solidFill>
                  <a:srgbClr val="1E293B"/>
                </a:solidFill>
                <a:latin typeface="Aptos" pitchFamily="34" charset="0"/>
                <a:ea typeface="Aptos" pitchFamily="34" charset="-122"/>
                <a:cs typeface="Aptos" pitchFamily="34" charset="-120"/>
              </a:rPr>
              <a:t>• Sensor é um componente que detecta uma grandeza física.</a:t>
            </a:r>
            <a:endParaRPr lang="en-US" sz="2400" dirty="0"/>
          </a:p>
          <a:p>
            <a:pPr marL="0" indent="0" algn="just">
              <a:lnSpc>
                <a:spcPct val="150000"/>
              </a:lnSpc>
              <a:buNone/>
            </a:pPr>
            <a:r>
              <a:rPr lang="en-US" sz="2400" dirty="0">
                <a:solidFill>
                  <a:srgbClr val="1E293B"/>
                </a:solidFill>
                <a:latin typeface="Aptos" pitchFamily="34" charset="0"/>
                <a:ea typeface="Aptos" pitchFamily="34" charset="-122"/>
                <a:cs typeface="Aptos" pitchFamily="34" charset="-120"/>
              </a:rPr>
              <a:t>• Grandeza física: temperatura, luz, pressão, vibração, presença ou umidade.</a:t>
            </a:r>
            <a:endParaRPr lang="en-US" sz="2400" dirty="0"/>
          </a:p>
          <a:p>
            <a:pPr marL="0" indent="0" algn="just">
              <a:lnSpc>
                <a:spcPct val="150000"/>
              </a:lnSpc>
              <a:buNone/>
            </a:pPr>
            <a:r>
              <a:rPr lang="en-US" sz="2400" dirty="0">
                <a:solidFill>
                  <a:srgbClr val="1E293B"/>
                </a:solidFill>
                <a:latin typeface="Aptos" pitchFamily="34" charset="0"/>
                <a:ea typeface="Aptos" pitchFamily="34" charset="-122"/>
                <a:cs typeface="Aptos" pitchFamily="34" charset="-120"/>
              </a:rPr>
              <a:t>• O sensor gera um sinal que pode ser lido por um sistema eletrônico.</a:t>
            </a:r>
            <a:endParaRPr lang="en-US" sz="2400" dirty="0"/>
          </a:p>
          <a:p>
            <a:pPr marL="0" indent="0" algn="just">
              <a:lnSpc>
                <a:spcPct val="150000"/>
              </a:lnSpc>
              <a:buNone/>
            </a:pPr>
            <a:r>
              <a:rPr lang="en-US" sz="2400" dirty="0">
                <a:solidFill>
                  <a:srgbClr val="1E293B"/>
                </a:solidFill>
                <a:latin typeface="Aptos" pitchFamily="34" charset="0"/>
                <a:ea typeface="Aptos" pitchFamily="34" charset="-122"/>
                <a:cs typeface="Aptos" pitchFamily="34" charset="-120"/>
              </a:rPr>
              <a:t>• Em IoT, essa leitura vira dado para processamento e comunicação.</a:t>
            </a:r>
            <a:endParaRPr lang="en-US" sz="2400" dirty="0"/>
          </a:p>
        </p:txBody>
      </p:sp>
      <p:sp>
        <p:nvSpPr>
          <p:cNvPr id="7" name="Text 5">
            <a:hlinkClick r:id="rId3" tooltip="https://csrc.nist.gov/pubs/sp/800/183/fina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csrc.nist.gov/pubs/sp/800/183/final">
                  <a:extLst>
                    <a:ext uri="{A12FA001-AC4F-418D-AE19-62706E023703}">
                      <ahyp:hlinkClr xmlns:ahyp="http://schemas.microsoft.com/office/drawing/2018/hyperlinkcolor" val="tx"/>
                    </a:ext>
                  </a:extLst>
                </a:hlinkClick>
              </a:rPr>
              <a:t>Link: NIST SP 800-183 — fundamentos de IoT</a:t>
            </a:r>
            <a:endParaRPr lang="en-US" sz="1050" dirty="0"/>
          </a:p>
        </p:txBody>
      </p:sp>
      <p:sp>
        <p:nvSpPr>
          <p:cNvPr id="8" name="Text 6"/>
          <p:cNvSpPr/>
          <p:nvPr/>
        </p:nvSpPr>
        <p:spPr>
          <a:xfrm>
            <a:off x="7803658" y="1585199"/>
            <a:ext cx="3886200" cy="72619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600" b="1" dirty="0">
                <a:solidFill>
                  <a:srgbClr val="0F766E"/>
                </a:solidFill>
                <a:latin typeface="Aptos" pitchFamily="34" charset="0"/>
                <a:ea typeface="Aptos" pitchFamily="34" charset="-122"/>
                <a:cs typeface="Aptos" pitchFamily="34" charset="-120"/>
              </a:rPr>
              <a:t>Exemplo de conversão</a:t>
            </a:r>
            <a:endParaRPr lang="en-US" sz="1600" dirty="0"/>
          </a:p>
        </p:txBody>
      </p:sp>
      <p:sp>
        <p:nvSpPr>
          <p:cNvPr id="10" name="Shape 8"/>
          <p:cNvSpPr/>
          <p:nvPr/>
        </p:nvSpPr>
        <p:spPr>
          <a:xfrm>
            <a:off x="9746758" y="3745059"/>
            <a:ext cx="0" cy="544648"/>
          </a:xfrm>
          <a:prstGeom prst="line">
            <a:avLst/>
          </a:prstGeom>
          <a:noFill/>
          <a:ln w="16510">
            <a:solidFill>
              <a:srgbClr val="0F766E"/>
            </a:solidFill>
            <a:prstDash val="solid"/>
            <a:tailEnd type="triangle"/>
          </a:ln>
        </p:spPr>
      </p:sp>
      <p:sp>
        <p:nvSpPr>
          <p:cNvPr id="11" name="Shape 9"/>
          <p:cNvSpPr/>
          <p:nvPr/>
        </p:nvSpPr>
        <p:spPr>
          <a:xfrm>
            <a:off x="9753289" y="4651152"/>
            <a:ext cx="0" cy="544648"/>
          </a:xfrm>
          <a:prstGeom prst="line">
            <a:avLst/>
          </a:prstGeom>
          <a:noFill/>
          <a:ln w="16510">
            <a:solidFill>
              <a:srgbClr val="0F766E"/>
            </a:solidFill>
            <a:prstDash val="solid"/>
            <a:tailEnd type="triangle"/>
          </a:ln>
        </p:spPr>
      </p:sp>
      <p:sp>
        <p:nvSpPr>
          <p:cNvPr id="13" name="Text 11"/>
          <p:cNvSpPr/>
          <p:nvPr/>
        </p:nvSpPr>
        <p:spPr>
          <a:xfrm>
            <a:off x="8103170" y="3377274"/>
            <a:ext cx="3337560" cy="59637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600" b="1" dirty="0">
                <a:solidFill>
                  <a:srgbClr val="1E293B"/>
                </a:solidFill>
                <a:latin typeface="Aptos" pitchFamily="34" charset="0"/>
                <a:ea typeface="Aptos" pitchFamily="34" charset="-122"/>
                <a:cs typeface="Aptos" pitchFamily="34" charset="-120"/>
              </a:rPr>
              <a:t>Sensor</a:t>
            </a:r>
            <a:endParaRPr lang="en-US" sz="1600" dirty="0"/>
          </a:p>
        </p:txBody>
      </p:sp>
      <p:sp>
        <p:nvSpPr>
          <p:cNvPr id="14" name="Text 12"/>
          <p:cNvSpPr/>
          <p:nvPr/>
        </p:nvSpPr>
        <p:spPr>
          <a:xfrm>
            <a:off x="8103170" y="4289707"/>
            <a:ext cx="3337560" cy="659232"/>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600" b="1" dirty="0">
                <a:solidFill>
                  <a:srgbClr val="1E293B"/>
                </a:solidFill>
                <a:latin typeface="Aptos" pitchFamily="34" charset="0"/>
                <a:ea typeface="Aptos" pitchFamily="34" charset="-122"/>
                <a:cs typeface="Aptos" pitchFamily="34" charset="-120"/>
              </a:rPr>
              <a:t>Sinal elétrico</a:t>
            </a:r>
            <a:endParaRPr lang="en-US" sz="1600" dirty="0"/>
          </a:p>
        </p:txBody>
      </p:sp>
      <p:sp>
        <p:nvSpPr>
          <p:cNvPr id="15" name="Text 13"/>
          <p:cNvSpPr/>
          <p:nvPr/>
        </p:nvSpPr>
        <p:spPr>
          <a:xfrm>
            <a:off x="8092440" y="5195800"/>
            <a:ext cx="3337560" cy="1043909"/>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600" b="1" dirty="0">
                <a:solidFill>
                  <a:srgbClr val="1E293B"/>
                </a:solidFill>
                <a:latin typeface="Aptos" pitchFamily="34" charset="0"/>
                <a:ea typeface="Aptos" pitchFamily="34" charset="-122"/>
                <a:cs typeface="Aptos" pitchFamily="34" charset="-120"/>
              </a:rPr>
              <a:t>Leitura digital</a:t>
            </a:r>
            <a:endParaRPr lang="en-US" sz="16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4</a:t>
            </a:fld>
            <a:endParaRPr lang="en-US"/>
          </a:p>
        </p:txBody>
      </p:sp>
      <p:sp>
        <p:nvSpPr>
          <p:cNvPr id="9" name="Shape 7"/>
          <p:cNvSpPr/>
          <p:nvPr/>
        </p:nvSpPr>
        <p:spPr>
          <a:xfrm>
            <a:off x="9746758" y="2884352"/>
            <a:ext cx="0" cy="544648"/>
          </a:xfrm>
          <a:prstGeom prst="line">
            <a:avLst/>
          </a:prstGeom>
          <a:noFill/>
          <a:ln w="16510">
            <a:solidFill>
              <a:srgbClr val="0F766E"/>
            </a:solidFill>
            <a:prstDash val="solid"/>
            <a:tailEnd type="triangle"/>
          </a:ln>
        </p:spPr>
      </p:sp>
      <p:sp>
        <p:nvSpPr>
          <p:cNvPr id="12" name="Text 10"/>
          <p:cNvSpPr/>
          <p:nvPr/>
        </p:nvSpPr>
        <p:spPr>
          <a:xfrm>
            <a:off x="8103170" y="2575981"/>
            <a:ext cx="3337560" cy="447215"/>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600" b="1" dirty="0">
                <a:solidFill>
                  <a:srgbClr val="1E293B"/>
                </a:solidFill>
                <a:latin typeface="Aptos" pitchFamily="34" charset="0"/>
                <a:ea typeface="Aptos" pitchFamily="34" charset="-122"/>
                <a:cs typeface="Aptos" pitchFamily="34" charset="-120"/>
              </a:rPr>
              <a:t>Temperatura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Do fenômeno físico ao dado digital</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5</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Conversão em etapas</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O fenômeno físico altera uma propriedade do sensor.</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O circuito transforma essa alteração em sinal elétrico.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O microcontrolador lê o sinal e cria um valor digital.</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O software associa unidade, horário, dispositivo e contexto.</a:t>
            </a:r>
            <a:endParaRPr lang="en-US" sz="2400" dirty="0"/>
          </a:p>
        </p:txBody>
      </p:sp>
      <p:sp>
        <p:nvSpPr>
          <p:cNvPr id="7" name="Text 5">
            <a:hlinkClick r:id="rId3" tooltip="https://www.ni.com/en/shop/data-acquisition/measurement-fundamentals/analog-fundamentals/analog-sample-quality--accuracy--sensitivity--precision--and-noi.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www.ni.com/en/shop/data-acquisition/measurement-fundamentals/analog-fundamentals/analog-sample-quality--accuracy--sensitivity--precision--and-noi.html">
                  <a:extLst>
                    <a:ext uri="{A12FA001-AC4F-418D-AE19-62706E023703}">
                      <ahyp:hlinkClr xmlns:ahyp="http://schemas.microsoft.com/office/drawing/2018/hyperlinkcolor" val="tx"/>
                    </a:ext>
                  </a:extLst>
                </a:hlinkClick>
              </a:rPr>
              <a:t>Link: NI — qualidade de amostras analógicas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Cadeia de medição</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Text 10"/>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Fenômeno</a:t>
            </a:r>
            <a:endParaRPr lang="en-US" sz="1200" dirty="0"/>
          </a:p>
        </p:txBody>
      </p:sp>
      <p:sp>
        <p:nvSpPr>
          <p:cNvPr id="13" name="Text 11"/>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Transdução</a:t>
            </a:r>
            <a:endParaRPr lang="en-US" sz="1200" dirty="0"/>
          </a:p>
        </p:txBody>
      </p:sp>
      <p:sp>
        <p:nvSpPr>
          <p:cNvPr id="14" name="Text 12"/>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Leitura</a:t>
            </a:r>
            <a:endParaRPr lang="en-US" sz="1200" dirty="0"/>
          </a:p>
        </p:txBody>
      </p:sp>
      <p:sp>
        <p:nvSpPr>
          <p:cNvPr id="15" name="Text 13"/>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Dado contextualizado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Anatomia de um dado de sensor</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6</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O dado precisa de contexto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Valor: número medido, como 28,4.</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Unidade: °C, %, lux, Pa, g, ppm etc.</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Timestamp: data e hora da medição.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Identificação: sensor, local, equipamento e condição de operação.</a:t>
            </a:r>
            <a:endParaRPr lang="en-US" sz="2400" dirty="0"/>
          </a:p>
        </p:txBody>
      </p:sp>
      <p:sp>
        <p:nvSpPr>
          <p:cNvPr id="7" name="Text 5">
            <a:hlinkClick r:id="rId3" tooltip="https://grafana.com/docs/grafana/latest/visualizations/panels-visualizations/visualizations/time-series/"/>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grafana.com/docs/grafana/latest/visualizations/panels-visualizations/visualizations/time-series/">
                  <a:extLst>
                    <a:ext uri="{A12FA001-AC4F-418D-AE19-62706E023703}">
                      <ahyp:hlinkClr xmlns:ahyp="http://schemas.microsoft.com/office/drawing/2018/hyperlinkcolor" val="tx"/>
                    </a:ext>
                  </a:extLst>
                </a:hlinkClick>
              </a:rPr>
              <a:t>Link: Grafana — visualização de séries temporais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Mensagem mínima</a:t>
            </a:r>
            <a:endParaRPr lang="en-US" sz="1300" dirty="0"/>
          </a:p>
        </p:txBody>
      </p:sp>
      <p:sp>
        <p:nvSpPr>
          <p:cNvPr id="9" name="Text 7"/>
          <p:cNvSpPr/>
          <p:nvPr/>
        </p:nvSpPr>
        <p:spPr>
          <a:xfrm>
            <a:off x="8001000" y="1572768"/>
            <a:ext cx="3611880" cy="3429000"/>
          </a:xfrm>
          <a:prstGeom prst="rect">
            <a:avLst/>
          </a:prstGeom>
          <a:solidFill>
            <a:srgbClr val="F8FAFC"/>
          </a:solidFill>
          <a:ln w="12700">
            <a:solidFill>
              <a:srgbClr val="CBD5E1"/>
            </a:solidFill>
          </a:ln>
        </p:spPr>
        <p:txBody>
          <a:bodyPr wrap="square" lIns="1778" tIns="1778" rIns="1778" bIns="1778" rtlCol="0" anchor="ctr">
            <a:normAutofit/>
          </a:bodyPr>
          <a:lstStyle/>
          <a:p>
            <a:pPr marL="0" indent="0">
              <a:buNone/>
            </a:pPr>
            <a:r>
              <a:rPr lang="en-US" sz="1150" dirty="0">
                <a:solidFill>
                  <a:srgbClr val="0F172A"/>
                </a:solidFill>
                <a:latin typeface="Consolas" pitchFamily="34" charset="0"/>
                <a:ea typeface="Consolas" pitchFamily="34" charset="-122"/>
                <a:cs typeface="Consolas" pitchFamily="34" charset="-120"/>
              </a:rPr>
              <a:t>{</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"sensor":"temp_01",</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"valor":28.4,</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"unidade":"C",</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"timestamp":"2026-08-14T10:15:00Z"</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a:t>
            </a:r>
            <a:endParaRPr lang="en-US" sz="1150" dirty="0"/>
          </a:p>
        </p:txBody>
      </p:sp>
      <p:sp>
        <p:nvSpPr>
          <p:cNvPr id="10" name="Text 8"/>
          <p:cNvSpPr/>
          <p:nvPr/>
        </p:nvSpPr>
        <p:spPr>
          <a:xfrm>
            <a:off x="8183880" y="5175504"/>
            <a:ext cx="3246120" cy="41148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Campos + contexto + tempo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Tipos de variáveis medidas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7</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Nem todo sensor produz o mesmo tipo de dado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Contínuas: podem variar em escala ampla, como temperatura.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Discretas: assumem estados ou contagens, como presença ou pulsos.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Analógicas: sinal varia continuamente antes da digitalização.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Digitais: já entregam valores estruturados ou estados ao microcontrolador.</a:t>
            </a:r>
            <a:endParaRPr lang="en-US" sz="2400" dirty="0"/>
          </a:p>
        </p:txBody>
      </p:sp>
      <p:sp>
        <p:nvSpPr>
          <p:cNvPr id="7" name="Text 5">
            <a:hlinkClick r:id="rId3" tooltip="https://www.ni.com/en/shop/data-acquisition/measurement-fundamentals/analog-fundamentals/analog-sample-quality--accuracy--sensitivity--precision--and-noi.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www.ni.com/en/shop/data-acquisition/measurement-fundamentals/analog-fundamentals/analog-sample-quality--accuracy--sensitivity--precision--and-noi.html">
                  <a:extLst>
                    <a:ext uri="{A12FA001-AC4F-418D-AE19-62706E023703}">
                      <ahyp:hlinkClr xmlns:ahyp="http://schemas.microsoft.com/office/drawing/2018/hyperlinkcolor" val="tx"/>
                    </a:ext>
                  </a:extLst>
                </a:hlinkClick>
              </a:rPr>
              <a:t>Link: NI — qualidade de amostras analógicas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Natureza do dado</a:t>
            </a:r>
            <a:endParaRPr lang="en-US" sz="1300" dirty="0"/>
          </a:p>
        </p:txBody>
      </p:sp>
      <p:sp>
        <p:nvSpPr>
          <p:cNvPr id="9" name="Text 7"/>
          <p:cNvSpPr/>
          <p:nvPr/>
        </p:nvSpPr>
        <p:spPr>
          <a:xfrm>
            <a:off x="7909560" y="1554480"/>
            <a:ext cx="1783080" cy="393192"/>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Contínuo</a:t>
            </a:r>
            <a:endParaRPr lang="en-US" sz="1200" dirty="0"/>
          </a:p>
        </p:txBody>
      </p:sp>
      <p:sp>
        <p:nvSpPr>
          <p:cNvPr id="10" name="Text 8"/>
          <p:cNvSpPr/>
          <p:nvPr/>
        </p:nvSpPr>
        <p:spPr>
          <a:xfrm>
            <a:off x="9893808" y="1554480"/>
            <a:ext cx="1783080" cy="393192"/>
          </a:xfrm>
          <a:prstGeom prst="rect">
            <a:avLst/>
          </a:prstGeom>
          <a:solidFill>
            <a:srgbClr val="FFEDD5"/>
          </a:solidFill>
          <a:ln w="12700">
            <a:solidFill>
              <a:srgbClr val="FDBA7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Discreto</a:t>
            </a:r>
            <a:endParaRPr lang="en-US" sz="1200" dirty="0"/>
          </a:p>
        </p:txBody>
      </p:sp>
      <p:sp>
        <p:nvSpPr>
          <p:cNvPr id="11" name="Text 9"/>
          <p:cNvSpPr/>
          <p:nvPr/>
        </p:nvSpPr>
        <p:spPr>
          <a:xfrm>
            <a:off x="7955280" y="2057400"/>
            <a:ext cx="1691640" cy="2926080"/>
          </a:xfrm>
          <a:prstGeom prst="rect">
            <a:avLst/>
          </a:prstGeom>
          <a:noFill/>
          <a:ln/>
        </p:spPr>
        <p:txBody>
          <a:bodyPr wrap="square" lIns="381" tIns="381" rIns="381" bIns="381" rtlCol="0" anchor="ctr">
            <a:normAutofit/>
          </a:bodyPr>
          <a:lstStyle/>
          <a:p>
            <a:pPr marL="0" indent="0">
              <a:buNone/>
            </a:pPr>
            <a:r>
              <a:rPr lang="en-US" sz="1600" dirty="0">
                <a:solidFill>
                  <a:srgbClr val="1E293B"/>
                </a:solidFill>
                <a:latin typeface="Aptos" pitchFamily="34" charset="0"/>
                <a:ea typeface="Aptos" pitchFamily="34" charset="-122"/>
                <a:cs typeface="Aptos" pitchFamily="34" charset="-120"/>
              </a:rPr>
              <a:t>• temperatura</a:t>
            </a:r>
            <a:endParaRPr lang="en-US" sz="1600" dirty="0"/>
          </a:p>
          <a:p>
            <a:pPr marL="0" indent="0">
              <a:buNone/>
            </a:pPr>
            <a:r>
              <a:rPr lang="en-US" sz="1600" dirty="0">
                <a:solidFill>
                  <a:srgbClr val="1E293B"/>
                </a:solidFill>
                <a:latin typeface="Aptos" pitchFamily="34" charset="0"/>
                <a:ea typeface="Aptos" pitchFamily="34" charset="-122"/>
                <a:cs typeface="Aptos" pitchFamily="34" charset="-120"/>
              </a:rPr>
              <a:t>• pressão</a:t>
            </a:r>
            <a:endParaRPr lang="en-US" sz="1600" dirty="0"/>
          </a:p>
          <a:p>
            <a:pPr marL="0" indent="0">
              <a:buNone/>
            </a:pPr>
            <a:r>
              <a:rPr lang="en-US" sz="1600" dirty="0">
                <a:solidFill>
                  <a:srgbClr val="1E293B"/>
                </a:solidFill>
                <a:latin typeface="Aptos" pitchFamily="34" charset="0"/>
                <a:ea typeface="Aptos" pitchFamily="34" charset="-122"/>
                <a:cs typeface="Aptos" pitchFamily="34" charset="-120"/>
              </a:rPr>
              <a:t>• luminosidade</a:t>
            </a:r>
            <a:endParaRPr lang="en-US" sz="1600" dirty="0"/>
          </a:p>
        </p:txBody>
      </p:sp>
      <p:sp>
        <p:nvSpPr>
          <p:cNvPr id="12" name="Text 10"/>
          <p:cNvSpPr/>
          <p:nvPr/>
        </p:nvSpPr>
        <p:spPr>
          <a:xfrm>
            <a:off x="9939528" y="2057400"/>
            <a:ext cx="1691640" cy="2926080"/>
          </a:xfrm>
          <a:prstGeom prst="rect">
            <a:avLst/>
          </a:prstGeom>
          <a:noFill/>
          <a:ln/>
        </p:spPr>
        <p:txBody>
          <a:bodyPr wrap="square" lIns="381" tIns="381" rIns="381" bIns="381" rtlCol="0" anchor="ctr">
            <a:normAutofit/>
          </a:bodyPr>
          <a:lstStyle/>
          <a:p>
            <a:pPr marL="0" indent="0">
              <a:buNone/>
            </a:pPr>
            <a:r>
              <a:rPr lang="en-US" sz="1400" dirty="0">
                <a:solidFill>
                  <a:srgbClr val="1E293B"/>
                </a:solidFill>
                <a:latin typeface="Aptos" pitchFamily="34" charset="0"/>
                <a:ea typeface="Aptos" pitchFamily="34" charset="-122"/>
                <a:cs typeface="Aptos" pitchFamily="34" charset="-120"/>
              </a:rPr>
              <a:t>• presença</a:t>
            </a:r>
            <a:endParaRPr lang="en-US" sz="1400" dirty="0"/>
          </a:p>
          <a:p>
            <a:pPr marL="0" indent="0">
              <a:buNone/>
            </a:pPr>
            <a:r>
              <a:rPr lang="en-US" sz="1400" dirty="0">
                <a:solidFill>
                  <a:srgbClr val="1E293B"/>
                </a:solidFill>
                <a:latin typeface="Aptos" pitchFamily="34" charset="0"/>
                <a:ea typeface="Aptos" pitchFamily="34" charset="-122"/>
                <a:cs typeface="Aptos" pitchFamily="34" charset="-120"/>
              </a:rPr>
              <a:t>• contagem</a:t>
            </a:r>
            <a:endParaRPr lang="en-US" sz="1400" dirty="0"/>
          </a:p>
          <a:p>
            <a:pPr marL="0" indent="0">
              <a:buNone/>
            </a:pPr>
            <a:r>
              <a:rPr lang="en-US" sz="1400" dirty="0">
                <a:solidFill>
                  <a:srgbClr val="1E293B"/>
                </a:solidFill>
                <a:latin typeface="Aptos" pitchFamily="34" charset="0"/>
                <a:ea typeface="Aptos" pitchFamily="34" charset="-122"/>
                <a:cs typeface="Aptos" pitchFamily="34" charset="-120"/>
              </a:rPr>
              <a:t>• porta aberta</a:t>
            </a:r>
            <a:endParaRPr lang="en-US" sz="1400" dirty="0"/>
          </a:p>
        </p:txBody>
      </p:sp>
      <p:sp>
        <p:nvSpPr>
          <p:cNvPr id="13" name="Shape 11"/>
          <p:cNvSpPr/>
          <p:nvPr/>
        </p:nvSpPr>
        <p:spPr>
          <a:xfrm>
            <a:off x="9765792" y="1554480"/>
            <a:ext cx="0" cy="3566160"/>
          </a:xfrm>
          <a:prstGeom prst="line">
            <a:avLst/>
          </a:prstGeom>
          <a:noFill/>
          <a:ln w="10160">
            <a:solidFill>
              <a:srgbClr val="94A3B8"/>
            </a:solidFill>
            <a:prstDash val="solid"/>
          </a:ln>
        </p:spPr>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Fluxo geral dos dados em IoT</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8</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Da coleta à decisão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Aquisição: o sensor coleta uma leitura.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Pré-processamento: o dispositivo filtra ou organiza o dado.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Comunicação: a mensagem é enviada por rede.</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Aplicação: o dado vira painel, alerta, comando ou relatório.</a:t>
            </a:r>
            <a:endParaRPr lang="en-US" sz="2400" dirty="0"/>
          </a:p>
        </p:txBody>
      </p:sp>
      <p:sp>
        <p:nvSpPr>
          <p:cNvPr id="7" name="Text 5">
            <a:hlinkClick r:id="rId3" tooltip="https://csrc.nist.gov/pubs/sp/500/325/fina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csrc.nist.gov/pubs/sp/500/325/final">
                  <a:extLst>
                    <a:ext uri="{A12FA001-AC4F-418D-AE19-62706E023703}">
                      <ahyp:hlinkClr xmlns:ahyp="http://schemas.microsoft.com/office/drawing/2018/hyperlinkcolor" val="tx"/>
                    </a:ext>
                  </a:extLst>
                </a:hlinkClick>
              </a:rPr>
              <a:t>Link: NIST SP 500-325 — Fog Computing</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Fluxo completo</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Shape 10"/>
          <p:cNvSpPr/>
          <p:nvPr/>
        </p:nvSpPr>
        <p:spPr>
          <a:xfrm>
            <a:off x="9761220" y="4023360"/>
            <a:ext cx="0" cy="219456"/>
          </a:xfrm>
          <a:prstGeom prst="line">
            <a:avLst/>
          </a:prstGeom>
          <a:noFill/>
          <a:ln w="16510">
            <a:solidFill>
              <a:srgbClr val="0F766E"/>
            </a:solidFill>
            <a:prstDash val="solid"/>
            <a:tailEnd type="triangle"/>
          </a:ln>
        </p:spPr>
      </p:sp>
      <p:sp>
        <p:nvSpPr>
          <p:cNvPr id="13" name="Text 11"/>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Aquisição</a:t>
            </a:r>
            <a:endParaRPr lang="en-US" sz="1200" dirty="0"/>
          </a:p>
        </p:txBody>
      </p:sp>
      <p:sp>
        <p:nvSpPr>
          <p:cNvPr id="14" name="Text 12"/>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Pré-processamento</a:t>
            </a:r>
            <a:endParaRPr lang="en-US" sz="1200" dirty="0"/>
          </a:p>
        </p:txBody>
      </p:sp>
      <p:sp>
        <p:nvSpPr>
          <p:cNvPr id="15" name="Text 13"/>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Transmissão</a:t>
            </a:r>
            <a:endParaRPr lang="en-US" sz="1200" dirty="0"/>
          </a:p>
        </p:txBody>
      </p:sp>
      <p:sp>
        <p:nvSpPr>
          <p:cNvPr id="16" name="Text 14"/>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Armazenamento</a:t>
            </a:r>
            <a:endParaRPr lang="en-US" sz="1200" dirty="0"/>
          </a:p>
        </p:txBody>
      </p:sp>
      <p:sp>
        <p:nvSpPr>
          <p:cNvPr id="17" name="Text 15"/>
          <p:cNvSpPr/>
          <p:nvPr/>
        </p:nvSpPr>
        <p:spPr>
          <a:xfrm>
            <a:off x="8092440" y="4279392"/>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Aplicação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Aquisição: amostragem</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9</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Transformar sinal em sequência de leituras</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Amostragem é a captura periódica ou acionada de valores.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Cada leitura representa o estado do fenômeno em um instante.</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 frequência de amostragem indica quantas leituras são feitas por segundo.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Escolher mal essa frequência pode esconder ou distorcer eventos.</a:t>
            </a:r>
            <a:endParaRPr lang="en-US" sz="2400" dirty="0"/>
          </a:p>
        </p:txBody>
      </p:sp>
      <p:sp>
        <p:nvSpPr>
          <p:cNvPr id="7" name="Text 5">
            <a:hlinkClick r:id="rId3" tooltip="https://www.mathworks.com/help/daq/making-quality-measurements.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www.mathworks.com/help/daq/making-quality-measurements.html">
                  <a:extLst>
                    <a:ext uri="{A12FA001-AC4F-418D-AE19-62706E023703}">
                      <ahyp:hlinkClr xmlns:ahyp="http://schemas.microsoft.com/office/drawing/2018/hyperlinkcolor" val="tx"/>
                    </a:ext>
                  </a:extLst>
                </a:hlinkClick>
              </a:rPr>
              <a:t>Link: MathWorks — amostragem e qualidade de medição</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Leituras ao longo do tempo</a:t>
            </a:r>
            <a:endParaRPr lang="en-US" sz="1300" dirty="0"/>
          </a:p>
        </p:txBody>
      </p:sp>
      <p:sp>
        <p:nvSpPr>
          <p:cNvPr id="9" name="Text 7"/>
          <p:cNvSpPr/>
          <p:nvPr/>
        </p:nvSpPr>
        <p:spPr>
          <a:xfrm>
            <a:off x="8046720" y="1965960"/>
            <a:ext cx="3566160" cy="960120"/>
          </a:xfrm>
          <a:prstGeom prst="rect">
            <a:avLst/>
          </a:prstGeom>
          <a:solidFill>
            <a:srgbClr val="FFFFFF"/>
          </a:solidFill>
          <a:ln w="12700">
            <a:solidFill>
              <a:srgbClr val="CBD5E1"/>
            </a:solidFill>
          </a:ln>
        </p:spPr>
        <p:txBody>
          <a:bodyPr wrap="square" lIns="508" tIns="508" rIns="508" bIns="508" rtlCol="0" anchor="ctr">
            <a:normAutofit/>
          </a:bodyPr>
          <a:lstStyle/>
          <a:p>
            <a:pPr marL="0" indent="0" algn="ctr">
              <a:buNone/>
            </a:pPr>
            <a:r>
              <a:rPr lang="en-US" sz="3800" dirty="0">
                <a:solidFill>
                  <a:srgbClr val="2563EB"/>
                </a:solidFill>
                <a:latin typeface="Aptos Display" pitchFamily="34" charset="0"/>
                <a:ea typeface="Aptos Display" pitchFamily="34" charset="-122"/>
                <a:cs typeface="Aptos Display" pitchFamily="34" charset="-120"/>
              </a:rPr>
              <a:t>▁▂▃▄▅▆▅▇▆</a:t>
            </a:r>
            <a:endParaRPr lang="en-US" sz="3800" dirty="0"/>
          </a:p>
        </p:txBody>
      </p:sp>
      <p:sp>
        <p:nvSpPr>
          <p:cNvPr id="10" name="Text 8"/>
          <p:cNvSpPr/>
          <p:nvPr/>
        </p:nvSpPr>
        <p:spPr>
          <a:xfrm>
            <a:off x="8366760" y="3063240"/>
            <a:ext cx="2926080" cy="292608"/>
          </a:xfrm>
          <a:prstGeom prst="rect">
            <a:avLst/>
          </a:prstGeom>
          <a:solidFill>
            <a:srgbClr val="F8FAFC"/>
          </a:solidFill>
          <a:ln w="12700">
            <a:solidFill>
              <a:srgbClr val="E2E8F0"/>
            </a:solidFill>
          </a:ln>
        </p:spPr>
        <p:txBody>
          <a:bodyPr wrap="square" lIns="635" tIns="635" rIns="635" bIns="635" rtlCol="0" anchor="ctr">
            <a:normAutofit/>
          </a:bodyPr>
          <a:lstStyle/>
          <a:p>
            <a:pPr marL="0" indent="0" algn="ctr">
              <a:buNone/>
            </a:pPr>
            <a:r>
              <a:rPr lang="en-US" sz="1100" dirty="0">
                <a:solidFill>
                  <a:srgbClr val="64748B"/>
                </a:solidFill>
                <a:latin typeface="Aptos" pitchFamily="34" charset="0"/>
                <a:ea typeface="Aptos" pitchFamily="34" charset="-122"/>
                <a:cs typeface="Aptos" pitchFamily="34" charset="-120"/>
              </a:rPr>
              <a:t>eixo do tempo →</a:t>
            </a:r>
            <a:endParaRPr lang="en-US" sz="1100" dirty="0"/>
          </a:p>
        </p:txBody>
      </p:sp>
      <p:sp>
        <p:nvSpPr>
          <p:cNvPr id="11" name="Text 9"/>
          <p:cNvSpPr/>
          <p:nvPr/>
        </p:nvSpPr>
        <p:spPr>
          <a:xfrm>
            <a:off x="8275320" y="3794760"/>
            <a:ext cx="3108960" cy="475488"/>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300" b="1" dirty="0">
                <a:solidFill>
                  <a:srgbClr val="1E293B"/>
                </a:solidFill>
                <a:latin typeface="Aptos" pitchFamily="34" charset="0"/>
                <a:ea typeface="Aptos" pitchFamily="34" charset="-122"/>
                <a:cs typeface="Aptos" pitchFamily="34" charset="-120"/>
              </a:rPr>
              <a:t>tendência da medição</a:t>
            </a:r>
            <a:endParaRPr lang="en-US" sz="1300" dirty="0"/>
          </a:p>
        </p:txBody>
      </p:sp>
      <p:sp>
        <p:nvSpPr>
          <p:cNvPr id="12" name="Text 10"/>
          <p:cNvSpPr/>
          <p:nvPr/>
        </p:nvSpPr>
        <p:spPr>
          <a:xfrm>
            <a:off x="8183880" y="4617720"/>
            <a:ext cx="3291840" cy="475488"/>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dirty="0">
                <a:solidFill>
                  <a:srgbClr val="1E293B"/>
                </a:solidFill>
                <a:latin typeface="Aptos" pitchFamily="34" charset="0"/>
                <a:ea typeface="Aptos" pitchFamily="34" charset="-122"/>
                <a:cs typeface="Aptos" pitchFamily="34" charset="-120"/>
              </a:rPr>
              <a:t>cada ponto depende do timestamp</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Frequência de amostragem</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10</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Quanto medir é suficiente?</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Sensores lentos podem usar poucas leituras por minuto.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Fenômenos rápidos exigem mais leituras por segundo.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Mais amostras aumentam volume de dados e consumo de energia.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 escolha depende do fenômeno, da decisão esperada e do custo.</a:t>
            </a:r>
            <a:endParaRPr lang="en-US" sz="2400" dirty="0"/>
          </a:p>
        </p:txBody>
      </p:sp>
      <p:sp>
        <p:nvSpPr>
          <p:cNvPr id="7" name="Text 5">
            <a:hlinkClick r:id="rId3" tooltip="https://www.mathworks.com/help/daq/making-quality-measurements.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www.mathworks.com/help/daq/making-quality-measurements.html">
                  <a:extLst>
                    <a:ext uri="{A12FA001-AC4F-418D-AE19-62706E023703}">
                      <ahyp:hlinkClr xmlns:ahyp="http://schemas.microsoft.com/office/drawing/2018/hyperlinkcolor" val="tx"/>
                    </a:ext>
                  </a:extLst>
                </a:hlinkClick>
              </a:rPr>
              <a:t>Link: MathWorks — amostragem e qualidade de medição</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Decisão de projeto</a:t>
            </a:r>
            <a:endParaRPr lang="en-US" sz="1300" dirty="0"/>
          </a:p>
        </p:txBody>
      </p:sp>
      <p:sp>
        <p:nvSpPr>
          <p:cNvPr id="9" name="Text 7"/>
          <p:cNvSpPr/>
          <p:nvPr/>
        </p:nvSpPr>
        <p:spPr>
          <a:xfrm>
            <a:off x="7909560" y="1554480"/>
            <a:ext cx="1783080" cy="393192"/>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Baixa frequência</a:t>
            </a:r>
            <a:endParaRPr lang="en-US" sz="1200" dirty="0"/>
          </a:p>
        </p:txBody>
      </p:sp>
      <p:sp>
        <p:nvSpPr>
          <p:cNvPr id="10" name="Text 8"/>
          <p:cNvSpPr/>
          <p:nvPr/>
        </p:nvSpPr>
        <p:spPr>
          <a:xfrm>
            <a:off x="9893808" y="1554480"/>
            <a:ext cx="1783080" cy="393192"/>
          </a:xfrm>
          <a:prstGeom prst="rect">
            <a:avLst/>
          </a:prstGeom>
          <a:solidFill>
            <a:srgbClr val="FFEDD5"/>
          </a:solidFill>
          <a:ln w="12700">
            <a:solidFill>
              <a:srgbClr val="FDBA7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Alta frequência</a:t>
            </a:r>
            <a:endParaRPr lang="en-US" sz="1200" dirty="0"/>
          </a:p>
        </p:txBody>
      </p:sp>
      <p:sp>
        <p:nvSpPr>
          <p:cNvPr id="11" name="Text 9"/>
          <p:cNvSpPr/>
          <p:nvPr/>
        </p:nvSpPr>
        <p:spPr>
          <a:xfrm>
            <a:off x="7955280" y="2057400"/>
            <a:ext cx="1691640" cy="2926080"/>
          </a:xfrm>
          <a:prstGeom prst="rect">
            <a:avLst/>
          </a:prstGeom>
          <a:noFill/>
          <a:ln/>
        </p:spPr>
        <p:txBody>
          <a:bodyPr wrap="square" lIns="381" tIns="381" rIns="381" bIns="381" rtlCol="0" anchor="ctr">
            <a:normAutofit/>
          </a:bodyPr>
          <a:lstStyle/>
          <a:p>
            <a:pPr marL="0" indent="0">
              <a:buNone/>
            </a:pPr>
            <a:r>
              <a:rPr lang="en-US" sz="1150" dirty="0">
                <a:solidFill>
                  <a:srgbClr val="1E293B"/>
                </a:solidFill>
                <a:latin typeface="Aptos" pitchFamily="34" charset="0"/>
                <a:ea typeface="Aptos" pitchFamily="34" charset="-122"/>
                <a:cs typeface="Aptos" pitchFamily="34" charset="-120"/>
              </a:rPr>
              <a:t>• menos energia</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menos dados</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perde detalhes</a:t>
            </a:r>
            <a:endParaRPr lang="en-US" sz="1150" dirty="0"/>
          </a:p>
        </p:txBody>
      </p:sp>
      <p:sp>
        <p:nvSpPr>
          <p:cNvPr id="12" name="Text 10"/>
          <p:cNvSpPr/>
          <p:nvPr/>
        </p:nvSpPr>
        <p:spPr>
          <a:xfrm>
            <a:off x="9939528" y="2057400"/>
            <a:ext cx="1691640" cy="2926080"/>
          </a:xfrm>
          <a:prstGeom prst="rect">
            <a:avLst/>
          </a:prstGeom>
          <a:noFill/>
          <a:ln/>
        </p:spPr>
        <p:txBody>
          <a:bodyPr wrap="square" lIns="381" tIns="381" rIns="381" bIns="381" rtlCol="0" anchor="ctr">
            <a:normAutofit/>
          </a:bodyPr>
          <a:lstStyle/>
          <a:p>
            <a:pPr marL="0" indent="0">
              <a:buNone/>
            </a:pPr>
            <a:r>
              <a:rPr lang="en-US" sz="1150" dirty="0">
                <a:solidFill>
                  <a:srgbClr val="1E293B"/>
                </a:solidFill>
                <a:latin typeface="Aptos" pitchFamily="34" charset="0"/>
                <a:ea typeface="Aptos" pitchFamily="34" charset="-122"/>
                <a:cs typeface="Aptos" pitchFamily="34" charset="-120"/>
              </a:rPr>
              <a:t>• mais detalhes</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mais volume</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mais consumo</a:t>
            </a:r>
            <a:endParaRPr lang="en-US" sz="1150" dirty="0"/>
          </a:p>
        </p:txBody>
      </p:sp>
      <p:sp>
        <p:nvSpPr>
          <p:cNvPr id="13" name="Shape 11"/>
          <p:cNvSpPr/>
          <p:nvPr/>
        </p:nvSpPr>
        <p:spPr>
          <a:xfrm>
            <a:off x="9765792" y="1554480"/>
            <a:ext cx="0" cy="3566160"/>
          </a:xfrm>
          <a:prstGeom prst="line">
            <a:avLst/>
          </a:prstGeom>
          <a:noFill/>
          <a:ln w="10160">
            <a:solidFill>
              <a:srgbClr val="94A3B8"/>
            </a:solidFill>
            <a:prstDash val="solid"/>
          </a:ln>
        </p:spPr>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Conversão analógica-digital</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11</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ADC e quantização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ADC significa Conversor Analógico-Digital.</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Ele transforma um sinal contínuo em números discretos.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Quantização é o arredondamento do sinal para níveis digitais disponíveis.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Quanto maior a resolução do ADC, menores podem ser os passos de medição.</a:t>
            </a:r>
            <a:endParaRPr lang="en-US" sz="2400" dirty="0"/>
          </a:p>
        </p:txBody>
      </p:sp>
      <p:sp>
        <p:nvSpPr>
          <p:cNvPr id="7" name="Text 5">
            <a:hlinkClick r:id="rId3" tooltip="https://www.ni.com/en/shop/data-acquisition/measurement-fundamentals/analog-fundamentals/analog-sample-quality--accuracy--sensitivity--precision--and-noi.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www.ni.com/en/shop/data-acquisition/measurement-fundamentals/analog-fundamentals/analog-sample-quality--accuracy--sensitivity--precision--and-noi.html">
                  <a:extLst>
                    <a:ext uri="{A12FA001-AC4F-418D-AE19-62706E023703}">
                      <ahyp:hlinkClr xmlns:ahyp="http://schemas.microsoft.com/office/drawing/2018/hyperlinkcolor" val="tx"/>
                    </a:ext>
                  </a:extLst>
                </a:hlinkClick>
              </a:rPr>
              <a:t>Link: NI — qualidade de amostras analógicas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Conversão em camadas</a:t>
            </a:r>
            <a:endParaRPr lang="en-US" sz="1300" dirty="0"/>
          </a:p>
        </p:txBody>
      </p:sp>
      <p:sp>
        <p:nvSpPr>
          <p:cNvPr id="9" name="Text 7"/>
          <p:cNvSpPr/>
          <p:nvPr/>
        </p:nvSpPr>
        <p:spPr>
          <a:xfrm>
            <a:off x="8046720" y="1627632"/>
            <a:ext cx="3474720" cy="45720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Número digital</a:t>
            </a:r>
            <a:endParaRPr lang="en-US" sz="1240" dirty="0"/>
          </a:p>
        </p:txBody>
      </p:sp>
      <p:sp>
        <p:nvSpPr>
          <p:cNvPr id="10" name="Text 8"/>
          <p:cNvSpPr/>
          <p:nvPr/>
        </p:nvSpPr>
        <p:spPr>
          <a:xfrm>
            <a:off x="8046720" y="2212848"/>
            <a:ext cx="3474720" cy="457200"/>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ADC</a:t>
            </a:r>
            <a:endParaRPr lang="en-US" sz="1240" dirty="0"/>
          </a:p>
        </p:txBody>
      </p:sp>
      <p:sp>
        <p:nvSpPr>
          <p:cNvPr id="11" name="Text 9"/>
          <p:cNvSpPr/>
          <p:nvPr/>
        </p:nvSpPr>
        <p:spPr>
          <a:xfrm>
            <a:off x="8046720" y="2798064"/>
            <a:ext cx="3474720" cy="45720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Sinal analógico</a:t>
            </a:r>
            <a:endParaRPr lang="en-US" sz="1240" dirty="0"/>
          </a:p>
        </p:txBody>
      </p:sp>
      <p:sp>
        <p:nvSpPr>
          <p:cNvPr id="12" name="Text 10"/>
          <p:cNvSpPr/>
          <p:nvPr/>
        </p:nvSpPr>
        <p:spPr>
          <a:xfrm>
            <a:off x="8046720" y="3383280"/>
            <a:ext cx="3474720" cy="457200"/>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Sinal físico</a:t>
            </a:r>
            <a:endParaRPr lang="en-US" sz="124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Resolução e faixa de medição</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12</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Detalhe e limite do sensor</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Resolução é a menor variação percebida pelo sistema.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Faixa é o intervalo mínimo e máximo que o sensor mede.</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Um sensor pode ter boa resolução e faixa inadequada para o problema.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Exemplo: medir forno exige faixa maior que medir sala de aula.</a:t>
            </a:r>
            <a:endParaRPr lang="en-US" sz="2400" dirty="0"/>
          </a:p>
        </p:txBody>
      </p:sp>
      <p:sp>
        <p:nvSpPr>
          <p:cNvPr id="7" name="Text 5">
            <a:hlinkClick r:id="rId3" tooltip="https://www.ni.com/en/shop/data-acquisition/measurement-fundamentals/analog-fundamentals/analog-sample-quality--accuracy--sensitivity--precision--and-noi.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www.ni.com/en/shop/data-acquisition/measurement-fundamentals/analog-fundamentals/analog-sample-quality--accuracy--sensitivity--precision--and-noi.html">
                  <a:extLst>
                    <a:ext uri="{A12FA001-AC4F-418D-AE19-62706E023703}">
                      <ahyp:hlinkClr xmlns:ahyp="http://schemas.microsoft.com/office/drawing/2018/hyperlinkcolor" val="tx"/>
                    </a:ext>
                  </a:extLst>
                </a:hlinkClick>
              </a:rPr>
              <a:t>Link: NI — qualidade de amostras analógicas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Especificações</a:t>
            </a:r>
            <a:endParaRPr lang="en-US" sz="1300" dirty="0"/>
          </a:p>
        </p:txBody>
      </p:sp>
      <p:sp>
        <p:nvSpPr>
          <p:cNvPr id="9" name="Text 7"/>
          <p:cNvSpPr/>
          <p:nvPr/>
        </p:nvSpPr>
        <p:spPr>
          <a:xfrm>
            <a:off x="8183880" y="1691640"/>
            <a:ext cx="1280160" cy="320040"/>
          </a:xfrm>
          <a:prstGeom prst="rect">
            <a:avLst/>
          </a:prstGeom>
          <a:solidFill>
            <a:srgbClr val="F8FAFC"/>
          </a:solidFill>
          <a:ln w="12700">
            <a:solidFill>
              <a:srgbClr val="CBD5E1"/>
            </a:solidFill>
          </a:ln>
        </p:spPr>
        <p:txBody>
          <a:bodyPr wrap="square" lIns="635" tIns="635" rIns="635" bIns="635" rtlCol="0" anchor="ctr">
            <a:normAutofit/>
          </a:bodyPr>
          <a:lstStyle/>
          <a:p>
            <a:pPr marL="0" indent="0" algn="ctr">
              <a:buNone/>
            </a:pPr>
            <a:r>
              <a:rPr lang="en-US" sz="1050" b="1" dirty="0">
                <a:solidFill>
                  <a:srgbClr val="1E293B"/>
                </a:solidFill>
                <a:latin typeface="Aptos" pitchFamily="34" charset="0"/>
                <a:ea typeface="Aptos" pitchFamily="34" charset="-122"/>
                <a:cs typeface="Aptos" pitchFamily="34" charset="-120"/>
              </a:rPr>
              <a:t>Resolução</a:t>
            </a:r>
            <a:endParaRPr lang="en-US" sz="1050" dirty="0"/>
          </a:p>
        </p:txBody>
      </p:sp>
      <p:sp>
        <p:nvSpPr>
          <p:cNvPr id="10" name="Shape 8"/>
          <p:cNvSpPr/>
          <p:nvPr/>
        </p:nvSpPr>
        <p:spPr>
          <a:xfrm>
            <a:off x="9601200" y="1746504"/>
            <a:ext cx="1828800" cy="201168"/>
          </a:xfrm>
          <a:prstGeom prst="rect">
            <a:avLst/>
          </a:prstGeom>
          <a:solidFill>
            <a:srgbClr val="E2E8F0"/>
          </a:solidFill>
          <a:ln w="12700">
            <a:solidFill>
              <a:srgbClr val="E2E8F0"/>
            </a:solidFill>
            <a:prstDash val="solid"/>
          </a:ln>
        </p:spPr>
      </p:sp>
      <p:sp>
        <p:nvSpPr>
          <p:cNvPr id="11" name="Shape 9"/>
          <p:cNvSpPr/>
          <p:nvPr/>
        </p:nvSpPr>
        <p:spPr>
          <a:xfrm>
            <a:off x="9601200" y="1746504"/>
            <a:ext cx="1463040" cy="201168"/>
          </a:xfrm>
          <a:prstGeom prst="rect">
            <a:avLst/>
          </a:prstGeom>
          <a:solidFill>
            <a:srgbClr val="2563EB"/>
          </a:solidFill>
          <a:ln w="12700">
            <a:solidFill>
              <a:srgbClr val="2563EB"/>
            </a:solidFill>
            <a:prstDash val="solid"/>
          </a:ln>
        </p:spPr>
      </p:sp>
      <p:sp>
        <p:nvSpPr>
          <p:cNvPr id="12" name="Text 10"/>
          <p:cNvSpPr/>
          <p:nvPr/>
        </p:nvSpPr>
        <p:spPr>
          <a:xfrm>
            <a:off x="9601200" y="1993392"/>
            <a:ext cx="1828800" cy="201168"/>
          </a:xfrm>
          <a:prstGeom prst="rect">
            <a:avLst/>
          </a:prstGeom>
          <a:noFill/>
          <a:ln/>
        </p:spPr>
        <p:txBody>
          <a:bodyPr wrap="square" lIns="635" tIns="635" rIns="635" bIns="635" rtlCol="0" anchor="ctr">
            <a:normAutofit/>
          </a:bodyPr>
          <a:lstStyle/>
          <a:p>
            <a:pPr marL="0" indent="0" algn="ctr">
              <a:buNone/>
            </a:pPr>
            <a:r>
              <a:rPr lang="en-US" sz="850" dirty="0">
                <a:solidFill>
                  <a:srgbClr val="64748B"/>
                </a:solidFill>
                <a:latin typeface="Aptos" pitchFamily="34" charset="0"/>
                <a:ea typeface="Aptos" pitchFamily="34" charset="-122"/>
                <a:cs typeface="Aptos" pitchFamily="34" charset="-120"/>
              </a:rPr>
              <a:t>menor passo</a:t>
            </a:r>
            <a:endParaRPr lang="en-US" sz="850" dirty="0"/>
          </a:p>
        </p:txBody>
      </p:sp>
      <p:sp>
        <p:nvSpPr>
          <p:cNvPr id="13" name="Text 11"/>
          <p:cNvSpPr/>
          <p:nvPr/>
        </p:nvSpPr>
        <p:spPr>
          <a:xfrm>
            <a:off x="8183880" y="2514600"/>
            <a:ext cx="1280160" cy="320040"/>
          </a:xfrm>
          <a:prstGeom prst="rect">
            <a:avLst/>
          </a:prstGeom>
          <a:solidFill>
            <a:srgbClr val="F8FAFC"/>
          </a:solidFill>
          <a:ln w="12700">
            <a:solidFill>
              <a:srgbClr val="CBD5E1"/>
            </a:solidFill>
          </a:ln>
        </p:spPr>
        <p:txBody>
          <a:bodyPr wrap="square" lIns="635" tIns="635" rIns="635" bIns="635" rtlCol="0" anchor="ctr">
            <a:normAutofit/>
          </a:bodyPr>
          <a:lstStyle/>
          <a:p>
            <a:pPr marL="0" indent="0" algn="ctr">
              <a:buNone/>
            </a:pPr>
            <a:r>
              <a:rPr lang="en-US" sz="1050" b="1" dirty="0">
                <a:solidFill>
                  <a:srgbClr val="1E293B"/>
                </a:solidFill>
                <a:latin typeface="Aptos" pitchFamily="34" charset="0"/>
                <a:ea typeface="Aptos" pitchFamily="34" charset="-122"/>
                <a:cs typeface="Aptos" pitchFamily="34" charset="-120"/>
              </a:rPr>
              <a:t>Faixa</a:t>
            </a:r>
            <a:endParaRPr lang="en-US" sz="1050" dirty="0"/>
          </a:p>
        </p:txBody>
      </p:sp>
      <p:sp>
        <p:nvSpPr>
          <p:cNvPr id="14" name="Shape 12"/>
          <p:cNvSpPr/>
          <p:nvPr/>
        </p:nvSpPr>
        <p:spPr>
          <a:xfrm>
            <a:off x="9601200" y="2569464"/>
            <a:ext cx="1828800" cy="201168"/>
          </a:xfrm>
          <a:prstGeom prst="rect">
            <a:avLst/>
          </a:prstGeom>
          <a:solidFill>
            <a:srgbClr val="E2E8F0"/>
          </a:solidFill>
          <a:ln w="12700">
            <a:solidFill>
              <a:srgbClr val="E2E8F0"/>
            </a:solidFill>
            <a:prstDash val="solid"/>
          </a:ln>
        </p:spPr>
      </p:sp>
      <p:sp>
        <p:nvSpPr>
          <p:cNvPr id="15" name="Shape 13"/>
          <p:cNvSpPr/>
          <p:nvPr/>
        </p:nvSpPr>
        <p:spPr>
          <a:xfrm>
            <a:off x="9601200" y="2569464"/>
            <a:ext cx="1737360" cy="201168"/>
          </a:xfrm>
          <a:prstGeom prst="rect">
            <a:avLst/>
          </a:prstGeom>
          <a:solidFill>
            <a:srgbClr val="0F766E"/>
          </a:solidFill>
          <a:ln w="12700">
            <a:solidFill>
              <a:srgbClr val="0F766E"/>
            </a:solidFill>
            <a:prstDash val="solid"/>
          </a:ln>
        </p:spPr>
      </p:sp>
      <p:sp>
        <p:nvSpPr>
          <p:cNvPr id="16" name="Text 14"/>
          <p:cNvSpPr/>
          <p:nvPr/>
        </p:nvSpPr>
        <p:spPr>
          <a:xfrm>
            <a:off x="9601200" y="2816352"/>
            <a:ext cx="1828800" cy="201168"/>
          </a:xfrm>
          <a:prstGeom prst="rect">
            <a:avLst/>
          </a:prstGeom>
          <a:noFill/>
          <a:ln/>
        </p:spPr>
        <p:txBody>
          <a:bodyPr wrap="square" lIns="635" tIns="635" rIns="635" bIns="635" rtlCol="0" anchor="ctr">
            <a:normAutofit/>
          </a:bodyPr>
          <a:lstStyle/>
          <a:p>
            <a:pPr marL="0" indent="0" algn="ctr">
              <a:buNone/>
            </a:pPr>
            <a:r>
              <a:rPr lang="en-US" sz="850" dirty="0">
                <a:solidFill>
                  <a:srgbClr val="64748B"/>
                </a:solidFill>
                <a:latin typeface="Aptos" pitchFamily="34" charset="0"/>
                <a:ea typeface="Aptos" pitchFamily="34" charset="-122"/>
                <a:cs typeface="Aptos" pitchFamily="34" charset="-120"/>
              </a:rPr>
              <a:t>min e max</a:t>
            </a:r>
            <a:endParaRPr lang="en-US" sz="850" dirty="0"/>
          </a:p>
        </p:txBody>
      </p:sp>
      <p:sp>
        <p:nvSpPr>
          <p:cNvPr id="17" name="Text 15"/>
          <p:cNvSpPr/>
          <p:nvPr/>
        </p:nvSpPr>
        <p:spPr>
          <a:xfrm>
            <a:off x="8183880" y="3337560"/>
            <a:ext cx="1280160" cy="320040"/>
          </a:xfrm>
          <a:prstGeom prst="rect">
            <a:avLst/>
          </a:prstGeom>
          <a:solidFill>
            <a:srgbClr val="F8FAFC"/>
          </a:solidFill>
          <a:ln w="12700">
            <a:solidFill>
              <a:srgbClr val="CBD5E1"/>
            </a:solidFill>
          </a:ln>
        </p:spPr>
        <p:txBody>
          <a:bodyPr wrap="square" lIns="635" tIns="635" rIns="635" bIns="635" rtlCol="0" anchor="ctr">
            <a:normAutofit/>
          </a:bodyPr>
          <a:lstStyle/>
          <a:p>
            <a:pPr marL="0" indent="0" algn="ctr">
              <a:buNone/>
            </a:pPr>
            <a:r>
              <a:rPr lang="en-US" sz="1050" b="1" dirty="0">
                <a:solidFill>
                  <a:srgbClr val="1E293B"/>
                </a:solidFill>
                <a:latin typeface="Aptos" pitchFamily="34" charset="0"/>
                <a:ea typeface="Aptos" pitchFamily="34" charset="-122"/>
                <a:cs typeface="Aptos" pitchFamily="34" charset="-120"/>
              </a:rPr>
              <a:t>Aplicação</a:t>
            </a:r>
            <a:endParaRPr lang="en-US" sz="1050" dirty="0"/>
          </a:p>
        </p:txBody>
      </p:sp>
      <p:sp>
        <p:nvSpPr>
          <p:cNvPr id="18" name="Shape 16"/>
          <p:cNvSpPr/>
          <p:nvPr/>
        </p:nvSpPr>
        <p:spPr>
          <a:xfrm>
            <a:off x="9601200" y="3392424"/>
            <a:ext cx="1828800" cy="201168"/>
          </a:xfrm>
          <a:prstGeom prst="rect">
            <a:avLst/>
          </a:prstGeom>
          <a:solidFill>
            <a:srgbClr val="E2E8F0"/>
          </a:solidFill>
          <a:ln w="12700">
            <a:solidFill>
              <a:srgbClr val="E2E8F0"/>
            </a:solidFill>
            <a:prstDash val="solid"/>
          </a:ln>
        </p:spPr>
      </p:sp>
      <p:sp>
        <p:nvSpPr>
          <p:cNvPr id="19" name="Shape 17"/>
          <p:cNvSpPr/>
          <p:nvPr/>
        </p:nvSpPr>
        <p:spPr>
          <a:xfrm>
            <a:off x="9601200" y="3392424"/>
            <a:ext cx="1188720" cy="201168"/>
          </a:xfrm>
          <a:prstGeom prst="rect">
            <a:avLst/>
          </a:prstGeom>
          <a:solidFill>
            <a:srgbClr val="F97316"/>
          </a:solidFill>
          <a:ln w="12700">
            <a:solidFill>
              <a:srgbClr val="F97316"/>
            </a:solidFill>
            <a:prstDash val="solid"/>
          </a:ln>
        </p:spPr>
      </p:sp>
      <p:sp>
        <p:nvSpPr>
          <p:cNvPr id="20" name="Text 18"/>
          <p:cNvSpPr/>
          <p:nvPr/>
        </p:nvSpPr>
        <p:spPr>
          <a:xfrm>
            <a:off x="9601200" y="3639312"/>
            <a:ext cx="1828800" cy="201168"/>
          </a:xfrm>
          <a:prstGeom prst="rect">
            <a:avLst/>
          </a:prstGeom>
          <a:noFill/>
          <a:ln/>
        </p:spPr>
        <p:txBody>
          <a:bodyPr wrap="square" lIns="635" tIns="635" rIns="635" bIns="635" rtlCol="0" anchor="ctr">
            <a:normAutofit/>
          </a:bodyPr>
          <a:lstStyle/>
          <a:p>
            <a:pPr marL="0" indent="0" algn="ctr">
              <a:buNone/>
            </a:pPr>
            <a:r>
              <a:rPr lang="en-US" sz="850" dirty="0">
                <a:solidFill>
                  <a:srgbClr val="64748B"/>
                </a:solidFill>
                <a:latin typeface="Aptos" pitchFamily="34" charset="0"/>
                <a:ea typeface="Aptos" pitchFamily="34" charset="-122"/>
                <a:cs typeface="Aptos" pitchFamily="34" charset="-120"/>
              </a:rPr>
              <a:t>adequação</a:t>
            </a:r>
            <a:endParaRPr lang="en-US" sz="85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Acurácia, precisão e calibração</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13</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Qualidade da medição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Acurácia: proximidade entre medição e valor real.</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Precisão: repetição consistente de medições semelhantes.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Calibração: ajuste ou verificação usando referência confiável.</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Um sensor preciso pode estar errado se estiver descalibrado.</a:t>
            </a:r>
            <a:endParaRPr lang="en-US" sz="2400" dirty="0"/>
          </a:p>
        </p:txBody>
      </p:sp>
      <p:sp>
        <p:nvSpPr>
          <p:cNvPr id="7" name="Text 5">
            <a:hlinkClick r:id="rId3" tooltip="https://www.ni.com/en/shop/data-acquisition/measurement-fundamentals/analog-fundamentals/analog-sample-quality--accuracy--sensitivity--precision--and-noi.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www.ni.com/en/shop/data-acquisition/measurement-fundamentals/analog-fundamentals/analog-sample-quality--accuracy--sensitivity--precision--and-noi.html">
                  <a:extLst>
                    <a:ext uri="{A12FA001-AC4F-418D-AE19-62706E023703}">
                      <ahyp:hlinkClr xmlns:ahyp="http://schemas.microsoft.com/office/drawing/2018/hyperlinkcolor" val="tx"/>
                    </a:ext>
                  </a:extLst>
                </a:hlinkClick>
              </a:rPr>
              <a:t>Link: NI — qualidade de amostras analógicas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Alvo da medição</a:t>
            </a:r>
            <a:endParaRPr lang="en-US" sz="1300" dirty="0"/>
          </a:p>
        </p:txBody>
      </p:sp>
      <p:sp>
        <p:nvSpPr>
          <p:cNvPr id="9" name="Text 7"/>
          <p:cNvSpPr/>
          <p:nvPr/>
        </p:nvSpPr>
        <p:spPr>
          <a:xfrm>
            <a:off x="7909560" y="1554480"/>
            <a:ext cx="1783080" cy="393192"/>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Preciso</a:t>
            </a:r>
            <a:endParaRPr lang="en-US" sz="1200" dirty="0"/>
          </a:p>
        </p:txBody>
      </p:sp>
      <p:sp>
        <p:nvSpPr>
          <p:cNvPr id="10" name="Text 8"/>
          <p:cNvSpPr/>
          <p:nvPr/>
        </p:nvSpPr>
        <p:spPr>
          <a:xfrm>
            <a:off x="9893808" y="1554480"/>
            <a:ext cx="1783080" cy="393192"/>
          </a:xfrm>
          <a:prstGeom prst="rect">
            <a:avLst/>
          </a:prstGeom>
          <a:solidFill>
            <a:srgbClr val="FFEDD5"/>
          </a:solidFill>
          <a:ln w="12700">
            <a:solidFill>
              <a:srgbClr val="FDBA7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Acurado</a:t>
            </a:r>
            <a:endParaRPr lang="en-US" sz="1200" dirty="0"/>
          </a:p>
        </p:txBody>
      </p:sp>
      <p:sp>
        <p:nvSpPr>
          <p:cNvPr id="11" name="Text 9"/>
          <p:cNvSpPr/>
          <p:nvPr/>
        </p:nvSpPr>
        <p:spPr>
          <a:xfrm>
            <a:off x="7955280" y="2057400"/>
            <a:ext cx="1691640" cy="2926080"/>
          </a:xfrm>
          <a:prstGeom prst="rect">
            <a:avLst/>
          </a:prstGeom>
          <a:noFill/>
          <a:ln/>
        </p:spPr>
        <p:txBody>
          <a:bodyPr wrap="square" lIns="381" tIns="381" rIns="381" bIns="381" rtlCol="0" anchor="ctr">
            <a:normAutofit/>
          </a:bodyPr>
          <a:lstStyle/>
          <a:p>
            <a:pPr marL="0" indent="0">
              <a:buNone/>
            </a:pPr>
            <a:r>
              <a:rPr lang="en-US" sz="1150" dirty="0">
                <a:solidFill>
                  <a:srgbClr val="1E293B"/>
                </a:solidFill>
                <a:latin typeface="Aptos" pitchFamily="34" charset="0"/>
                <a:ea typeface="Aptos" pitchFamily="34" charset="-122"/>
                <a:cs typeface="Aptos" pitchFamily="34" charset="-120"/>
              </a:rPr>
              <a:t>• valores próximos</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pode ter desvio</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boa repetição</a:t>
            </a:r>
            <a:endParaRPr lang="en-US" sz="1150" dirty="0"/>
          </a:p>
        </p:txBody>
      </p:sp>
      <p:sp>
        <p:nvSpPr>
          <p:cNvPr id="12" name="Text 10"/>
          <p:cNvSpPr/>
          <p:nvPr/>
        </p:nvSpPr>
        <p:spPr>
          <a:xfrm>
            <a:off x="9939528" y="2057400"/>
            <a:ext cx="1691640" cy="2926080"/>
          </a:xfrm>
          <a:prstGeom prst="rect">
            <a:avLst/>
          </a:prstGeom>
          <a:noFill/>
          <a:ln/>
        </p:spPr>
        <p:txBody>
          <a:bodyPr wrap="square" lIns="381" tIns="381" rIns="381" bIns="381" rtlCol="0" anchor="ctr">
            <a:normAutofit/>
          </a:bodyPr>
          <a:lstStyle/>
          <a:p>
            <a:pPr marL="0" indent="0">
              <a:buNone/>
            </a:pPr>
            <a:r>
              <a:rPr lang="en-US" sz="1150" dirty="0">
                <a:solidFill>
                  <a:srgbClr val="1E293B"/>
                </a:solidFill>
                <a:latin typeface="Aptos" pitchFamily="34" charset="0"/>
                <a:ea typeface="Aptos" pitchFamily="34" charset="-122"/>
                <a:cs typeface="Aptos" pitchFamily="34" charset="-120"/>
              </a:rPr>
              <a:t>• perto do real</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menor erro</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melhor decisão</a:t>
            </a:r>
            <a:endParaRPr lang="en-US" sz="1150" dirty="0"/>
          </a:p>
        </p:txBody>
      </p:sp>
      <p:sp>
        <p:nvSpPr>
          <p:cNvPr id="13" name="Shape 11"/>
          <p:cNvSpPr/>
          <p:nvPr/>
        </p:nvSpPr>
        <p:spPr>
          <a:xfrm>
            <a:off x="9765792" y="1554480"/>
            <a:ext cx="0" cy="3566160"/>
          </a:xfrm>
          <a:prstGeom prst="line">
            <a:avLst/>
          </a:prstGeom>
          <a:noFill/>
          <a:ln w="10160">
            <a:solidFill>
              <a:srgbClr val="94A3B8"/>
            </a:solidFill>
            <a:prstDash val="solid"/>
          </a:ln>
        </p:spPr>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Ruído nos dados de sensores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14</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Variações indesejadas</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Ruído é uma variação não desejada na leitura.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Pode vir do ambiente, alimentação elétrica, interferência ou vibração.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Ruído não deve ser confundido automaticamente com evento real.</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Filtros e validações ajudam a reduzir falsas interpretações.</a:t>
            </a:r>
            <a:endParaRPr lang="en-US" sz="2400" dirty="0"/>
          </a:p>
        </p:txBody>
      </p:sp>
      <p:sp>
        <p:nvSpPr>
          <p:cNvPr id="7" name="Text 5">
            <a:hlinkClick r:id="rId3" tooltip="https://www.ni.com/en/shop/data-acquisition/measurement-fundamentals/analog-fundamentals/analog-sample-quality--accuracy--sensitivity--precision--and-noi.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www.ni.com/en/shop/data-acquisition/measurement-fundamentals/analog-fundamentals/analog-sample-quality--accuracy--sensitivity--precision--and-noi.html">
                  <a:extLst>
                    <a:ext uri="{A12FA001-AC4F-418D-AE19-62706E023703}">
                      <ahyp:hlinkClr xmlns:ahyp="http://schemas.microsoft.com/office/drawing/2018/hyperlinkcolor" val="tx"/>
                    </a:ext>
                  </a:extLst>
                </a:hlinkClick>
              </a:rPr>
              <a:t>Link: NI — qualidade de amostras analógicas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Série com oscilação</a:t>
            </a:r>
            <a:endParaRPr lang="en-US" sz="1300" dirty="0"/>
          </a:p>
        </p:txBody>
      </p:sp>
      <p:sp>
        <p:nvSpPr>
          <p:cNvPr id="9" name="Text 7"/>
          <p:cNvSpPr/>
          <p:nvPr/>
        </p:nvSpPr>
        <p:spPr>
          <a:xfrm>
            <a:off x="8046720" y="1965960"/>
            <a:ext cx="3566160" cy="960120"/>
          </a:xfrm>
          <a:prstGeom prst="rect">
            <a:avLst/>
          </a:prstGeom>
          <a:solidFill>
            <a:srgbClr val="FFFFFF"/>
          </a:solidFill>
          <a:ln w="12700">
            <a:solidFill>
              <a:srgbClr val="CBD5E1"/>
            </a:solidFill>
          </a:ln>
        </p:spPr>
        <p:txBody>
          <a:bodyPr wrap="square" lIns="508" tIns="508" rIns="508" bIns="508" rtlCol="0" anchor="ctr">
            <a:normAutofit/>
          </a:bodyPr>
          <a:lstStyle/>
          <a:p>
            <a:pPr marL="0" indent="0" algn="ctr">
              <a:buNone/>
            </a:pPr>
            <a:r>
              <a:rPr lang="en-US" sz="3800" dirty="0">
                <a:solidFill>
                  <a:srgbClr val="F97316"/>
                </a:solidFill>
                <a:latin typeface="Aptos Display" pitchFamily="34" charset="0"/>
                <a:ea typeface="Aptos Display" pitchFamily="34" charset="-122"/>
                <a:cs typeface="Aptos Display" pitchFamily="34" charset="-120"/>
              </a:rPr>
              <a:t>▁▂▂▃▇▃▂▃▂</a:t>
            </a:r>
            <a:endParaRPr lang="en-US" sz="3800" dirty="0"/>
          </a:p>
        </p:txBody>
      </p:sp>
      <p:sp>
        <p:nvSpPr>
          <p:cNvPr id="10" name="Text 8"/>
          <p:cNvSpPr/>
          <p:nvPr/>
        </p:nvSpPr>
        <p:spPr>
          <a:xfrm>
            <a:off x="8366760" y="3063240"/>
            <a:ext cx="2926080" cy="292608"/>
          </a:xfrm>
          <a:prstGeom prst="rect">
            <a:avLst/>
          </a:prstGeom>
          <a:solidFill>
            <a:srgbClr val="F8FAFC"/>
          </a:solidFill>
          <a:ln w="12700">
            <a:solidFill>
              <a:srgbClr val="E2E8F0"/>
            </a:solidFill>
          </a:ln>
        </p:spPr>
        <p:txBody>
          <a:bodyPr wrap="square" lIns="635" tIns="635" rIns="635" bIns="635" rtlCol="0" anchor="ctr">
            <a:normAutofit/>
          </a:bodyPr>
          <a:lstStyle/>
          <a:p>
            <a:pPr marL="0" indent="0" algn="ctr">
              <a:buNone/>
            </a:pPr>
            <a:r>
              <a:rPr lang="en-US" sz="1100" dirty="0">
                <a:solidFill>
                  <a:srgbClr val="64748B"/>
                </a:solidFill>
                <a:latin typeface="Aptos" pitchFamily="34" charset="0"/>
                <a:ea typeface="Aptos" pitchFamily="34" charset="-122"/>
                <a:cs typeface="Aptos" pitchFamily="34" charset="-120"/>
              </a:rPr>
              <a:t>eixo do tempo →</a:t>
            </a:r>
            <a:endParaRPr lang="en-US" sz="1100" dirty="0"/>
          </a:p>
        </p:txBody>
      </p:sp>
      <p:sp>
        <p:nvSpPr>
          <p:cNvPr id="11" name="Text 9"/>
          <p:cNvSpPr/>
          <p:nvPr/>
        </p:nvSpPr>
        <p:spPr>
          <a:xfrm>
            <a:off x="8275320" y="3794760"/>
            <a:ext cx="3108960" cy="475488"/>
          </a:xfrm>
          <a:prstGeom prst="rect">
            <a:avLst/>
          </a:prstGeom>
          <a:solidFill>
            <a:srgbClr val="FFEDD5"/>
          </a:solidFill>
          <a:ln w="12700">
            <a:solidFill>
              <a:srgbClr val="FDBA74"/>
            </a:solidFill>
          </a:ln>
        </p:spPr>
        <p:txBody>
          <a:bodyPr wrap="square" lIns="635" tIns="635" rIns="635" bIns="635" rtlCol="0" anchor="ctr">
            <a:normAutofit/>
          </a:bodyPr>
          <a:lstStyle/>
          <a:p>
            <a:pPr marL="0" indent="0" algn="ctr">
              <a:buNone/>
            </a:pPr>
            <a:r>
              <a:rPr lang="en-US" sz="1300" b="1" dirty="0">
                <a:solidFill>
                  <a:srgbClr val="1E293B"/>
                </a:solidFill>
                <a:latin typeface="Aptos" pitchFamily="34" charset="0"/>
                <a:ea typeface="Aptos" pitchFamily="34" charset="-122"/>
                <a:cs typeface="Aptos" pitchFamily="34" charset="-120"/>
              </a:rPr>
              <a:t>pico/anomalia</a:t>
            </a:r>
            <a:endParaRPr lang="en-US" sz="1300" dirty="0"/>
          </a:p>
        </p:txBody>
      </p:sp>
      <p:sp>
        <p:nvSpPr>
          <p:cNvPr id="12" name="Text 10"/>
          <p:cNvSpPr/>
          <p:nvPr/>
        </p:nvSpPr>
        <p:spPr>
          <a:xfrm>
            <a:off x="8183880" y="4617720"/>
            <a:ext cx="3291840" cy="475488"/>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dirty="0">
                <a:solidFill>
                  <a:srgbClr val="1E293B"/>
                </a:solidFill>
                <a:latin typeface="Aptos" pitchFamily="34" charset="0"/>
                <a:ea typeface="Aptos" pitchFamily="34" charset="-122"/>
                <a:cs typeface="Aptos" pitchFamily="34" charset="-120"/>
              </a:rPr>
              <a:t>cada ponto depende do timestamp</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Dados brutos e dados tratados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15</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Quando processar antes de enviar</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Dado bruto é a leitura original coletada pelo dispositivo.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Dado tratado passa por filtro, média, conversão ou validação.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Tratar na borda reduz tráfego e melhora resposta local.</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Guardar dado bruto pode ser útil para auditoria e reprocessamento.</a:t>
            </a:r>
            <a:endParaRPr lang="en-US" sz="2400" dirty="0"/>
          </a:p>
        </p:txBody>
      </p:sp>
      <p:sp>
        <p:nvSpPr>
          <p:cNvPr id="7" name="Text 5">
            <a:hlinkClick r:id="rId3" tooltip="https://csrc.nist.gov/pubs/sp/500/325/fina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csrc.nist.gov/pubs/sp/500/325/final">
                  <a:extLst>
                    <a:ext uri="{A12FA001-AC4F-418D-AE19-62706E023703}">
                      <ahyp:hlinkClr xmlns:ahyp="http://schemas.microsoft.com/office/drawing/2018/hyperlinkcolor" val="tx"/>
                    </a:ext>
                  </a:extLst>
                </a:hlinkClick>
              </a:rPr>
              <a:t>Link: NIST SP 500-325 — Fog Computing</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Tratamento simples</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Text 10"/>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Bruto</a:t>
            </a:r>
            <a:endParaRPr lang="en-US" sz="1200" dirty="0"/>
          </a:p>
        </p:txBody>
      </p:sp>
      <p:sp>
        <p:nvSpPr>
          <p:cNvPr id="13" name="Text 11"/>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Filtro</a:t>
            </a:r>
            <a:endParaRPr lang="en-US" sz="1200" dirty="0"/>
          </a:p>
        </p:txBody>
      </p:sp>
      <p:sp>
        <p:nvSpPr>
          <p:cNvPr id="14" name="Text 12"/>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Média</a:t>
            </a:r>
            <a:endParaRPr lang="en-US" sz="1200" dirty="0"/>
          </a:p>
        </p:txBody>
      </p:sp>
      <p:sp>
        <p:nvSpPr>
          <p:cNvPr id="15" name="Text 13"/>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Valor validado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Timestamp: o carimbo de tempo</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16</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Tempo como eixo principal</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Timestamp informa quando a medição ocorreu.</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Em séries temporais, cada valor depende do tempo associado.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Relógios desalinhados podem criar leituras fora de ordem.</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Sincronização é importante para comparar sensores diferentes.</a:t>
            </a:r>
            <a:endParaRPr lang="en-US" sz="2400" dirty="0"/>
          </a:p>
        </p:txBody>
      </p:sp>
      <p:sp>
        <p:nvSpPr>
          <p:cNvPr id="7" name="Text 5">
            <a:hlinkClick r:id="rId3" tooltip="https://grafana.com/docs/grafana/latest/fundamentals/timeseries/"/>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grafana.com/docs/grafana/latest/fundamentals/timeseries/">
                  <a:extLst>
                    <a:ext uri="{A12FA001-AC4F-418D-AE19-62706E023703}">
                      <ahyp:hlinkClr xmlns:ahyp="http://schemas.microsoft.com/office/drawing/2018/hyperlinkcolor" val="tx"/>
                    </a:ext>
                  </a:extLst>
                </a:hlinkClick>
              </a:rPr>
              <a:t>Link: Grafana — introdução a séries temporais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Registro temporal</a:t>
            </a:r>
            <a:endParaRPr lang="en-US" sz="1300" dirty="0"/>
          </a:p>
        </p:txBody>
      </p:sp>
      <p:sp>
        <p:nvSpPr>
          <p:cNvPr id="9" name="Text 7"/>
          <p:cNvSpPr/>
          <p:nvPr/>
        </p:nvSpPr>
        <p:spPr>
          <a:xfrm>
            <a:off x="8001000" y="1572768"/>
            <a:ext cx="3611880" cy="3429000"/>
          </a:xfrm>
          <a:prstGeom prst="rect">
            <a:avLst/>
          </a:prstGeom>
          <a:solidFill>
            <a:srgbClr val="F8FAFC"/>
          </a:solidFill>
          <a:ln w="12700">
            <a:solidFill>
              <a:srgbClr val="CBD5E1"/>
            </a:solidFill>
          </a:ln>
        </p:spPr>
        <p:txBody>
          <a:bodyPr wrap="square" lIns="1778" tIns="1778" rIns="1778" bIns="1778" rtlCol="0" anchor="ctr">
            <a:normAutofit/>
          </a:bodyPr>
          <a:lstStyle/>
          <a:p>
            <a:pPr marL="0" indent="0">
              <a:buNone/>
            </a:pPr>
            <a:r>
              <a:rPr lang="en-US" sz="1150" dirty="0">
                <a:solidFill>
                  <a:srgbClr val="0F172A"/>
                </a:solidFill>
                <a:latin typeface="Consolas" pitchFamily="34" charset="0"/>
                <a:ea typeface="Consolas" pitchFamily="34" charset="-122"/>
                <a:cs typeface="Consolas" pitchFamily="34" charset="-120"/>
              </a:rPr>
              <a:t>tempo, sensor, valor</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10:00:01, temp_01, 26.8</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10:00:02, temp_01, 26.9</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10:00:03, temp_01, 27.0</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10:00:04, temp_01, 27.1</a:t>
            </a:r>
            <a:endParaRPr lang="en-US" sz="1150" dirty="0"/>
          </a:p>
        </p:txBody>
      </p:sp>
      <p:sp>
        <p:nvSpPr>
          <p:cNvPr id="10" name="Text 8"/>
          <p:cNvSpPr/>
          <p:nvPr/>
        </p:nvSpPr>
        <p:spPr>
          <a:xfrm>
            <a:off x="8183880" y="5175504"/>
            <a:ext cx="3246120" cy="41148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Campos + contexto + tempo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Telemetria, eventos e comandos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17</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Três tipos de mensagens comuns</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Telemetria: envio regular de medições.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Evento: mensagem gerada por mudança relevante ou exceção.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Comando: instrução enviada ao dispositivo ou atuador.</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Misturar esses tipos sem padrão dificulta manutenção do sistema.</a:t>
            </a:r>
            <a:endParaRPr lang="en-US" sz="2400" dirty="0"/>
          </a:p>
        </p:txBody>
      </p:sp>
      <p:sp>
        <p:nvSpPr>
          <p:cNvPr id="7" name="Text 5">
            <a:hlinkClick r:id="rId3" tooltip="https://docs.oasis-open.org/mqtt/mqtt/v5.0/mqtt-v5.0.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docs.oasis-open.org/mqtt/mqtt/v5.0/mqtt-v5.0.html">
                  <a:extLst>
                    <a:ext uri="{A12FA001-AC4F-418D-AE19-62706E023703}">
                      <ahyp:hlinkClr xmlns:ahyp="http://schemas.microsoft.com/office/drawing/2018/hyperlinkcolor" val="tx"/>
                    </a:ext>
                  </a:extLst>
                </a:hlinkClick>
              </a:rPr>
              <a:t>Link: OASIS — especificação MQTT 5.0</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Mensagens IoT</a:t>
            </a:r>
            <a:endParaRPr lang="en-US" sz="1300" dirty="0"/>
          </a:p>
        </p:txBody>
      </p:sp>
      <p:sp>
        <p:nvSpPr>
          <p:cNvPr id="9" name="Text 7"/>
          <p:cNvSpPr/>
          <p:nvPr/>
        </p:nvSpPr>
        <p:spPr>
          <a:xfrm>
            <a:off x="7909560" y="1554480"/>
            <a:ext cx="1783080" cy="393192"/>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Telemetria</a:t>
            </a:r>
            <a:endParaRPr lang="en-US" sz="1200" dirty="0"/>
          </a:p>
        </p:txBody>
      </p:sp>
      <p:sp>
        <p:nvSpPr>
          <p:cNvPr id="10" name="Text 8"/>
          <p:cNvSpPr/>
          <p:nvPr/>
        </p:nvSpPr>
        <p:spPr>
          <a:xfrm>
            <a:off x="9893808" y="1554480"/>
            <a:ext cx="1783080" cy="393192"/>
          </a:xfrm>
          <a:prstGeom prst="rect">
            <a:avLst/>
          </a:prstGeom>
          <a:solidFill>
            <a:srgbClr val="FFEDD5"/>
          </a:solidFill>
          <a:ln w="12700">
            <a:solidFill>
              <a:srgbClr val="FDBA7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Evento</a:t>
            </a:r>
            <a:endParaRPr lang="en-US" sz="1200" dirty="0"/>
          </a:p>
        </p:txBody>
      </p:sp>
      <p:sp>
        <p:nvSpPr>
          <p:cNvPr id="11" name="Text 9"/>
          <p:cNvSpPr/>
          <p:nvPr/>
        </p:nvSpPr>
        <p:spPr>
          <a:xfrm>
            <a:off x="7955280" y="2057400"/>
            <a:ext cx="1691640" cy="2926080"/>
          </a:xfrm>
          <a:prstGeom prst="rect">
            <a:avLst/>
          </a:prstGeom>
          <a:noFill/>
          <a:ln/>
        </p:spPr>
        <p:txBody>
          <a:bodyPr wrap="square" lIns="381" tIns="381" rIns="381" bIns="381" rtlCol="0" anchor="ctr">
            <a:normAutofit/>
          </a:bodyPr>
          <a:lstStyle/>
          <a:p>
            <a:pPr marL="0" indent="0">
              <a:buNone/>
            </a:pPr>
            <a:r>
              <a:rPr lang="en-US" sz="1150" dirty="0">
                <a:solidFill>
                  <a:srgbClr val="1E293B"/>
                </a:solidFill>
                <a:latin typeface="Aptos" pitchFamily="34" charset="0"/>
                <a:ea typeface="Aptos" pitchFamily="34" charset="-122"/>
                <a:cs typeface="Aptos" pitchFamily="34" charset="-120"/>
              </a:rPr>
              <a:t>• periódica</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medição</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histórico</a:t>
            </a:r>
            <a:endParaRPr lang="en-US" sz="1150" dirty="0"/>
          </a:p>
        </p:txBody>
      </p:sp>
      <p:sp>
        <p:nvSpPr>
          <p:cNvPr id="12" name="Text 10"/>
          <p:cNvSpPr/>
          <p:nvPr/>
        </p:nvSpPr>
        <p:spPr>
          <a:xfrm>
            <a:off x="9939528" y="2057400"/>
            <a:ext cx="1691640" cy="2926080"/>
          </a:xfrm>
          <a:prstGeom prst="rect">
            <a:avLst/>
          </a:prstGeom>
          <a:noFill/>
          <a:ln/>
        </p:spPr>
        <p:txBody>
          <a:bodyPr wrap="square" lIns="381" tIns="381" rIns="381" bIns="381" rtlCol="0" anchor="ctr">
            <a:normAutofit/>
          </a:bodyPr>
          <a:lstStyle/>
          <a:p>
            <a:pPr marL="0" indent="0">
              <a:buNone/>
            </a:pPr>
            <a:r>
              <a:rPr lang="en-US" sz="1150" dirty="0">
                <a:solidFill>
                  <a:srgbClr val="1E293B"/>
                </a:solidFill>
                <a:latin typeface="Aptos" pitchFamily="34" charset="0"/>
                <a:ea typeface="Aptos" pitchFamily="34" charset="-122"/>
                <a:cs typeface="Aptos" pitchFamily="34" charset="-120"/>
              </a:rPr>
              <a:t>• mudança</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alerta</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prioridade</a:t>
            </a:r>
            <a:endParaRPr lang="en-US" sz="1150" dirty="0"/>
          </a:p>
        </p:txBody>
      </p:sp>
      <p:sp>
        <p:nvSpPr>
          <p:cNvPr id="13" name="Shape 11"/>
          <p:cNvSpPr/>
          <p:nvPr/>
        </p:nvSpPr>
        <p:spPr>
          <a:xfrm>
            <a:off x="9765792" y="1554480"/>
            <a:ext cx="0" cy="3566160"/>
          </a:xfrm>
          <a:prstGeom prst="line">
            <a:avLst/>
          </a:prstGeom>
          <a:noFill/>
          <a:ln w="10160">
            <a:solidFill>
              <a:srgbClr val="94A3B8"/>
            </a:solidFill>
            <a:prstDash val="solid"/>
          </a:ln>
        </p:spPr>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Payload e metadados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18</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Mensagem bem formada</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Payload é o conteúdo principal da mensagem.</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Metadados descrevem o dado: origem, unidade, qualidade e versão.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Metadados ajudam a interpretar dados em sistemas distribuídos.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Sem metadados, o consumidor pode interpretar a leitura de forma errada.</a:t>
            </a:r>
            <a:endParaRPr lang="en-US" sz="2400" dirty="0"/>
          </a:p>
        </p:txBody>
      </p:sp>
      <p:sp>
        <p:nvSpPr>
          <p:cNvPr id="7" name="Text 5">
            <a:hlinkClick r:id="rId3" tooltip="https://www.w3.org/TR/wot-architecture11/"/>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www.w3.org/TR/wot-architecture11/">
                  <a:extLst>
                    <a:ext uri="{A12FA001-AC4F-418D-AE19-62706E023703}">
                      <ahyp:hlinkClr xmlns:ahyp="http://schemas.microsoft.com/office/drawing/2018/hyperlinkcolor" val="tx"/>
                    </a:ext>
                  </a:extLst>
                </a:hlinkClick>
              </a:rPr>
              <a:t>Link: W3C WoT Architecture 1.1</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Payload + metadados</a:t>
            </a:r>
            <a:endParaRPr lang="en-US" sz="1300" dirty="0"/>
          </a:p>
        </p:txBody>
      </p:sp>
      <p:sp>
        <p:nvSpPr>
          <p:cNvPr id="9" name="Text 7"/>
          <p:cNvSpPr/>
          <p:nvPr/>
        </p:nvSpPr>
        <p:spPr>
          <a:xfrm>
            <a:off x="8001000" y="1572768"/>
            <a:ext cx="3611880" cy="3429000"/>
          </a:xfrm>
          <a:prstGeom prst="rect">
            <a:avLst/>
          </a:prstGeom>
          <a:solidFill>
            <a:srgbClr val="F8FAFC"/>
          </a:solidFill>
          <a:ln w="12700">
            <a:solidFill>
              <a:srgbClr val="CBD5E1"/>
            </a:solidFill>
          </a:ln>
        </p:spPr>
        <p:txBody>
          <a:bodyPr wrap="square" lIns="1778" tIns="1778" rIns="1778" bIns="1778" rtlCol="0" anchor="ctr">
            <a:normAutofit/>
          </a:bodyPr>
          <a:lstStyle/>
          <a:p>
            <a:pPr marL="0" indent="0">
              <a:buNone/>
            </a:pPr>
            <a:r>
              <a:rPr lang="en-US" sz="1150" dirty="0">
                <a:solidFill>
                  <a:srgbClr val="0F172A"/>
                </a:solidFill>
                <a:latin typeface="Consolas" pitchFamily="34" charset="0"/>
                <a:ea typeface="Consolas" pitchFamily="34" charset="-122"/>
                <a:cs typeface="Consolas" pitchFamily="34" charset="-120"/>
              </a:rPr>
              <a:t>{</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"deviceId":"sala-204",</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"metric":"co2",</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"value":880,</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"unit":"ppm",</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"quality":"ok"</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a:t>
            </a:r>
            <a:endParaRPr lang="en-US" sz="1150" dirty="0"/>
          </a:p>
        </p:txBody>
      </p:sp>
      <p:sp>
        <p:nvSpPr>
          <p:cNvPr id="10" name="Text 8"/>
          <p:cNvSpPr/>
          <p:nvPr/>
        </p:nvSpPr>
        <p:spPr>
          <a:xfrm>
            <a:off x="8183880" y="5175504"/>
            <a:ext cx="3246120" cy="41148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Campos + contexto + tempo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Formatos de dados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19</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JSON, CSV e binário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JSON é legível e comum em APIs e mensagens IoT.</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CSV é simples para tabelas e registros históricos.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Binário é compacto, mas menos legível para humanos.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 escolha depende de rede, consumo, processamento e integração.</a:t>
            </a:r>
            <a:endParaRPr lang="en-US" sz="2400" dirty="0"/>
          </a:p>
        </p:txBody>
      </p:sp>
      <p:sp>
        <p:nvSpPr>
          <p:cNvPr id="7" name="Text 5">
            <a:hlinkClick r:id="rId3" tooltip="https://datatracker.ietf.org/doc/html/rfc8259"/>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datatracker.ietf.org/doc/html/rfc8259">
                  <a:extLst>
                    <a:ext uri="{A12FA001-AC4F-418D-AE19-62706E023703}">
                      <ahyp:hlinkClr xmlns:ahyp="http://schemas.microsoft.com/office/drawing/2018/hyperlinkcolor" val="tx"/>
                    </a:ext>
                  </a:extLst>
                </a:hlinkClick>
              </a:rPr>
              <a:t>Link: IETF RFC 8259 — JSON</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Formato de mensagem</a:t>
            </a:r>
            <a:endParaRPr lang="en-US" sz="1300" dirty="0"/>
          </a:p>
        </p:txBody>
      </p:sp>
      <p:sp>
        <p:nvSpPr>
          <p:cNvPr id="9" name="Text 7"/>
          <p:cNvSpPr/>
          <p:nvPr/>
        </p:nvSpPr>
        <p:spPr>
          <a:xfrm>
            <a:off x="7909560" y="1554480"/>
            <a:ext cx="1783080" cy="393192"/>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JSON/CSV</a:t>
            </a:r>
            <a:endParaRPr lang="en-US" sz="1200" dirty="0"/>
          </a:p>
        </p:txBody>
      </p:sp>
      <p:sp>
        <p:nvSpPr>
          <p:cNvPr id="10" name="Text 8"/>
          <p:cNvSpPr/>
          <p:nvPr/>
        </p:nvSpPr>
        <p:spPr>
          <a:xfrm>
            <a:off x="9893808" y="1554480"/>
            <a:ext cx="1783080" cy="393192"/>
          </a:xfrm>
          <a:prstGeom prst="rect">
            <a:avLst/>
          </a:prstGeom>
          <a:solidFill>
            <a:srgbClr val="FFEDD5"/>
          </a:solidFill>
          <a:ln w="12700">
            <a:solidFill>
              <a:srgbClr val="FDBA7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Binário</a:t>
            </a:r>
            <a:endParaRPr lang="en-US" sz="1200" dirty="0"/>
          </a:p>
        </p:txBody>
      </p:sp>
      <p:sp>
        <p:nvSpPr>
          <p:cNvPr id="11" name="Text 9"/>
          <p:cNvSpPr/>
          <p:nvPr/>
        </p:nvSpPr>
        <p:spPr>
          <a:xfrm>
            <a:off x="7955280" y="2057400"/>
            <a:ext cx="1691640" cy="2926080"/>
          </a:xfrm>
          <a:prstGeom prst="rect">
            <a:avLst/>
          </a:prstGeom>
          <a:noFill/>
          <a:ln/>
        </p:spPr>
        <p:txBody>
          <a:bodyPr wrap="square" lIns="381" tIns="381" rIns="381" bIns="381" rtlCol="0" anchor="ctr">
            <a:normAutofit/>
          </a:bodyPr>
          <a:lstStyle/>
          <a:p>
            <a:pPr marL="0" indent="0">
              <a:buNone/>
            </a:pPr>
            <a:r>
              <a:rPr lang="en-US" sz="1150" dirty="0">
                <a:solidFill>
                  <a:srgbClr val="1E293B"/>
                </a:solidFill>
                <a:latin typeface="Aptos" pitchFamily="34" charset="0"/>
                <a:ea typeface="Aptos" pitchFamily="34" charset="-122"/>
                <a:cs typeface="Aptos" pitchFamily="34" charset="-120"/>
              </a:rPr>
              <a:t>• legível</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fácil depurar</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maior tamanho</a:t>
            </a:r>
            <a:endParaRPr lang="en-US" sz="1150" dirty="0"/>
          </a:p>
        </p:txBody>
      </p:sp>
      <p:sp>
        <p:nvSpPr>
          <p:cNvPr id="12" name="Text 10"/>
          <p:cNvSpPr/>
          <p:nvPr/>
        </p:nvSpPr>
        <p:spPr>
          <a:xfrm>
            <a:off x="9939528" y="2057400"/>
            <a:ext cx="1691640" cy="2926080"/>
          </a:xfrm>
          <a:prstGeom prst="rect">
            <a:avLst/>
          </a:prstGeom>
          <a:noFill/>
          <a:ln/>
        </p:spPr>
        <p:txBody>
          <a:bodyPr wrap="square" lIns="381" tIns="381" rIns="381" bIns="381" rtlCol="0" anchor="ctr">
            <a:normAutofit/>
          </a:bodyPr>
          <a:lstStyle/>
          <a:p>
            <a:pPr marL="0" indent="0">
              <a:buNone/>
            </a:pPr>
            <a:r>
              <a:rPr lang="en-US" sz="1150" dirty="0">
                <a:solidFill>
                  <a:srgbClr val="1E293B"/>
                </a:solidFill>
                <a:latin typeface="Aptos" pitchFamily="34" charset="0"/>
                <a:ea typeface="Aptos" pitchFamily="34" charset="-122"/>
                <a:cs typeface="Aptos" pitchFamily="34" charset="-120"/>
              </a:rPr>
              <a:t>• compacto</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eficiente</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exige decodificação</a:t>
            </a:r>
            <a:endParaRPr lang="en-US" sz="1150" dirty="0"/>
          </a:p>
        </p:txBody>
      </p:sp>
      <p:sp>
        <p:nvSpPr>
          <p:cNvPr id="13" name="Shape 11"/>
          <p:cNvSpPr/>
          <p:nvPr/>
        </p:nvSpPr>
        <p:spPr>
          <a:xfrm>
            <a:off x="9765792" y="1554480"/>
            <a:ext cx="0" cy="3566160"/>
          </a:xfrm>
          <a:prstGeom prst="line">
            <a:avLst/>
          </a:prstGeom>
          <a:noFill/>
          <a:ln w="10160">
            <a:solidFill>
              <a:srgbClr val="94A3B8"/>
            </a:solidFill>
            <a:prstDash val="solid"/>
          </a:ln>
        </p:spPr>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Protocolo e transporte</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20</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Como os dados viajam</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Protocolo define regras de comunicação entre sistemas.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MQTT usa publicação e assinatura por tópicos.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HTTP é comum em APIs web e integrações simples.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CoAP foi projetado para ambientes restritos e baixo overhead.</a:t>
            </a:r>
            <a:endParaRPr lang="en-US" sz="2400" dirty="0"/>
          </a:p>
        </p:txBody>
      </p:sp>
      <p:sp>
        <p:nvSpPr>
          <p:cNvPr id="7" name="Text 5">
            <a:hlinkClick r:id="rId3" tooltip="https://datatracker.ietf.org/doc/html/rfc7252"/>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datatracker.ietf.org/doc/html/rfc7252">
                  <a:extLst>
                    <a:ext uri="{A12FA001-AC4F-418D-AE19-62706E023703}">
                      <ahyp:hlinkClr xmlns:ahyp="http://schemas.microsoft.com/office/drawing/2018/hyperlinkcolor" val="tx"/>
                    </a:ext>
                  </a:extLst>
                </a:hlinkClick>
              </a:rPr>
              <a:t>Link: IETF RFC 7252 — CoAP</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Camadas de comunicação</a:t>
            </a:r>
            <a:endParaRPr lang="en-US" sz="1300" dirty="0"/>
          </a:p>
        </p:txBody>
      </p:sp>
      <p:sp>
        <p:nvSpPr>
          <p:cNvPr id="9" name="Text 7"/>
          <p:cNvSpPr/>
          <p:nvPr/>
        </p:nvSpPr>
        <p:spPr>
          <a:xfrm>
            <a:off x="8046720" y="1627632"/>
            <a:ext cx="3474720" cy="45720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Mensagem</a:t>
            </a:r>
            <a:endParaRPr lang="en-US" sz="1240" dirty="0"/>
          </a:p>
        </p:txBody>
      </p:sp>
      <p:sp>
        <p:nvSpPr>
          <p:cNvPr id="10" name="Text 8"/>
          <p:cNvSpPr/>
          <p:nvPr/>
        </p:nvSpPr>
        <p:spPr>
          <a:xfrm>
            <a:off x="8046720" y="2212848"/>
            <a:ext cx="3474720" cy="457200"/>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Rede</a:t>
            </a:r>
            <a:endParaRPr lang="en-US" sz="1240" dirty="0"/>
          </a:p>
        </p:txBody>
      </p:sp>
      <p:sp>
        <p:nvSpPr>
          <p:cNvPr id="11" name="Text 9"/>
          <p:cNvSpPr/>
          <p:nvPr/>
        </p:nvSpPr>
        <p:spPr>
          <a:xfrm>
            <a:off x="8046720" y="2798064"/>
            <a:ext cx="3474720" cy="45720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Protocolo</a:t>
            </a:r>
            <a:endParaRPr lang="en-US" sz="1240" dirty="0"/>
          </a:p>
        </p:txBody>
      </p:sp>
      <p:sp>
        <p:nvSpPr>
          <p:cNvPr id="12" name="Text 10"/>
          <p:cNvSpPr/>
          <p:nvPr/>
        </p:nvSpPr>
        <p:spPr>
          <a:xfrm>
            <a:off x="8046720" y="3383280"/>
            <a:ext cx="3474720" cy="457200"/>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Aplicação</a:t>
            </a:r>
            <a:endParaRPr lang="en-US" sz="124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Buffering e filas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21</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Quando a rede falha ou atrasa</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Buffer é uma área temporária para armazenar dados antes do envio.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Fila organiza mensagens aguardando processamento ou transmissão.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Esses mecanismos evitam perda em conexões instáveis.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Também podem aumentar latência se acumularem mensagens demais.</a:t>
            </a:r>
            <a:endParaRPr lang="en-US" sz="2400" dirty="0"/>
          </a:p>
        </p:txBody>
      </p:sp>
      <p:sp>
        <p:nvSpPr>
          <p:cNvPr id="7" name="Text 5">
            <a:hlinkClick r:id="rId3" tooltip="https://docs.oasis-open.org/mqtt/mqtt/v5.0/mqtt-v5.0.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docs.oasis-open.org/mqtt/mqtt/v5.0/mqtt-v5.0.html">
                  <a:extLst>
                    <a:ext uri="{A12FA001-AC4F-418D-AE19-62706E023703}">
                      <ahyp:hlinkClr xmlns:ahyp="http://schemas.microsoft.com/office/drawing/2018/hyperlinkcolor" val="tx"/>
                    </a:ext>
                  </a:extLst>
                </a:hlinkClick>
              </a:rPr>
              <a:t>Link: OASIS — especificação MQTT 5.0</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Proteção contra falhas</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Text 10"/>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Leitura</a:t>
            </a:r>
            <a:endParaRPr lang="en-US" sz="1200" dirty="0"/>
          </a:p>
        </p:txBody>
      </p:sp>
      <p:sp>
        <p:nvSpPr>
          <p:cNvPr id="13" name="Text 11"/>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Buffer local</a:t>
            </a:r>
            <a:endParaRPr lang="en-US" sz="1200" dirty="0"/>
          </a:p>
        </p:txBody>
      </p:sp>
      <p:sp>
        <p:nvSpPr>
          <p:cNvPr id="14" name="Text 12"/>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Fila</a:t>
            </a:r>
            <a:endParaRPr lang="en-US" sz="1200" dirty="0"/>
          </a:p>
        </p:txBody>
      </p:sp>
      <p:sp>
        <p:nvSpPr>
          <p:cNvPr id="15" name="Text 13"/>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Envio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Processamento na borda</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22</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Edge computing em sensores</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Borda é o processamento próximo ao dispositivo ou gateway.</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Pode filtrar ruído, calcular médias e detectar eventos locais.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Reduz volume enviado à nuvem e pode diminuir latência.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É útil quando decisões precisam ser rápidas ou a rede é limitada.</a:t>
            </a:r>
            <a:endParaRPr lang="en-US" sz="2400" dirty="0"/>
          </a:p>
        </p:txBody>
      </p:sp>
      <p:sp>
        <p:nvSpPr>
          <p:cNvPr id="7" name="Text 5">
            <a:hlinkClick r:id="rId3" tooltip="https://csrc.nist.gov/pubs/sp/500/325/fina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csrc.nist.gov/pubs/sp/500/325/final">
                  <a:extLst>
                    <a:ext uri="{A12FA001-AC4F-418D-AE19-62706E023703}">
                      <ahyp:hlinkClr xmlns:ahyp="http://schemas.microsoft.com/office/drawing/2018/hyperlinkcolor" val="tx"/>
                    </a:ext>
                  </a:extLst>
                </a:hlinkClick>
              </a:rPr>
              <a:t>Link: NIST SP 500-325 — Fog Computing</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Onde processar?</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Text 10"/>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Sensor</a:t>
            </a:r>
            <a:endParaRPr lang="en-US" sz="1200" dirty="0"/>
          </a:p>
        </p:txBody>
      </p:sp>
      <p:sp>
        <p:nvSpPr>
          <p:cNvPr id="13" name="Text 11"/>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Borda</a:t>
            </a:r>
            <a:endParaRPr lang="en-US" sz="1200" dirty="0"/>
          </a:p>
        </p:txBody>
      </p:sp>
      <p:sp>
        <p:nvSpPr>
          <p:cNvPr id="14" name="Text 12"/>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Nuvem</a:t>
            </a:r>
            <a:endParaRPr lang="en-US" sz="1200" dirty="0"/>
          </a:p>
        </p:txBody>
      </p:sp>
      <p:sp>
        <p:nvSpPr>
          <p:cNvPr id="15" name="Text 13"/>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Aplicação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Agregação e janelas temporais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23</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Resumir para entender</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Agregação combina várias leituras em um indicador.</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Exemplos: média, máximo, mínimo, soma e contagem.</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Janela temporal define o intervalo usado no cálculo.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Exemplo: média de temperatura a cada 5 minutos.</a:t>
            </a:r>
            <a:endParaRPr lang="en-US" sz="2400" dirty="0"/>
          </a:p>
        </p:txBody>
      </p:sp>
      <p:sp>
        <p:nvSpPr>
          <p:cNvPr id="7" name="Text 5">
            <a:hlinkClick r:id="rId3" tooltip="https://grafana.com/docs/grafana/latest/fundamentals/timeseries/"/>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grafana.com/docs/grafana/latest/fundamentals/timeseries/">
                  <a:extLst>
                    <a:ext uri="{A12FA001-AC4F-418D-AE19-62706E023703}">
                      <ahyp:hlinkClr xmlns:ahyp="http://schemas.microsoft.com/office/drawing/2018/hyperlinkcolor" val="tx"/>
                    </a:ext>
                  </a:extLst>
                </a:hlinkClick>
              </a:rPr>
              <a:t>Link: Grafana — introdução a séries temporais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Redução controlada</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Text 10"/>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Leituras 1s</a:t>
            </a:r>
            <a:endParaRPr lang="en-US" sz="1200" dirty="0"/>
          </a:p>
        </p:txBody>
      </p:sp>
      <p:sp>
        <p:nvSpPr>
          <p:cNvPr id="13" name="Text 11"/>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Janela 5min</a:t>
            </a:r>
            <a:endParaRPr lang="en-US" sz="1200" dirty="0"/>
          </a:p>
        </p:txBody>
      </p:sp>
      <p:sp>
        <p:nvSpPr>
          <p:cNvPr id="14" name="Text 12"/>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Média</a:t>
            </a:r>
            <a:endParaRPr lang="en-US" sz="1200" dirty="0"/>
          </a:p>
        </p:txBody>
      </p:sp>
      <p:sp>
        <p:nvSpPr>
          <p:cNvPr id="15" name="Text 13"/>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Dashboard</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Bancos de séries temporais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24</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Armazenar dados indexados pelo tempo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Séries temporais são dados organizados por timestamp.</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Bancos TSDB são otimizados para escrita frequente e consultas por intervalo.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Tags identificam contexto como sensor, local e equipamento.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Consultas comuns buscam tendência, pico, média e anomalia.</a:t>
            </a:r>
            <a:endParaRPr lang="en-US" sz="2400" dirty="0"/>
          </a:p>
        </p:txBody>
      </p:sp>
      <p:sp>
        <p:nvSpPr>
          <p:cNvPr id="7" name="Text 5">
            <a:hlinkClick r:id="rId3" tooltip="https://docs.influxdata.com/influxdb/v1/concepts/key_concepts/"/>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docs.influxdata.com/influxdb/v1/concepts/key_concepts/">
                  <a:extLst>
                    <a:ext uri="{A12FA001-AC4F-418D-AE19-62706E023703}">
                      <ahyp:hlinkClr xmlns:ahyp="http://schemas.microsoft.com/office/drawing/2018/hyperlinkcolor" val="tx"/>
                    </a:ext>
                  </a:extLst>
                </a:hlinkClick>
              </a:rPr>
              <a:t>Link: InfluxDB — conceitos de séries temporais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Modelo de série temporal</a:t>
            </a:r>
            <a:endParaRPr lang="en-US" sz="1300" dirty="0"/>
          </a:p>
        </p:txBody>
      </p:sp>
      <p:sp>
        <p:nvSpPr>
          <p:cNvPr id="9" name="Text 7"/>
          <p:cNvSpPr/>
          <p:nvPr/>
        </p:nvSpPr>
        <p:spPr>
          <a:xfrm>
            <a:off x="8001000" y="1572768"/>
            <a:ext cx="3611880" cy="3429000"/>
          </a:xfrm>
          <a:prstGeom prst="rect">
            <a:avLst/>
          </a:prstGeom>
          <a:solidFill>
            <a:srgbClr val="F8FAFC"/>
          </a:solidFill>
          <a:ln w="12700">
            <a:solidFill>
              <a:srgbClr val="CBD5E1"/>
            </a:solidFill>
          </a:ln>
        </p:spPr>
        <p:txBody>
          <a:bodyPr wrap="square" lIns="1778" tIns="1778" rIns="1778" bIns="1778" rtlCol="0" anchor="ctr">
            <a:normAutofit/>
          </a:bodyPr>
          <a:lstStyle/>
          <a:p>
            <a:pPr marL="0" indent="0">
              <a:buNone/>
            </a:pPr>
            <a:r>
              <a:rPr lang="en-US" sz="1150" dirty="0">
                <a:solidFill>
                  <a:srgbClr val="0F172A"/>
                </a:solidFill>
                <a:latin typeface="Consolas" pitchFamily="34" charset="0"/>
                <a:ea typeface="Consolas" pitchFamily="34" charset="-122"/>
                <a:cs typeface="Consolas" pitchFamily="34" charset="-120"/>
              </a:rPr>
              <a:t>measurement: temperatura</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tags: sala=204, sensor=temp_01</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field: valor=28.4</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time: 2026-08-14T10:15:00Z</a:t>
            </a:r>
            <a:endParaRPr lang="en-US" sz="1150" dirty="0"/>
          </a:p>
          <a:p>
            <a:pPr marL="0" indent="0">
              <a:buNone/>
            </a:pP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Consulta: últimos 30 min</a:t>
            </a:r>
            <a:endParaRPr lang="en-US" sz="1150" dirty="0"/>
          </a:p>
        </p:txBody>
      </p:sp>
      <p:sp>
        <p:nvSpPr>
          <p:cNvPr id="10" name="Text 8"/>
          <p:cNvSpPr/>
          <p:nvPr/>
        </p:nvSpPr>
        <p:spPr>
          <a:xfrm>
            <a:off x="8183880" y="5175504"/>
            <a:ext cx="3246120" cy="41148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Campos + contexto + tempo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Visualização: dashboards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25</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Transformar números em compreensão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Dashboard apresenta dados em gráficos, tabelas e alertas.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Gráficos de linha ajudam a observar tendência ao longo do tempo.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Painéis devem destacar o que exige decisão.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Um bom painel evita excesso de indicadores irrelevantes.</a:t>
            </a:r>
            <a:endParaRPr lang="en-US" sz="2400" dirty="0"/>
          </a:p>
        </p:txBody>
      </p:sp>
      <p:sp>
        <p:nvSpPr>
          <p:cNvPr id="7" name="Text 5">
            <a:hlinkClick r:id="rId3" tooltip="https://grafana.com/docs/grafana/latest/visualizations/panels-visualizations/visualizations/time-series/"/>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grafana.com/docs/grafana/latest/visualizations/panels-visualizations/visualizations/time-series/">
                  <a:extLst>
                    <a:ext uri="{A12FA001-AC4F-418D-AE19-62706E023703}">
                      <ahyp:hlinkClr xmlns:ahyp="http://schemas.microsoft.com/office/drawing/2018/hyperlinkcolor" val="tx"/>
                    </a:ext>
                  </a:extLst>
                </a:hlinkClick>
              </a:rPr>
              <a:t>Link: Grafana — visualização de séries temporais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Linha temporal no painel</a:t>
            </a:r>
            <a:endParaRPr lang="en-US" sz="1300" dirty="0"/>
          </a:p>
        </p:txBody>
      </p:sp>
      <p:sp>
        <p:nvSpPr>
          <p:cNvPr id="9" name="Text 7"/>
          <p:cNvSpPr/>
          <p:nvPr/>
        </p:nvSpPr>
        <p:spPr>
          <a:xfrm>
            <a:off x="8046720" y="1965960"/>
            <a:ext cx="3566160" cy="960120"/>
          </a:xfrm>
          <a:prstGeom prst="rect">
            <a:avLst/>
          </a:prstGeom>
          <a:solidFill>
            <a:srgbClr val="FFFFFF"/>
          </a:solidFill>
          <a:ln w="12700">
            <a:solidFill>
              <a:srgbClr val="CBD5E1"/>
            </a:solidFill>
          </a:ln>
        </p:spPr>
        <p:txBody>
          <a:bodyPr wrap="square" lIns="508" tIns="508" rIns="508" bIns="508" rtlCol="0" anchor="ctr">
            <a:normAutofit/>
          </a:bodyPr>
          <a:lstStyle/>
          <a:p>
            <a:pPr marL="0" indent="0" algn="ctr">
              <a:buNone/>
            </a:pPr>
            <a:r>
              <a:rPr lang="en-US" sz="3800" dirty="0">
                <a:solidFill>
                  <a:srgbClr val="2563EB"/>
                </a:solidFill>
                <a:latin typeface="Aptos Display" pitchFamily="34" charset="0"/>
                <a:ea typeface="Aptos Display" pitchFamily="34" charset="-122"/>
                <a:cs typeface="Aptos Display" pitchFamily="34" charset="-120"/>
              </a:rPr>
              <a:t>▁▂▃▄▅▆▅▇▆</a:t>
            </a:r>
            <a:endParaRPr lang="en-US" sz="3800" dirty="0"/>
          </a:p>
        </p:txBody>
      </p:sp>
      <p:sp>
        <p:nvSpPr>
          <p:cNvPr id="10" name="Text 8"/>
          <p:cNvSpPr/>
          <p:nvPr/>
        </p:nvSpPr>
        <p:spPr>
          <a:xfrm>
            <a:off x="8366760" y="3063240"/>
            <a:ext cx="2926080" cy="292608"/>
          </a:xfrm>
          <a:prstGeom prst="rect">
            <a:avLst/>
          </a:prstGeom>
          <a:solidFill>
            <a:srgbClr val="F8FAFC"/>
          </a:solidFill>
          <a:ln w="12700">
            <a:solidFill>
              <a:srgbClr val="E2E8F0"/>
            </a:solidFill>
          </a:ln>
        </p:spPr>
        <p:txBody>
          <a:bodyPr wrap="square" lIns="635" tIns="635" rIns="635" bIns="635" rtlCol="0" anchor="ctr">
            <a:normAutofit/>
          </a:bodyPr>
          <a:lstStyle/>
          <a:p>
            <a:pPr marL="0" indent="0" algn="ctr">
              <a:buNone/>
            </a:pPr>
            <a:r>
              <a:rPr lang="en-US" sz="1100" dirty="0">
                <a:solidFill>
                  <a:srgbClr val="64748B"/>
                </a:solidFill>
                <a:latin typeface="Aptos" pitchFamily="34" charset="0"/>
                <a:ea typeface="Aptos" pitchFamily="34" charset="-122"/>
                <a:cs typeface="Aptos" pitchFamily="34" charset="-120"/>
              </a:rPr>
              <a:t>eixo do tempo →</a:t>
            </a:r>
            <a:endParaRPr lang="en-US" sz="1100" dirty="0"/>
          </a:p>
        </p:txBody>
      </p:sp>
      <p:sp>
        <p:nvSpPr>
          <p:cNvPr id="11" name="Text 9"/>
          <p:cNvSpPr/>
          <p:nvPr/>
        </p:nvSpPr>
        <p:spPr>
          <a:xfrm>
            <a:off x="8275320" y="3794760"/>
            <a:ext cx="3108960" cy="475488"/>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300" b="1" dirty="0">
                <a:solidFill>
                  <a:srgbClr val="1E293B"/>
                </a:solidFill>
                <a:latin typeface="Aptos" pitchFamily="34" charset="0"/>
                <a:ea typeface="Aptos" pitchFamily="34" charset="-122"/>
                <a:cs typeface="Aptos" pitchFamily="34" charset="-120"/>
              </a:rPr>
              <a:t>tendência da medição</a:t>
            </a:r>
            <a:endParaRPr lang="en-US" sz="1300" dirty="0"/>
          </a:p>
        </p:txBody>
      </p:sp>
      <p:sp>
        <p:nvSpPr>
          <p:cNvPr id="12" name="Text 10"/>
          <p:cNvSpPr/>
          <p:nvPr/>
        </p:nvSpPr>
        <p:spPr>
          <a:xfrm>
            <a:off x="8183880" y="4617720"/>
            <a:ext cx="3291840" cy="475488"/>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dirty="0">
                <a:solidFill>
                  <a:srgbClr val="1E293B"/>
                </a:solidFill>
                <a:latin typeface="Aptos" pitchFamily="34" charset="0"/>
                <a:ea typeface="Aptos" pitchFamily="34" charset="-122"/>
                <a:cs typeface="Aptos" pitchFamily="34" charset="-120"/>
              </a:rPr>
              <a:t>cada ponto depende do timestamp</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Qualidade dos dados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26</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Confiabilidade antes da análise</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Completude: faltam leituras?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Consistência: unidades e formatos são padronizados?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Validade: valores estão dentro de faixa aceitável?</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Atualidade: o dado chegou no tempo necessário para decisão?</a:t>
            </a:r>
            <a:endParaRPr lang="en-US" sz="2400" dirty="0"/>
          </a:p>
        </p:txBody>
      </p:sp>
      <p:sp>
        <p:nvSpPr>
          <p:cNvPr id="7" name="Text 5">
            <a:hlinkClick r:id="rId3" tooltip="https://grafana.com/docs/grafana/latest/fundamentals/timeseries/"/>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grafana.com/docs/grafana/latest/fundamentals/timeseries/">
                  <a:extLst>
                    <a:ext uri="{A12FA001-AC4F-418D-AE19-62706E023703}">
                      <ahyp:hlinkClr xmlns:ahyp="http://schemas.microsoft.com/office/drawing/2018/hyperlinkcolor" val="tx"/>
                    </a:ext>
                  </a:extLst>
                </a:hlinkClick>
              </a:rPr>
              <a:t>Link: Grafana — introdução a séries temporais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Critérios de qualidade</a:t>
            </a:r>
            <a:endParaRPr lang="en-US" sz="1300" dirty="0"/>
          </a:p>
        </p:txBody>
      </p:sp>
      <p:sp>
        <p:nvSpPr>
          <p:cNvPr id="9" name="Text 7"/>
          <p:cNvSpPr/>
          <p:nvPr/>
        </p:nvSpPr>
        <p:spPr>
          <a:xfrm>
            <a:off x="8046720" y="1627632"/>
            <a:ext cx="3520440" cy="4023360"/>
          </a:xfrm>
          <a:prstGeom prst="rect">
            <a:avLst/>
          </a:prstGeom>
          <a:solidFill>
            <a:srgbClr val="FFFFFF"/>
          </a:solidFill>
          <a:ln w="12700">
            <a:solidFill>
              <a:srgbClr val="CBD5E1"/>
            </a:solidFill>
          </a:ln>
        </p:spPr>
        <p:txBody>
          <a:bodyPr wrap="square" lIns="1524" tIns="1524" rIns="1524" bIns="1524" rtlCol="0" anchor="ctr">
            <a:normAutofit/>
          </a:bodyPr>
          <a:lstStyle/>
          <a:p>
            <a:pPr marL="0" indent="0">
              <a:buNone/>
            </a:pPr>
            <a:r>
              <a:rPr lang="en-US" sz="1320" dirty="0">
                <a:solidFill>
                  <a:srgbClr val="1E293B"/>
                </a:solidFill>
                <a:latin typeface="Aptos" pitchFamily="34" charset="0"/>
                <a:ea typeface="Aptos" pitchFamily="34" charset="-122"/>
                <a:cs typeface="Aptos" pitchFamily="34" charset="-120"/>
              </a:rPr>
              <a:t>✓ Completo</a:t>
            </a:r>
            <a:endParaRPr lang="en-US" sz="1320" dirty="0"/>
          </a:p>
          <a:p>
            <a:pPr marL="0" indent="0">
              <a:buNone/>
            </a:pPr>
            <a:r>
              <a:rPr lang="en-US" sz="1320" dirty="0">
                <a:solidFill>
                  <a:srgbClr val="1E293B"/>
                </a:solidFill>
                <a:latin typeface="Aptos" pitchFamily="34" charset="0"/>
                <a:ea typeface="Aptos" pitchFamily="34" charset="-122"/>
                <a:cs typeface="Aptos" pitchFamily="34" charset="-120"/>
              </a:rPr>
              <a:t>✓ Consistente</a:t>
            </a:r>
            <a:endParaRPr lang="en-US" sz="1320" dirty="0"/>
          </a:p>
          <a:p>
            <a:pPr marL="0" indent="0">
              <a:buNone/>
            </a:pPr>
            <a:r>
              <a:rPr lang="en-US" sz="1320" dirty="0">
                <a:solidFill>
                  <a:srgbClr val="1E293B"/>
                </a:solidFill>
                <a:latin typeface="Aptos" pitchFamily="34" charset="0"/>
                <a:ea typeface="Aptos" pitchFamily="34" charset="-122"/>
                <a:cs typeface="Aptos" pitchFamily="34" charset="-120"/>
              </a:rPr>
              <a:t>✓ Válido</a:t>
            </a:r>
            <a:endParaRPr lang="en-US" sz="1320" dirty="0"/>
          </a:p>
          <a:p>
            <a:pPr marL="0" indent="0">
              <a:buNone/>
            </a:pPr>
            <a:r>
              <a:rPr lang="en-US" sz="1320" dirty="0">
                <a:solidFill>
                  <a:srgbClr val="1E293B"/>
                </a:solidFill>
                <a:latin typeface="Aptos" pitchFamily="34" charset="0"/>
                <a:ea typeface="Aptos" pitchFamily="34" charset="-122"/>
                <a:cs typeface="Aptos" pitchFamily="34" charset="-120"/>
              </a:rPr>
              <a:t>✓ Atual</a:t>
            </a:r>
            <a:endParaRPr lang="en-US" sz="132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Volume, velocidade e variedade</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27</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Características clássicas dos dados IoT</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Volume: quantidade total de dados gerados.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Velocidade: ritmo de geração e chegada das mensagens.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Variedade: tipos, formatos e origens diferentes.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Essas características influenciam arquitetura, custo e desempenho.</a:t>
            </a:r>
            <a:endParaRPr lang="en-US" sz="2400" dirty="0"/>
          </a:p>
        </p:txBody>
      </p:sp>
      <p:sp>
        <p:nvSpPr>
          <p:cNvPr id="7" name="Text 5">
            <a:hlinkClick r:id="rId3" tooltip="https://csrc.nist.gov/pubs/sp/800/183/fina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csrc.nist.gov/pubs/sp/800/183/final">
                  <a:extLst>
                    <a:ext uri="{A12FA001-AC4F-418D-AE19-62706E023703}">
                      <ahyp:hlinkClr xmlns:ahyp="http://schemas.microsoft.com/office/drawing/2018/hyperlinkcolor" val="tx"/>
                    </a:ext>
                  </a:extLst>
                </a:hlinkClick>
              </a:rPr>
              <a:t>Link: NIST SP 800-183 — fundamentos de IoT</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3 características</a:t>
            </a:r>
            <a:endParaRPr lang="en-US" sz="1300" dirty="0"/>
          </a:p>
        </p:txBody>
      </p:sp>
      <p:sp>
        <p:nvSpPr>
          <p:cNvPr id="9" name="Text 7"/>
          <p:cNvSpPr/>
          <p:nvPr/>
        </p:nvSpPr>
        <p:spPr>
          <a:xfrm>
            <a:off x="8183880" y="1691640"/>
            <a:ext cx="1280160" cy="320040"/>
          </a:xfrm>
          <a:prstGeom prst="rect">
            <a:avLst/>
          </a:prstGeom>
          <a:solidFill>
            <a:srgbClr val="F8FAFC"/>
          </a:solidFill>
          <a:ln w="12700">
            <a:solidFill>
              <a:srgbClr val="CBD5E1"/>
            </a:solidFill>
          </a:ln>
        </p:spPr>
        <p:txBody>
          <a:bodyPr wrap="square" lIns="635" tIns="635" rIns="635" bIns="635" rtlCol="0" anchor="ctr">
            <a:normAutofit/>
          </a:bodyPr>
          <a:lstStyle/>
          <a:p>
            <a:pPr marL="0" indent="0" algn="ctr">
              <a:buNone/>
            </a:pPr>
            <a:r>
              <a:rPr lang="en-US" sz="1050" b="1" dirty="0">
                <a:solidFill>
                  <a:srgbClr val="1E293B"/>
                </a:solidFill>
                <a:latin typeface="Aptos" pitchFamily="34" charset="0"/>
                <a:ea typeface="Aptos" pitchFamily="34" charset="-122"/>
                <a:cs typeface="Aptos" pitchFamily="34" charset="-120"/>
              </a:rPr>
              <a:t>Volume</a:t>
            </a:r>
            <a:endParaRPr lang="en-US" sz="1050" dirty="0"/>
          </a:p>
        </p:txBody>
      </p:sp>
      <p:sp>
        <p:nvSpPr>
          <p:cNvPr id="10" name="Shape 8"/>
          <p:cNvSpPr/>
          <p:nvPr/>
        </p:nvSpPr>
        <p:spPr>
          <a:xfrm>
            <a:off x="9601200" y="1746504"/>
            <a:ext cx="1828800" cy="201168"/>
          </a:xfrm>
          <a:prstGeom prst="rect">
            <a:avLst/>
          </a:prstGeom>
          <a:solidFill>
            <a:srgbClr val="E2E8F0"/>
          </a:solidFill>
          <a:ln w="12700">
            <a:solidFill>
              <a:srgbClr val="E2E8F0"/>
            </a:solidFill>
            <a:prstDash val="solid"/>
          </a:ln>
        </p:spPr>
      </p:sp>
      <p:sp>
        <p:nvSpPr>
          <p:cNvPr id="11" name="Shape 9"/>
          <p:cNvSpPr/>
          <p:nvPr/>
        </p:nvSpPr>
        <p:spPr>
          <a:xfrm>
            <a:off x="9601200" y="1746504"/>
            <a:ext cx="1609344" cy="201168"/>
          </a:xfrm>
          <a:prstGeom prst="rect">
            <a:avLst/>
          </a:prstGeom>
          <a:solidFill>
            <a:srgbClr val="2563EB"/>
          </a:solidFill>
          <a:ln w="12700">
            <a:solidFill>
              <a:srgbClr val="2563EB"/>
            </a:solidFill>
            <a:prstDash val="solid"/>
          </a:ln>
        </p:spPr>
      </p:sp>
      <p:sp>
        <p:nvSpPr>
          <p:cNvPr id="12" name="Text 10"/>
          <p:cNvSpPr/>
          <p:nvPr/>
        </p:nvSpPr>
        <p:spPr>
          <a:xfrm>
            <a:off x="9601200" y="1993392"/>
            <a:ext cx="1828800" cy="201168"/>
          </a:xfrm>
          <a:prstGeom prst="rect">
            <a:avLst/>
          </a:prstGeom>
          <a:noFill/>
          <a:ln/>
        </p:spPr>
        <p:txBody>
          <a:bodyPr wrap="square" lIns="635" tIns="635" rIns="635" bIns="635" rtlCol="0" anchor="ctr">
            <a:normAutofit/>
          </a:bodyPr>
          <a:lstStyle/>
          <a:p>
            <a:pPr marL="0" indent="0" algn="ctr">
              <a:buNone/>
            </a:pPr>
            <a:r>
              <a:rPr lang="en-US" sz="850" dirty="0">
                <a:solidFill>
                  <a:srgbClr val="64748B"/>
                </a:solidFill>
                <a:latin typeface="Aptos" pitchFamily="34" charset="0"/>
                <a:ea typeface="Aptos" pitchFamily="34" charset="-122"/>
                <a:cs typeface="Aptos" pitchFamily="34" charset="-120"/>
              </a:rPr>
              <a:t>quantidade</a:t>
            </a:r>
            <a:endParaRPr lang="en-US" sz="850" dirty="0"/>
          </a:p>
        </p:txBody>
      </p:sp>
      <p:sp>
        <p:nvSpPr>
          <p:cNvPr id="13" name="Text 11"/>
          <p:cNvSpPr/>
          <p:nvPr/>
        </p:nvSpPr>
        <p:spPr>
          <a:xfrm>
            <a:off x="8183880" y="2514600"/>
            <a:ext cx="1280160" cy="320040"/>
          </a:xfrm>
          <a:prstGeom prst="rect">
            <a:avLst/>
          </a:prstGeom>
          <a:solidFill>
            <a:srgbClr val="F8FAFC"/>
          </a:solidFill>
          <a:ln w="12700">
            <a:solidFill>
              <a:srgbClr val="CBD5E1"/>
            </a:solidFill>
          </a:ln>
        </p:spPr>
        <p:txBody>
          <a:bodyPr wrap="square" lIns="635" tIns="635" rIns="635" bIns="635" rtlCol="0" anchor="ctr">
            <a:normAutofit/>
          </a:bodyPr>
          <a:lstStyle/>
          <a:p>
            <a:pPr marL="0" indent="0" algn="ctr">
              <a:buNone/>
            </a:pPr>
            <a:r>
              <a:rPr lang="en-US" sz="1050" b="1" dirty="0">
                <a:solidFill>
                  <a:srgbClr val="1E293B"/>
                </a:solidFill>
                <a:latin typeface="Aptos" pitchFamily="34" charset="0"/>
                <a:ea typeface="Aptos" pitchFamily="34" charset="-122"/>
                <a:cs typeface="Aptos" pitchFamily="34" charset="-120"/>
              </a:rPr>
              <a:t>Velocidade</a:t>
            </a:r>
            <a:endParaRPr lang="en-US" sz="1050" dirty="0"/>
          </a:p>
        </p:txBody>
      </p:sp>
      <p:sp>
        <p:nvSpPr>
          <p:cNvPr id="14" name="Shape 12"/>
          <p:cNvSpPr/>
          <p:nvPr/>
        </p:nvSpPr>
        <p:spPr>
          <a:xfrm>
            <a:off x="9601200" y="2569464"/>
            <a:ext cx="1828800" cy="201168"/>
          </a:xfrm>
          <a:prstGeom prst="rect">
            <a:avLst/>
          </a:prstGeom>
          <a:solidFill>
            <a:srgbClr val="E2E8F0"/>
          </a:solidFill>
          <a:ln w="12700">
            <a:solidFill>
              <a:srgbClr val="E2E8F0"/>
            </a:solidFill>
            <a:prstDash val="solid"/>
          </a:ln>
        </p:spPr>
      </p:sp>
      <p:sp>
        <p:nvSpPr>
          <p:cNvPr id="15" name="Shape 13"/>
          <p:cNvSpPr/>
          <p:nvPr/>
        </p:nvSpPr>
        <p:spPr>
          <a:xfrm>
            <a:off x="9601200" y="2569464"/>
            <a:ext cx="1389888" cy="201168"/>
          </a:xfrm>
          <a:prstGeom prst="rect">
            <a:avLst/>
          </a:prstGeom>
          <a:solidFill>
            <a:srgbClr val="0F766E"/>
          </a:solidFill>
          <a:ln w="12700">
            <a:solidFill>
              <a:srgbClr val="0F766E"/>
            </a:solidFill>
            <a:prstDash val="solid"/>
          </a:ln>
        </p:spPr>
      </p:sp>
      <p:sp>
        <p:nvSpPr>
          <p:cNvPr id="16" name="Text 14"/>
          <p:cNvSpPr/>
          <p:nvPr/>
        </p:nvSpPr>
        <p:spPr>
          <a:xfrm>
            <a:off x="9601200" y="2816352"/>
            <a:ext cx="1828800" cy="201168"/>
          </a:xfrm>
          <a:prstGeom prst="rect">
            <a:avLst/>
          </a:prstGeom>
          <a:noFill/>
          <a:ln/>
        </p:spPr>
        <p:txBody>
          <a:bodyPr wrap="square" lIns="635" tIns="635" rIns="635" bIns="635" rtlCol="0" anchor="ctr">
            <a:normAutofit/>
          </a:bodyPr>
          <a:lstStyle/>
          <a:p>
            <a:pPr marL="0" indent="0" algn="ctr">
              <a:buNone/>
            </a:pPr>
            <a:r>
              <a:rPr lang="en-US" sz="850" dirty="0">
                <a:solidFill>
                  <a:srgbClr val="64748B"/>
                </a:solidFill>
                <a:latin typeface="Aptos" pitchFamily="34" charset="0"/>
                <a:ea typeface="Aptos" pitchFamily="34" charset="-122"/>
                <a:cs typeface="Aptos" pitchFamily="34" charset="-120"/>
              </a:rPr>
              <a:t>ritmo</a:t>
            </a:r>
            <a:endParaRPr lang="en-US" sz="850" dirty="0"/>
          </a:p>
        </p:txBody>
      </p:sp>
      <p:sp>
        <p:nvSpPr>
          <p:cNvPr id="17" name="Text 15"/>
          <p:cNvSpPr/>
          <p:nvPr/>
        </p:nvSpPr>
        <p:spPr>
          <a:xfrm>
            <a:off x="8183880" y="3337560"/>
            <a:ext cx="1280160" cy="320040"/>
          </a:xfrm>
          <a:prstGeom prst="rect">
            <a:avLst/>
          </a:prstGeom>
          <a:solidFill>
            <a:srgbClr val="F8FAFC"/>
          </a:solidFill>
          <a:ln w="12700">
            <a:solidFill>
              <a:srgbClr val="CBD5E1"/>
            </a:solidFill>
          </a:ln>
        </p:spPr>
        <p:txBody>
          <a:bodyPr wrap="square" lIns="635" tIns="635" rIns="635" bIns="635" rtlCol="0" anchor="ctr">
            <a:normAutofit/>
          </a:bodyPr>
          <a:lstStyle/>
          <a:p>
            <a:pPr marL="0" indent="0" algn="ctr">
              <a:buNone/>
            </a:pPr>
            <a:r>
              <a:rPr lang="en-US" sz="1050" b="1" dirty="0">
                <a:solidFill>
                  <a:srgbClr val="1E293B"/>
                </a:solidFill>
                <a:latin typeface="Aptos" pitchFamily="34" charset="0"/>
                <a:ea typeface="Aptos" pitchFamily="34" charset="-122"/>
                <a:cs typeface="Aptos" pitchFamily="34" charset="-120"/>
              </a:rPr>
              <a:t>Variedade</a:t>
            </a:r>
            <a:endParaRPr lang="en-US" sz="1050" dirty="0"/>
          </a:p>
        </p:txBody>
      </p:sp>
      <p:sp>
        <p:nvSpPr>
          <p:cNvPr id="18" name="Shape 16"/>
          <p:cNvSpPr/>
          <p:nvPr/>
        </p:nvSpPr>
        <p:spPr>
          <a:xfrm>
            <a:off x="9601200" y="3392424"/>
            <a:ext cx="1828800" cy="201168"/>
          </a:xfrm>
          <a:prstGeom prst="rect">
            <a:avLst/>
          </a:prstGeom>
          <a:solidFill>
            <a:srgbClr val="E2E8F0"/>
          </a:solidFill>
          <a:ln w="12700">
            <a:solidFill>
              <a:srgbClr val="E2E8F0"/>
            </a:solidFill>
            <a:prstDash val="solid"/>
          </a:ln>
        </p:spPr>
      </p:sp>
      <p:sp>
        <p:nvSpPr>
          <p:cNvPr id="19" name="Shape 17"/>
          <p:cNvSpPr/>
          <p:nvPr/>
        </p:nvSpPr>
        <p:spPr>
          <a:xfrm>
            <a:off x="9601200" y="3392424"/>
            <a:ext cx="1133856" cy="201168"/>
          </a:xfrm>
          <a:prstGeom prst="rect">
            <a:avLst/>
          </a:prstGeom>
          <a:solidFill>
            <a:srgbClr val="F97316"/>
          </a:solidFill>
          <a:ln w="12700">
            <a:solidFill>
              <a:srgbClr val="F97316"/>
            </a:solidFill>
            <a:prstDash val="solid"/>
          </a:ln>
        </p:spPr>
      </p:sp>
      <p:sp>
        <p:nvSpPr>
          <p:cNvPr id="20" name="Text 18"/>
          <p:cNvSpPr/>
          <p:nvPr/>
        </p:nvSpPr>
        <p:spPr>
          <a:xfrm>
            <a:off x="9601200" y="3639312"/>
            <a:ext cx="1828800" cy="201168"/>
          </a:xfrm>
          <a:prstGeom prst="rect">
            <a:avLst/>
          </a:prstGeom>
          <a:noFill/>
          <a:ln/>
        </p:spPr>
        <p:txBody>
          <a:bodyPr wrap="square" lIns="635" tIns="635" rIns="635" bIns="635" rtlCol="0" anchor="ctr">
            <a:normAutofit/>
          </a:bodyPr>
          <a:lstStyle/>
          <a:p>
            <a:pPr marL="0" indent="0" algn="ctr">
              <a:buNone/>
            </a:pPr>
            <a:r>
              <a:rPr lang="en-US" sz="850" dirty="0">
                <a:solidFill>
                  <a:srgbClr val="64748B"/>
                </a:solidFill>
                <a:latin typeface="Aptos" pitchFamily="34" charset="0"/>
                <a:ea typeface="Aptos" pitchFamily="34" charset="-122"/>
                <a:cs typeface="Aptos" pitchFamily="34" charset="-120"/>
              </a:rPr>
              <a:t>formatos</a:t>
            </a:r>
            <a:endParaRPr lang="en-US" sz="85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Latência e tempo real</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28</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Tempo entre medir e agir</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Latência é o atraso entre a medição e o uso do dado.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Tempo real não significa sempre instantâneo; significa dentro de prazo aceitável.</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Controle industrial pode exigir resposta muito rápida.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Relatórios históricos toleram atrasos maiores.</a:t>
            </a:r>
            <a:endParaRPr lang="en-US" sz="2400" dirty="0"/>
          </a:p>
        </p:txBody>
      </p:sp>
      <p:sp>
        <p:nvSpPr>
          <p:cNvPr id="7" name="Text 5">
            <a:hlinkClick r:id="rId3" tooltip="https://csrc.nist.gov/pubs/sp/500/325/fina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csrc.nist.gov/pubs/sp/500/325/final">
                  <a:extLst>
                    <a:ext uri="{A12FA001-AC4F-418D-AE19-62706E023703}">
                      <ahyp:hlinkClr xmlns:ahyp="http://schemas.microsoft.com/office/drawing/2018/hyperlinkcolor" val="tx"/>
                    </a:ext>
                  </a:extLst>
                </a:hlinkClick>
              </a:rPr>
              <a:t>Link: NIST SP 500-325 — Fog Computing</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Onde surge atraso</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Text 10"/>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Medição</a:t>
            </a:r>
            <a:endParaRPr lang="en-US" sz="1200" dirty="0"/>
          </a:p>
        </p:txBody>
      </p:sp>
      <p:sp>
        <p:nvSpPr>
          <p:cNvPr id="13" name="Text 11"/>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Transmissão</a:t>
            </a:r>
            <a:endParaRPr lang="en-US" sz="1200" dirty="0"/>
          </a:p>
        </p:txBody>
      </p:sp>
      <p:sp>
        <p:nvSpPr>
          <p:cNvPr id="14" name="Text 12"/>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Processamento</a:t>
            </a:r>
            <a:endParaRPr lang="en-US" sz="1200" dirty="0"/>
          </a:p>
        </p:txBody>
      </p:sp>
      <p:sp>
        <p:nvSpPr>
          <p:cNvPr id="15" name="Text 13"/>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Ação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Segurança e privacidade dos dados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29</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Proteger leitura, transmissão e acesso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Autenticação verifica quem é o dispositivo.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Criptografia protege dados durante a transmissão.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Controle de acesso limita quem pode ler ou alterar informações.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Dados de sensores podem revelar hábitos, localização ou produção.</a:t>
            </a:r>
            <a:endParaRPr lang="en-US" sz="2400" dirty="0"/>
          </a:p>
        </p:txBody>
      </p:sp>
      <p:sp>
        <p:nvSpPr>
          <p:cNvPr id="7" name="Text 5">
            <a:hlinkClick r:id="rId3" tooltip="https://docs.oasis-open.org/mqtt/mqtt/v5.0/mqtt-v5.0.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docs.oasis-open.org/mqtt/mqtt/v5.0/mqtt-v5.0.html">
                  <a:extLst>
                    <a:ext uri="{A12FA001-AC4F-418D-AE19-62706E023703}">
                      <ahyp:hlinkClr xmlns:ahyp="http://schemas.microsoft.com/office/drawing/2018/hyperlinkcolor" val="tx"/>
                    </a:ext>
                  </a:extLst>
                </a:hlinkClick>
              </a:rPr>
              <a:t>Link: OASIS — especificação MQTT 5.0</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Camadas de proteção</a:t>
            </a:r>
            <a:endParaRPr lang="en-US" sz="1300" dirty="0"/>
          </a:p>
        </p:txBody>
      </p:sp>
      <p:sp>
        <p:nvSpPr>
          <p:cNvPr id="9" name="Text 7"/>
          <p:cNvSpPr/>
          <p:nvPr/>
        </p:nvSpPr>
        <p:spPr>
          <a:xfrm>
            <a:off x="8046720" y="1627632"/>
            <a:ext cx="3474720" cy="45720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Registro auditável</a:t>
            </a:r>
            <a:endParaRPr lang="en-US" sz="1240" dirty="0"/>
          </a:p>
        </p:txBody>
      </p:sp>
      <p:sp>
        <p:nvSpPr>
          <p:cNvPr id="10" name="Text 8"/>
          <p:cNvSpPr/>
          <p:nvPr/>
        </p:nvSpPr>
        <p:spPr>
          <a:xfrm>
            <a:off x="8046720" y="2212848"/>
            <a:ext cx="3474720" cy="457200"/>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Acesso controlado</a:t>
            </a:r>
            <a:endParaRPr lang="en-US" sz="1240" dirty="0"/>
          </a:p>
        </p:txBody>
      </p:sp>
      <p:sp>
        <p:nvSpPr>
          <p:cNvPr id="11" name="Text 9"/>
          <p:cNvSpPr/>
          <p:nvPr/>
        </p:nvSpPr>
        <p:spPr>
          <a:xfrm>
            <a:off x="8046720" y="2798064"/>
            <a:ext cx="3474720" cy="45720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Canal protegido</a:t>
            </a:r>
            <a:endParaRPr lang="en-US" sz="1240" dirty="0"/>
          </a:p>
        </p:txBody>
      </p:sp>
      <p:sp>
        <p:nvSpPr>
          <p:cNvPr id="12" name="Text 10"/>
          <p:cNvSpPr/>
          <p:nvPr/>
        </p:nvSpPr>
        <p:spPr>
          <a:xfrm>
            <a:off x="8046720" y="3383280"/>
            <a:ext cx="3474720" cy="457200"/>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Dispositivo confiável</a:t>
            </a:r>
            <a:endParaRPr lang="en-US" sz="124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Exemplo 1: sala de aula inteligente</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30</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Temperatura, umidade e CO₂</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Sensores coletam ambiente a cada intervalo definido.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Gateway recebe leituras e aplica validações simples.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 nuvem armazena séries temporais e gera painel.</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Alertas indicam ventilação inadequada ou conforto térmico baixo.</a:t>
            </a:r>
            <a:endParaRPr lang="en-US" sz="2400" dirty="0"/>
          </a:p>
        </p:txBody>
      </p:sp>
      <p:sp>
        <p:nvSpPr>
          <p:cNvPr id="7" name="Text 5">
            <a:hlinkClick r:id="rId3" tooltip="https://docs.aws.amazon.com/iot/latest/developerguide/iot-moisture-raspi-setup.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docs.aws.amazon.com/iot/latest/developerguide/iot-moisture-raspi-setup.html">
                  <a:extLst>
                    <a:ext uri="{A12FA001-AC4F-418D-AE19-62706E023703}">
                      <ahyp:hlinkClr xmlns:ahyp="http://schemas.microsoft.com/office/drawing/2018/hyperlinkcolor" val="tx"/>
                    </a:ext>
                  </a:extLst>
                </a:hlinkClick>
              </a:rPr>
              <a:t>Link: AWS IoT — exemplo com sensor de umidade</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Arquitetura do exemplo</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Shape 10"/>
          <p:cNvSpPr/>
          <p:nvPr/>
        </p:nvSpPr>
        <p:spPr>
          <a:xfrm>
            <a:off x="9761220" y="4023360"/>
            <a:ext cx="0" cy="219456"/>
          </a:xfrm>
          <a:prstGeom prst="line">
            <a:avLst/>
          </a:prstGeom>
          <a:noFill/>
          <a:ln w="16510">
            <a:solidFill>
              <a:srgbClr val="0F766E"/>
            </a:solidFill>
            <a:prstDash val="solid"/>
            <a:tailEnd type="triangle"/>
          </a:ln>
        </p:spPr>
      </p:sp>
      <p:sp>
        <p:nvSpPr>
          <p:cNvPr id="13" name="Text 11"/>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Sensores da sala</a:t>
            </a:r>
            <a:endParaRPr lang="en-US" sz="1200" dirty="0"/>
          </a:p>
        </p:txBody>
      </p:sp>
      <p:sp>
        <p:nvSpPr>
          <p:cNvPr id="14" name="Text 12"/>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Gateway</a:t>
            </a:r>
            <a:endParaRPr lang="en-US" sz="1200" dirty="0"/>
          </a:p>
        </p:txBody>
      </p:sp>
      <p:sp>
        <p:nvSpPr>
          <p:cNvPr id="15" name="Text 13"/>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TSDB</a:t>
            </a:r>
            <a:endParaRPr lang="en-US" sz="1200" dirty="0"/>
          </a:p>
        </p:txBody>
      </p:sp>
      <p:sp>
        <p:nvSpPr>
          <p:cNvPr id="16" name="Text 14"/>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Dashboard</a:t>
            </a:r>
            <a:endParaRPr lang="en-US" sz="1200" dirty="0"/>
          </a:p>
        </p:txBody>
      </p:sp>
      <p:sp>
        <p:nvSpPr>
          <p:cNvPr id="17" name="Text 15"/>
          <p:cNvSpPr/>
          <p:nvPr/>
        </p:nvSpPr>
        <p:spPr>
          <a:xfrm>
            <a:off x="8092440" y="4279392"/>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Alerta</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Exemplo 2: manutenção preditiva</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31</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Vibração em motores</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Sensor de vibração mede padrões durante operação.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Amostragem precisa ser compatível com a dinâmica do motor.</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Borda pode detectar picos e enviar somente eventos relevantes.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Histórico ajuda a identificar tendência de desgaste.</a:t>
            </a:r>
            <a:endParaRPr lang="en-US" sz="2400" dirty="0"/>
          </a:p>
        </p:txBody>
      </p:sp>
      <p:sp>
        <p:nvSpPr>
          <p:cNvPr id="7" name="Text 5">
            <a:hlinkClick r:id="rId3" tooltip="https://csrc.nist.gov/pubs/sp/500/325/fina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csrc.nist.gov/pubs/sp/500/325/final">
                  <a:extLst>
                    <a:ext uri="{A12FA001-AC4F-418D-AE19-62706E023703}">
                      <ahyp:hlinkClr xmlns:ahyp="http://schemas.microsoft.com/office/drawing/2018/hyperlinkcolor" val="tx"/>
                    </a:ext>
                  </a:extLst>
                </a:hlinkClick>
              </a:rPr>
              <a:t>Link: NIST SP 500-325 — Fog Computing</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Pico de vibração</a:t>
            </a:r>
            <a:endParaRPr lang="en-US" sz="1300" dirty="0"/>
          </a:p>
        </p:txBody>
      </p:sp>
      <p:sp>
        <p:nvSpPr>
          <p:cNvPr id="9" name="Text 7"/>
          <p:cNvSpPr/>
          <p:nvPr/>
        </p:nvSpPr>
        <p:spPr>
          <a:xfrm>
            <a:off x="8046720" y="1965960"/>
            <a:ext cx="3566160" cy="960120"/>
          </a:xfrm>
          <a:prstGeom prst="rect">
            <a:avLst/>
          </a:prstGeom>
          <a:solidFill>
            <a:srgbClr val="FFFFFF"/>
          </a:solidFill>
          <a:ln w="12700">
            <a:solidFill>
              <a:srgbClr val="CBD5E1"/>
            </a:solidFill>
          </a:ln>
        </p:spPr>
        <p:txBody>
          <a:bodyPr wrap="square" lIns="508" tIns="508" rIns="508" bIns="508" rtlCol="0" anchor="ctr">
            <a:normAutofit/>
          </a:bodyPr>
          <a:lstStyle/>
          <a:p>
            <a:pPr marL="0" indent="0" algn="ctr">
              <a:buNone/>
            </a:pPr>
            <a:r>
              <a:rPr lang="en-US" sz="3800" dirty="0">
                <a:solidFill>
                  <a:srgbClr val="F97316"/>
                </a:solidFill>
                <a:latin typeface="Aptos Display" pitchFamily="34" charset="0"/>
                <a:ea typeface="Aptos Display" pitchFamily="34" charset="-122"/>
                <a:cs typeface="Aptos Display" pitchFamily="34" charset="-120"/>
              </a:rPr>
              <a:t>▁▂▂▃▇▃▂▃▂</a:t>
            </a:r>
            <a:endParaRPr lang="en-US" sz="3800" dirty="0"/>
          </a:p>
        </p:txBody>
      </p:sp>
      <p:sp>
        <p:nvSpPr>
          <p:cNvPr id="10" name="Text 8"/>
          <p:cNvSpPr/>
          <p:nvPr/>
        </p:nvSpPr>
        <p:spPr>
          <a:xfrm>
            <a:off x="8366760" y="3063240"/>
            <a:ext cx="2926080" cy="292608"/>
          </a:xfrm>
          <a:prstGeom prst="rect">
            <a:avLst/>
          </a:prstGeom>
          <a:solidFill>
            <a:srgbClr val="F8FAFC"/>
          </a:solidFill>
          <a:ln w="12700">
            <a:solidFill>
              <a:srgbClr val="E2E8F0"/>
            </a:solidFill>
          </a:ln>
        </p:spPr>
        <p:txBody>
          <a:bodyPr wrap="square" lIns="635" tIns="635" rIns="635" bIns="635" rtlCol="0" anchor="ctr">
            <a:normAutofit/>
          </a:bodyPr>
          <a:lstStyle/>
          <a:p>
            <a:pPr marL="0" indent="0" algn="ctr">
              <a:buNone/>
            </a:pPr>
            <a:r>
              <a:rPr lang="en-US" sz="1100" dirty="0">
                <a:solidFill>
                  <a:srgbClr val="64748B"/>
                </a:solidFill>
                <a:latin typeface="Aptos" pitchFamily="34" charset="0"/>
                <a:ea typeface="Aptos" pitchFamily="34" charset="-122"/>
                <a:cs typeface="Aptos" pitchFamily="34" charset="-120"/>
              </a:rPr>
              <a:t>eixo do tempo →</a:t>
            </a:r>
            <a:endParaRPr lang="en-US" sz="1100" dirty="0"/>
          </a:p>
        </p:txBody>
      </p:sp>
      <p:sp>
        <p:nvSpPr>
          <p:cNvPr id="11" name="Text 9"/>
          <p:cNvSpPr/>
          <p:nvPr/>
        </p:nvSpPr>
        <p:spPr>
          <a:xfrm>
            <a:off x="8275320" y="3794760"/>
            <a:ext cx="3108960" cy="475488"/>
          </a:xfrm>
          <a:prstGeom prst="rect">
            <a:avLst/>
          </a:prstGeom>
          <a:solidFill>
            <a:srgbClr val="FFEDD5"/>
          </a:solidFill>
          <a:ln w="12700">
            <a:solidFill>
              <a:srgbClr val="FDBA74"/>
            </a:solidFill>
          </a:ln>
        </p:spPr>
        <p:txBody>
          <a:bodyPr wrap="square" lIns="635" tIns="635" rIns="635" bIns="635" rtlCol="0" anchor="ctr">
            <a:normAutofit/>
          </a:bodyPr>
          <a:lstStyle/>
          <a:p>
            <a:pPr marL="0" indent="0" algn="ctr">
              <a:buNone/>
            </a:pPr>
            <a:r>
              <a:rPr lang="en-US" sz="1300" b="1" dirty="0">
                <a:solidFill>
                  <a:srgbClr val="1E293B"/>
                </a:solidFill>
                <a:latin typeface="Aptos" pitchFamily="34" charset="0"/>
                <a:ea typeface="Aptos" pitchFamily="34" charset="-122"/>
                <a:cs typeface="Aptos" pitchFamily="34" charset="-120"/>
              </a:rPr>
              <a:t>pico/anomalia</a:t>
            </a:r>
            <a:endParaRPr lang="en-US" sz="1300" dirty="0"/>
          </a:p>
        </p:txBody>
      </p:sp>
      <p:sp>
        <p:nvSpPr>
          <p:cNvPr id="12" name="Text 10"/>
          <p:cNvSpPr/>
          <p:nvPr/>
        </p:nvSpPr>
        <p:spPr>
          <a:xfrm>
            <a:off x="8183880" y="4617720"/>
            <a:ext cx="3291840" cy="475488"/>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dirty="0">
                <a:solidFill>
                  <a:srgbClr val="1E293B"/>
                </a:solidFill>
                <a:latin typeface="Aptos" pitchFamily="34" charset="0"/>
                <a:ea typeface="Aptos" pitchFamily="34" charset="-122"/>
                <a:cs typeface="Aptos" pitchFamily="34" charset="-120"/>
              </a:rPr>
              <a:t>cada ponto depende do timestamp</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Boas práticas na modelagem de mensagens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32</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Padronização para evitar ambiguidade</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Inclua sensorId, timestamp, valor, unidade e qualidade.</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Use nomes de campos consistentes entre dispositivos.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Padronize unidades antes de armazenar ou comparar dados.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Versione o formato da mensagem quando houver evolução.</a:t>
            </a:r>
            <a:endParaRPr lang="en-US" sz="2400" dirty="0"/>
          </a:p>
        </p:txBody>
      </p:sp>
      <p:sp>
        <p:nvSpPr>
          <p:cNvPr id="7" name="Text 5">
            <a:hlinkClick r:id="rId3" tooltip="https://datatracker.ietf.org/doc/html/rfc8259"/>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datatracker.ietf.org/doc/html/rfc8259">
                  <a:extLst>
                    <a:ext uri="{A12FA001-AC4F-418D-AE19-62706E023703}">
                      <ahyp:hlinkClr xmlns:ahyp="http://schemas.microsoft.com/office/drawing/2018/hyperlinkcolor" val="tx"/>
                    </a:ext>
                  </a:extLst>
                </a:hlinkClick>
              </a:rPr>
              <a:t>Link: IETF RFC 8259 — JSON</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Mensagem recomendada</a:t>
            </a:r>
            <a:endParaRPr lang="en-US" sz="1300" dirty="0"/>
          </a:p>
        </p:txBody>
      </p:sp>
      <p:sp>
        <p:nvSpPr>
          <p:cNvPr id="9" name="Text 7"/>
          <p:cNvSpPr/>
          <p:nvPr/>
        </p:nvSpPr>
        <p:spPr>
          <a:xfrm>
            <a:off x="8001000" y="1572768"/>
            <a:ext cx="3611880" cy="3429000"/>
          </a:xfrm>
          <a:prstGeom prst="rect">
            <a:avLst/>
          </a:prstGeom>
          <a:solidFill>
            <a:srgbClr val="F8FAFC"/>
          </a:solidFill>
          <a:ln w="12700">
            <a:solidFill>
              <a:srgbClr val="CBD5E1"/>
            </a:solidFill>
          </a:ln>
        </p:spPr>
        <p:txBody>
          <a:bodyPr wrap="square" lIns="1778" tIns="1778" rIns="1778" bIns="1778" rtlCol="0" anchor="ctr">
            <a:normAutofit/>
          </a:bodyPr>
          <a:lstStyle/>
          <a:p>
            <a:pPr marL="0" indent="0">
              <a:buNone/>
            </a:pPr>
            <a:r>
              <a:rPr lang="en-US" sz="1150" dirty="0">
                <a:solidFill>
                  <a:srgbClr val="0F172A"/>
                </a:solidFill>
                <a:latin typeface="Consolas" pitchFamily="34" charset="0"/>
                <a:ea typeface="Consolas" pitchFamily="34" charset="-122"/>
                <a:cs typeface="Consolas" pitchFamily="34" charset="-120"/>
              </a:rPr>
              <a:t>{</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"schemaVersion":"1.0",</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"sensorId":"temp_01",</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"timestamp":"...",</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"value":28.4,</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"unit":"C",</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"quality":"ok"</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a:t>
            </a:r>
            <a:endParaRPr lang="en-US" sz="1150" dirty="0"/>
          </a:p>
        </p:txBody>
      </p:sp>
      <p:sp>
        <p:nvSpPr>
          <p:cNvPr id="10" name="Text 8"/>
          <p:cNvSpPr/>
          <p:nvPr/>
        </p:nvSpPr>
        <p:spPr>
          <a:xfrm>
            <a:off x="8183880" y="5175504"/>
            <a:ext cx="3246120" cy="41148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Campos + contexto + tempo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Decisões de projeto no fluxo de dados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33</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Perguntas que orientam a arquitetura</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Qual fenômeno será medido e com que objetivo?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Qual frequência de amostragem é adequada?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O que será tratado na borda e o que irá para a nuvem?</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Como armazenar, visualizar, proteger e descartar dados?</a:t>
            </a:r>
            <a:endParaRPr lang="en-US" sz="2400" dirty="0"/>
          </a:p>
        </p:txBody>
      </p:sp>
      <p:sp>
        <p:nvSpPr>
          <p:cNvPr id="7" name="Text 5">
            <a:hlinkClick r:id="rId3" tooltip="https://www.w3.org/TR/wot-architecture11/"/>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www.w3.org/TR/wot-architecture11/">
                  <a:extLst>
                    <a:ext uri="{A12FA001-AC4F-418D-AE19-62706E023703}">
                      <ahyp:hlinkClr xmlns:ahyp="http://schemas.microsoft.com/office/drawing/2018/hyperlinkcolor" val="tx"/>
                    </a:ext>
                  </a:extLst>
                </a:hlinkClick>
              </a:rPr>
              <a:t>Link: W3C WoT Architecture 1.1</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Raciocínio de projeto</a:t>
            </a:r>
            <a:endParaRPr lang="en-US" sz="1300" dirty="0"/>
          </a:p>
        </p:txBody>
      </p:sp>
      <p:sp>
        <p:nvSpPr>
          <p:cNvPr id="9" name="Text 7"/>
          <p:cNvSpPr/>
          <p:nvPr/>
        </p:nvSpPr>
        <p:spPr>
          <a:xfrm>
            <a:off x="8092440" y="1554480"/>
            <a:ext cx="3337560" cy="402336"/>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1. Objetivo</a:t>
            </a:r>
            <a:endParaRPr lang="en-US" sz="1200" dirty="0"/>
          </a:p>
        </p:txBody>
      </p:sp>
      <p:sp>
        <p:nvSpPr>
          <p:cNvPr id="10" name="Text 8"/>
          <p:cNvSpPr/>
          <p:nvPr/>
        </p:nvSpPr>
        <p:spPr>
          <a:xfrm>
            <a:off x="8092440" y="2176272"/>
            <a:ext cx="3337560" cy="402336"/>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2. Medição</a:t>
            </a:r>
            <a:endParaRPr lang="en-US" sz="1200" dirty="0"/>
          </a:p>
        </p:txBody>
      </p:sp>
      <p:sp>
        <p:nvSpPr>
          <p:cNvPr id="11" name="Text 9"/>
          <p:cNvSpPr/>
          <p:nvPr/>
        </p:nvSpPr>
        <p:spPr>
          <a:xfrm>
            <a:off x="8092440" y="2798064"/>
            <a:ext cx="3337560" cy="402336"/>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3. Processamento</a:t>
            </a:r>
            <a:endParaRPr lang="en-US" sz="1200" dirty="0"/>
          </a:p>
        </p:txBody>
      </p:sp>
      <p:sp>
        <p:nvSpPr>
          <p:cNvPr id="12" name="Text 10"/>
          <p:cNvSpPr/>
          <p:nvPr/>
        </p:nvSpPr>
        <p:spPr>
          <a:xfrm>
            <a:off x="8092440" y="3419856"/>
            <a:ext cx="3337560" cy="402336"/>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4. Armazenamento</a:t>
            </a:r>
            <a:endParaRPr lang="en-US" sz="1200" dirty="0"/>
          </a:p>
        </p:txBody>
      </p:sp>
      <p:sp>
        <p:nvSpPr>
          <p:cNvPr id="13" name="Text 11"/>
          <p:cNvSpPr/>
          <p:nvPr/>
        </p:nvSpPr>
        <p:spPr>
          <a:xfrm>
            <a:off x="8092440" y="4041648"/>
            <a:ext cx="3337560" cy="402336"/>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5. Decisão</a:t>
            </a:r>
            <a:endParaRPr lang="en-US" sz="1200" dirty="0"/>
          </a:p>
        </p:txBody>
      </p:sp>
      <p:sp>
        <p:nvSpPr>
          <p:cNvPr id="14" name="Text 12"/>
          <p:cNvSpPr/>
          <p:nvPr/>
        </p:nvSpPr>
        <p:spPr>
          <a:xfrm>
            <a:off x="8613648" y="5230368"/>
            <a:ext cx="2286000" cy="384048"/>
          </a:xfrm>
          <a:prstGeom prst="rect">
            <a:avLst/>
          </a:prstGeom>
          <a:solidFill>
            <a:srgbClr val="FFFFFF"/>
          </a:solidFill>
          <a:ln w="12700">
            <a:solidFill>
              <a:srgbClr val="CBD5E1"/>
            </a:solidFill>
          </a:ln>
        </p:spPr>
        <p:txBody>
          <a:bodyPr wrap="square" lIns="635" tIns="635" rIns="635" bIns="635" rtlCol="0" anchor="ctr">
            <a:normAutofit/>
          </a:bodyPr>
          <a:lstStyle/>
          <a:p>
            <a:pPr marL="0" indent="0" algn="ctr">
              <a:buNone/>
            </a:pPr>
            <a:r>
              <a:rPr lang="en-US" sz="1150" b="1" dirty="0">
                <a:solidFill>
                  <a:srgbClr val="64748B"/>
                </a:solidFill>
                <a:latin typeface="Aptos" pitchFamily="34" charset="0"/>
                <a:ea typeface="Aptos" pitchFamily="34" charset="-122"/>
                <a:cs typeface="Aptos" pitchFamily="34" charset="-120"/>
              </a:rPr>
              <a:t>ciclo contínuo</a:t>
            </a:r>
            <a:endParaRPr lang="en-US" sz="115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Erros comuns de interpretação</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34</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Contraexemplos úteis</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Confundir ruído com evento real.</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Comparar valores sem conferir unidade e timestamp.</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Coletar muitos dados sem objetivo de análise.</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Ignorar falhas de comunicação e dados ausentes.</a:t>
            </a:r>
            <a:endParaRPr lang="en-US" sz="2400" dirty="0"/>
          </a:p>
        </p:txBody>
      </p:sp>
      <p:sp>
        <p:nvSpPr>
          <p:cNvPr id="7" name="Text 5"/>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dirty="0">
                <a:solidFill>
                  <a:srgbClr val="64748B"/>
                </a:solidFill>
                <a:latin typeface="Aptos" pitchFamily="34" charset="0"/>
                <a:ea typeface="Aptos" pitchFamily="34" charset="-122"/>
                <a:cs typeface="Aptos" pitchFamily="34" charset="-120"/>
              </a:rPr>
              <a:t>Link: nenhum link adicional necessário neste slide.</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Como evitar erros</a:t>
            </a:r>
            <a:endParaRPr lang="en-US" sz="1300" dirty="0"/>
          </a:p>
        </p:txBody>
      </p:sp>
      <p:sp>
        <p:nvSpPr>
          <p:cNvPr id="9" name="Text 7"/>
          <p:cNvSpPr/>
          <p:nvPr/>
        </p:nvSpPr>
        <p:spPr>
          <a:xfrm>
            <a:off x="8046720" y="1627632"/>
            <a:ext cx="3520440" cy="4023360"/>
          </a:xfrm>
          <a:prstGeom prst="rect">
            <a:avLst/>
          </a:prstGeom>
          <a:solidFill>
            <a:srgbClr val="FFFFFF"/>
          </a:solidFill>
          <a:ln w="12700">
            <a:solidFill>
              <a:srgbClr val="CBD5E1"/>
            </a:solidFill>
          </a:ln>
        </p:spPr>
        <p:txBody>
          <a:bodyPr wrap="square" lIns="1524" tIns="1524" rIns="1524" bIns="1524" rtlCol="0" anchor="ctr">
            <a:normAutofit/>
          </a:bodyPr>
          <a:lstStyle/>
          <a:p>
            <a:pPr marL="0" indent="0">
              <a:buNone/>
            </a:pPr>
            <a:r>
              <a:rPr lang="en-US" sz="1320" dirty="0">
                <a:solidFill>
                  <a:srgbClr val="1E293B"/>
                </a:solidFill>
                <a:latin typeface="Aptos" pitchFamily="34" charset="0"/>
                <a:ea typeface="Aptos" pitchFamily="34" charset="-122"/>
                <a:cs typeface="Aptos" pitchFamily="34" charset="-120"/>
              </a:rPr>
              <a:t>✓ Validar unidade</a:t>
            </a:r>
            <a:endParaRPr lang="en-US" sz="1320" dirty="0"/>
          </a:p>
          <a:p>
            <a:pPr marL="0" indent="0">
              <a:buNone/>
            </a:pPr>
            <a:r>
              <a:rPr lang="en-US" sz="1320" dirty="0">
                <a:solidFill>
                  <a:srgbClr val="1E293B"/>
                </a:solidFill>
                <a:latin typeface="Aptos" pitchFamily="34" charset="0"/>
                <a:ea typeface="Aptos" pitchFamily="34" charset="-122"/>
                <a:cs typeface="Aptos" pitchFamily="34" charset="-120"/>
              </a:rPr>
              <a:t>✓ Verificar tempo</a:t>
            </a:r>
            <a:endParaRPr lang="en-US" sz="1320" dirty="0"/>
          </a:p>
          <a:p>
            <a:pPr marL="0" indent="0">
              <a:buNone/>
            </a:pPr>
            <a:r>
              <a:rPr lang="en-US" sz="1320" dirty="0">
                <a:solidFill>
                  <a:srgbClr val="1E293B"/>
                </a:solidFill>
                <a:latin typeface="Aptos" pitchFamily="34" charset="0"/>
                <a:ea typeface="Aptos" pitchFamily="34" charset="-122"/>
                <a:cs typeface="Aptos" pitchFamily="34" charset="-120"/>
              </a:rPr>
              <a:t>✓ Tratar ruído</a:t>
            </a:r>
            <a:endParaRPr lang="en-US" sz="1320" dirty="0"/>
          </a:p>
          <a:p>
            <a:pPr marL="0" indent="0">
              <a:buNone/>
            </a:pPr>
            <a:r>
              <a:rPr lang="en-US" sz="1320" dirty="0">
                <a:solidFill>
                  <a:srgbClr val="1E293B"/>
                </a:solidFill>
                <a:latin typeface="Aptos" pitchFamily="34" charset="0"/>
                <a:ea typeface="Aptos" pitchFamily="34" charset="-122"/>
                <a:cs typeface="Aptos" pitchFamily="34" charset="-120"/>
              </a:rPr>
              <a:t>✓ Planejar falhas</a:t>
            </a:r>
            <a:endParaRPr lang="en-US" sz="132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Fluxo de projeto passo a passo</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35</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Da ideia ao painel</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1. Definir grandeza, objetivo e ação esperada.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2. Selecionar sensor, faixa, resolução e frequência.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3. Modelar mensagem com contexto e timestamp.</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4. Decidir borda, armazenamento, dashboard e alertas.</a:t>
            </a:r>
            <a:endParaRPr lang="en-US" sz="2400" dirty="0"/>
          </a:p>
        </p:txBody>
      </p:sp>
      <p:sp>
        <p:nvSpPr>
          <p:cNvPr id="7" name="Text 5">
            <a:hlinkClick r:id="rId3" tooltip="https://nodered.org/"/>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nodered.org/">
                  <a:extLst>
                    <a:ext uri="{A12FA001-AC4F-418D-AE19-62706E023703}">
                      <ahyp:hlinkClr xmlns:ahyp="http://schemas.microsoft.com/office/drawing/2018/hyperlinkcolor" val="tx"/>
                    </a:ext>
                  </a:extLst>
                </a:hlinkClick>
              </a:rPr>
              <a:t>Link: Node-RED — fluxos para dados em tempo real</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Roteiro prático</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Shape 10"/>
          <p:cNvSpPr/>
          <p:nvPr/>
        </p:nvSpPr>
        <p:spPr>
          <a:xfrm>
            <a:off x="9761220" y="4023360"/>
            <a:ext cx="0" cy="219456"/>
          </a:xfrm>
          <a:prstGeom prst="line">
            <a:avLst/>
          </a:prstGeom>
          <a:noFill/>
          <a:ln w="16510">
            <a:solidFill>
              <a:srgbClr val="0F766E"/>
            </a:solidFill>
            <a:prstDash val="solid"/>
            <a:tailEnd type="triangle"/>
          </a:ln>
        </p:spPr>
      </p:sp>
      <p:sp>
        <p:nvSpPr>
          <p:cNvPr id="13" name="Text 11"/>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Objetivo</a:t>
            </a:r>
            <a:endParaRPr lang="en-US" sz="1200" dirty="0"/>
          </a:p>
        </p:txBody>
      </p:sp>
      <p:sp>
        <p:nvSpPr>
          <p:cNvPr id="14" name="Text 12"/>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Sensor</a:t>
            </a:r>
            <a:endParaRPr lang="en-US" sz="1200" dirty="0"/>
          </a:p>
        </p:txBody>
      </p:sp>
      <p:sp>
        <p:nvSpPr>
          <p:cNvPr id="15" name="Text 13"/>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Mensagem</a:t>
            </a:r>
            <a:endParaRPr lang="en-US" sz="1200" dirty="0"/>
          </a:p>
        </p:txBody>
      </p:sp>
      <p:sp>
        <p:nvSpPr>
          <p:cNvPr id="16" name="Text 14"/>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Pipeline</a:t>
            </a:r>
            <a:endParaRPr lang="en-US" sz="1200" dirty="0"/>
          </a:p>
        </p:txBody>
      </p:sp>
      <p:sp>
        <p:nvSpPr>
          <p:cNvPr id="17" name="Text 15"/>
          <p:cNvSpPr/>
          <p:nvPr/>
        </p:nvSpPr>
        <p:spPr>
          <a:xfrm>
            <a:off x="8092440" y="4279392"/>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Painel</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Atividade prática de fixação</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36</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Projeto rápido de fluxo de dados</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Cenário: monitorar temperatura e umidade de um laboratório.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Defina frequência de amostragem e justifique.</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Monte uma mensagem JSON com campos essenciais.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Indique onde tratar ruído, onde armazenar e como visualizar.</a:t>
            </a:r>
            <a:endParaRPr lang="en-US" sz="2400" dirty="0"/>
          </a:p>
        </p:txBody>
      </p:sp>
      <p:sp>
        <p:nvSpPr>
          <p:cNvPr id="7" name="Text 5"/>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dirty="0">
                <a:solidFill>
                  <a:srgbClr val="64748B"/>
                </a:solidFill>
                <a:latin typeface="Aptos" pitchFamily="34" charset="0"/>
                <a:ea typeface="Aptos" pitchFamily="34" charset="-122"/>
                <a:cs typeface="Aptos" pitchFamily="34" charset="-120"/>
              </a:rPr>
              <a:t>Link: nenhum link adicional necessário neste slide.</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Entrega esperada</a:t>
            </a:r>
            <a:endParaRPr lang="en-US" sz="1300" dirty="0"/>
          </a:p>
        </p:txBody>
      </p:sp>
      <p:sp>
        <p:nvSpPr>
          <p:cNvPr id="9" name="Text 7"/>
          <p:cNvSpPr/>
          <p:nvPr/>
        </p:nvSpPr>
        <p:spPr>
          <a:xfrm>
            <a:off x="8001000" y="1572768"/>
            <a:ext cx="3611880" cy="3429000"/>
          </a:xfrm>
          <a:prstGeom prst="rect">
            <a:avLst/>
          </a:prstGeom>
          <a:solidFill>
            <a:srgbClr val="F8FAFC"/>
          </a:solidFill>
          <a:ln w="12700">
            <a:solidFill>
              <a:srgbClr val="CBD5E1"/>
            </a:solidFill>
          </a:ln>
        </p:spPr>
        <p:txBody>
          <a:bodyPr wrap="square" lIns="1778" tIns="1778" rIns="1778" bIns="1778" rtlCol="0" anchor="ctr">
            <a:normAutofit/>
          </a:bodyPr>
          <a:lstStyle/>
          <a:p>
            <a:pPr marL="0" indent="0">
              <a:buNone/>
            </a:pPr>
            <a:r>
              <a:rPr lang="en-US" sz="1150" dirty="0">
                <a:solidFill>
                  <a:srgbClr val="0F172A"/>
                </a:solidFill>
                <a:latin typeface="Consolas" pitchFamily="34" charset="0"/>
                <a:ea typeface="Consolas" pitchFamily="34" charset="-122"/>
                <a:cs typeface="Consolas" pitchFamily="34" charset="-120"/>
              </a:rPr>
              <a:t>1) frequência: ___</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2) payload JSON: ___</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3) tratamento: borda/nuvem</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4) armazenamento: ___</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5) visualização: ___</a:t>
            </a:r>
            <a:endParaRPr lang="en-US" sz="1150" dirty="0"/>
          </a:p>
        </p:txBody>
      </p:sp>
      <p:sp>
        <p:nvSpPr>
          <p:cNvPr id="10" name="Text 8"/>
          <p:cNvSpPr/>
          <p:nvPr/>
        </p:nvSpPr>
        <p:spPr>
          <a:xfrm>
            <a:off x="8183880" y="5175504"/>
            <a:ext cx="3246120" cy="41148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Campos + contexto + tempo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Gabarito comentado da atividade</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37</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Uma solução possível</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Amostragem: a cada 30 s ou 1 min, pois temperatura e umidade mudam lentamente.</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Mensagem: sensorId, timestamp, temperatura, umidade, unidade e qualidade.</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Borda: validar faixa, remover leituras impossíveis e calcular média simples.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Nuvem: armazenar série temporal, dashboard e alerta por limite configurado.</a:t>
            </a:r>
            <a:endParaRPr lang="en-US" sz="2400" dirty="0"/>
          </a:p>
        </p:txBody>
      </p:sp>
      <p:sp>
        <p:nvSpPr>
          <p:cNvPr id="7" name="Text 5">
            <a:hlinkClick r:id="rId3" tooltip="https://grafana.com/docs/grafana/latest/visualizations/panels-visualizations/visualizations/time-series/"/>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grafana.com/docs/grafana/latest/visualizations/panels-visualizations/visualizations/time-series/">
                  <a:extLst>
                    <a:ext uri="{A12FA001-AC4F-418D-AE19-62706E023703}">
                      <ahyp:hlinkClr xmlns:ahyp="http://schemas.microsoft.com/office/drawing/2018/hyperlinkcolor" val="tx"/>
                    </a:ext>
                  </a:extLst>
                </a:hlinkClick>
              </a:rPr>
              <a:t>Link: Grafana — visualização de séries temporais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Solução comentada</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Shape 10"/>
          <p:cNvSpPr/>
          <p:nvPr/>
        </p:nvSpPr>
        <p:spPr>
          <a:xfrm>
            <a:off x="9761220" y="4023360"/>
            <a:ext cx="0" cy="219456"/>
          </a:xfrm>
          <a:prstGeom prst="line">
            <a:avLst/>
          </a:prstGeom>
          <a:noFill/>
          <a:ln w="16510">
            <a:solidFill>
              <a:srgbClr val="0F766E"/>
            </a:solidFill>
            <a:prstDash val="solid"/>
            <a:tailEnd type="triangle"/>
          </a:ln>
        </p:spPr>
      </p:sp>
      <p:sp>
        <p:nvSpPr>
          <p:cNvPr id="13" name="Text 11"/>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Sensor</a:t>
            </a:r>
            <a:endParaRPr lang="en-US" sz="1200" dirty="0"/>
          </a:p>
        </p:txBody>
      </p:sp>
      <p:sp>
        <p:nvSpPr>
          <p:cNvPr id="14" name="Text 12"/>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Validação</a:t>
            </a:r>
            <a:endParaRPr lang="en-US" sz="1200" dirty="0"/>
          </a:p>
        </p:txBody>
      </p:sp>
      <p:sp>
        <p:nvSpPr>
          <p:cNvPr id="15" name="Text 13"/>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Média</a:t>
            </a:r>
            <a:endParaRPr lang="en-US" sz="1200" dirty="0"/>
          </a:p>
        </p:txBody>
      </p:sp>
      <p:sp>
        <p:nvSpPr>
          <p:cNvPr id="16" name="Text 14"/>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TSDB</a:t>
            </a:r>
            <a:endParaRPr lang="en-US" sz="1200" dirty="0"/>
          </a:p>
        </p:txBody>
      </p:sp>
      <p:sp>
        <p:nvSpPr>
          <p:cNvPr id="17" name="Text 15"/>
          <p:cNvSpPr/>
          <p:nvPr/>
        </p:nvSpPr>
        <p:spPr>
          <a:xfrm>
            <a:off x="8092440" y="4279392"/>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Dashboard/alerta</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Síntese da aula</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38</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O que levar para o projeto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Dado de sensor é valor + unidade + tempo + contexto.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Amostragem, resolução, acurácia e ruído afetam a confiabilidade.</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Fluxos IoT combinam borda, comunicação, armazenamento e aplicação.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Boas decisões reduzem custo, latência, ambiguidade e erros de análise.</a:t>
            </a:r>
            <a:endParaRPr lang="en-US" sz="2400" dirty="0"/>
          </a:p>
        </p:txBody>
      </p:sp>
      <p:sp>
        <p:nvSpPr>
          <p:cNvPr id="7" name="Text 5"/>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dirty="0">
                <a:solidFill>
                  <a:srgbClr val="64748B"/>
                </a:solidFill>
                <a:latin typeface="Aptos" pitchFamily="34" charset="0"/>
                <a:ea typeface="Aptos" pitchFamily="34" charset="-122"/>
                <a:cs typeface="Aptos" pitchFamily="34" charset="-120"/>
              </a:rPr>
              <a:t>Link: nenhum link adicional necessário neste slide.</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Resumo</a:t>
            </a:r>
            <a:endParaRPr lang="en-US" sz="1300" dirty="0"/>
          </a:p>
        </p:txBody>
      </p:sp>
      <p:sp>
        <p:nvSpPr>
          <p:cNvPr id="9" name="Text 7"/>
          <p:cNvSpPr/>
          <p:nvPr/>
        </p:nvSpPr>
        <p:spPr>
          <a:xfrm>
            <a:off x="8092440" y="1554480"/>
            <a:ext cx="3337560" cy="402336"/>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1. Medir</a:t>
            </a:r>
            <a:endParaRPr lang="en-US" sz="1200" dirty="0"/>
          </a:p>
        </p:txBody>
      </p:sp>
      <p:sp>
        <p:nvSpPr>
          <p:cNvPr id="10" name="Text 8"/>
          <p:cNvSpPr/>
          <p:nvPr/>
        </p:nvSpPr>
        <p:spPr>
          <a:xfrm>
            <a:off x="8092440" y="2176272"/>
            <a:ext cx="3337560" cy="402336"/>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2. Contextualizar</a:t>
            </a:r>
            <a:endParaRPr lang="en-US" sz="1200" dirty="0"/>
          </a:p>
        </p:txBody>
      </p:sp>
      <p:sp>
        <p:nvSpPr>
          <p:cNvPr id="11" name="Text 9"/>
          <p:cNvSpPr/>
          <p:nvPr/>
        </p:nvSpPr>
        <p:spPr>
          <a:xfrm>
            <a:off x="8092440" y="2798064"/>
            <a:ext cx="3337560" cy="402336"/>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3. Processar</a:t>
            </a:r>
            <a:endParaRPr lang="en-US" sz="1200" dirty="0"/>
          </a:p>
        </p:txBody>
      </p:sp>
      <p:sp>
        <p:nvSpPr>
          <p:cNvPr id="12" name="Text 10"/>
          <p:cNvSpPr/>
          <p:nvPr/>
        </p:nvSpPr>
        <p:spPr>
          <a:xfrm>
            <a:off x="8092440" y="3419856"/>
            <a:ext cx="3337560" cy="402336"/>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4. Decidir</a:t>
            </a:r>
            <a:endParaRPr lang="en-US" sz="1200" dirty="0"/>
          </a:p>
        </p:txBody>
      </p:sp>
      <p:sp>
        <p:nvSpPr>
          <p:cNvPr id="13" name="Text 11"/>
          <p:cNvSpPr/>
          <p:nvPr/>
        </p:nvSpPr>
        <p:spPr>
          <a:xfrm>
            <a:off x="8613648" y="5230368"/>
            <a:ext cx="2286000" cy="384048"/>
          </a:xfrm>
          <a:prstGeom prst="rect">
            <a:avLst/>
          </a:prstGeom>
          <a:solidFill>
            <a:srgbClr val="FFFFFF"/>
          </a:solidFill>
          <a:ln w="12700">
            <a:solidFill>
              <a:srgbClr val="CBD5E1"/>
            </a:solidFill>
          </a:ln>
        </p:spPr>
        <p:txBody>
          <a:bodyPr wrap="square" lIns="635" tIns="635" rIns="635" bIns="635" rtlCol="0" anchor="ctr">
            <a:normAutofit/>
          </a:bodyPr>
          <a:lstStyle/>
          <a:p>
            <a:pPr marL="0" indent="0" algn="ctr">
              <a:buNone/>
            </a:pPr>
            <a:r>
              <a:rPr lang="en-US" sz="1150" b="1" dirty="0">
                <a:solidFill>
                  <a:srgbClr val="64748B"/>
                </a:solidFill>
                <a:latin typeface="Aptos" pitchFamily="34" charset="0"/>
                <a:ea typeface="Aptos" pitchFamily="34" charset="-122"/>
                <a:cs typeface="Aptos" pitchFamily="34" charset="-120"/>
              </a:rPr>
              <a:t>ciclo contínuo</a:t>
            </a:r>
            <a:endParaRPr lang="en-US" sz="115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Referências e links consultados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39</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Fontes para estudo complementar</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NIST: fundamentos de IoT e computação em borda/fog.</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NI e MathWorks: qualidade de medição, amostragem e sinais.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OASIS, IETF e W3C: protocolos e formatos de comunicação.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Grafana, InfluxDB, AWS IoT, Mosquitto e Node-RED: ferramentas e documentação prática.</a:t>
            </a:r>
            <a:endParaRPr lang="en-US" sz="2400" dirty="0"/>
          </a:p>
        </p:txBody>
      </p:sp>
      <p:sp>
        <p:nvSpPr>
          <p:cNvPr id="7" name="Text 5">
            <a:hlinkClick r:id="rId3" tooltip="https://csrc.nist.gov/pubs/sp/800/183/fina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csrc.nist.gov/pubs/sp/800/183/final">
                  <a:extLst>
                    <a:ext uri="{A12FA001-AC4F-418D-AE19-62706E023703}">
                      <ahyp:hlinkClr xmlns:ahyp="http://schemas.microsoft.com/office/drawing/2018/hyperlinkcolor" val="tx"/>
                    </a:ext>
                  </a:extLst>
                </a:hlinkClick>
              </a:rPr>
              <a:t>Link: NIST SP 800-183 — fundamentos de IoT</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Fontes principais</a:t>
            </a:r>
            <a:endParaRPr lang="en-US" sz="1300" dirty="0"/>
          </a:p>
        </p:txBody>
      </p:sp>
      <p:sp>
        <p:nvSpPr>
          <p:cNvPr id="9" name="Text 7"/>
          <p:cNvSpPr/>
          <p:nvPr/>
        </p:nvSpPr>
        <p:spPr>
          <a:xfrm>
            <a:off x="8046720" y="1627632"/>
            <a:ext cx="3520440" cy="4023360"/>
          </a:xfrm>
          <a:prstGeom prst="rect">
            <a:avLst/>
          </a:prstGeom>
          <a:solidFill>
            <a:srgbClr val="FFFFFF"/>
          </a:solidFill>
          <a:ln w="12700">
            <a:solidFill>
              <a:srgbClr val="CBD5E1"/>
            </a:solidFill>
          </a:ln>
        </p:spPr>
        <p:txBody>
          <a:bodyPr wrap="square" lIns="1524" tIns="1524" rIns="1524" bIns="1524" rtlCol="0" anchor="ctr">
            <a:normAutofit/>
          </a:bodyPr>
          <a:lstStyle/>
          <a:p>
            <a:pPr marL="0" indent="0">
              <a:buNone/>
            </a:pPr>
            <a:r>
              <a:rPr lang="en-US" sz="1320" dirty="0">
                <a:solidFill>
                  <a:srgbClr val="1E293B"/>
                </a:solidFill>
                <a:latin typeface="Aptos" pitchFamily="34" charset="0"/>
                <a:ea typeface="Aptos" pitchFamily="34" charset="-122"/>
                <a:cs typeface="Aptos" pitchFamily="34" charset="-120"/>
              </a:rPr>
              <a:t>✓ NIST SP 800-183</a:t>
            </a:r>
            <a:endParaRPr lang="en-US" sz="1320" dirty="0"/>
          </a:p>
          <a:p>
            <a:pPr marL="0" indent="0">
              <a:buNone/>
            </a:pPr>
            <a:r>
              <a:rPr lang="en-US" sz="1320" dirty="0">
                <a:solidFill>
                  <a:srgbClr val="1E293B"/>
                </a:solidFill>
                <a:latin typeface="Aptos" pitchFamily="34" charset="0"/>
                <a:ea typeface="Aptos" pitchFamily="34" charset="-122"/>
                <a:cs typeface="Aptos" pitchFamily="34" charset="-120"/>
              </a:rPr>
              <a:t>✓ NIST SP 500-325</a:t>
            </a:r>
            <a:endParaRPr lang="en-US" sz="1320" dirty="0"/>
          </a:p>
          <a:p>
            <a:pPr marL="0" indent="0">
              <a:buNone/>
            </a:pPr>
            <a:r>
              <a:rPr lang="en-US" sz="1320" dirty="0">
                <a:solidFill>
                  <a:srgbClr val="1E293B"/>
                </a:solidFill>
                <a:latin typeface="Aptos" pitchFamily="34" charset="0"/>
                <a:ea typeface="Aptos" pitchFamily="34" charset="-122"/>
                <a:cs typeface="Aptos" pitchFamily="34" charset="-120"/>
              </a:rPr>
              <a:t>✓ OASIS MQTT 5.0</a:t>
            </a:r>
            <a:endParaRPr lang="en-US" sz="1320" dirty="0"/>
          </a:p>
          <a:p>
            <a:pPr marL="0" indent="0">
              <a:buNone/>
            </a:pPr>
            <a:r>
              <a:rPr lang="en-US" sz="1320" dirty="0">
                <a:solidFill>
                  <a:srgbClr val="1E293B"/>
                </a:solidFill>
                <a:latin typeface="Aptos" pitchFamily="34" charset="0"/>
                <a:ea typeface="Aptos" pitchFamily="34" charset="-122"/>
                <a:cs typeface="Aptos" pitchFamily="34" charset="-120"/>
              </a:rPr>
              <a:t>✓ IETF RFC 8259/7252</a:t>
            </a:r>
            <a:endParaRPr lang="en-US" sz="1320" dirty="0"/>
          </a:p>
          <a:p>
            <a:pPr marL="0" indent="0">
              <a:buNone/>
            </a:pPr>
            <a:r>
              <a:rPr lang="en-US" sz="1320" dirty="0">
                <a:solidFill>
                  <a:srgbClr val="1E293B"/>
                </a:solidFill>
                <a:latin typeface="Aptos" pitchFamily="34" charset="0"/>
                <a:ea typeface="Aptos" pitchFamily="34" charset="-122"/>
                <a:cs typeface="Aptos" pitchFamily="34" charset="-120"/>
              </a:rPr>
              <a:t>✓ Grafana e InfluxDB</a:t>
            </a:r>
            <a:endParaRPr lang="en-US" sz="132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4748B"/>
                </a:solidFill>
              </a:defRPr>
            </a:lvl1pPr>
          </a:lstStyle>
          <a:p>
            <a:pPr algn="l"/>
            <a:fld id="{F7021451-1387-4CA6-816F-3879F97B5CBC}" type="slidenum">
              <a:rPr lang="en-US" b="0"/>
              <a:t>39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6480</Words>
  <Application>Microsoft Office PowerPoint</Application>
  <PresentationFormat>Widescreen</PresentationFormat>
  <Paragraphs>675</Paragraphs>
  <Slides>39</Slides>
  <Notes>39</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39</vt:i4>
      </vt:variant>
    </vt:vector>
  </HeadingPairs>
  <TitlesOfParts>
    <vt:vector size="44" baseType="lpstr">
      <vt:lpstr>Aptos</vt:lpstr>
      <vt:lpstr>Aptos Display</vt:lpstr>
      <vt:lpstr>Arial</vt:lpstr>
      <vt:lpstr>Consolas</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Fluxo e características dos dados produzidos por sensores</dc:title>
  <dc:subject>Internet das Coisas - Fluxo e características dos dados produzidos por sensores</dc:subject>
  <dc:creator>OpenAI</dc:creator>
  <cp:lastModifiedBy>Elionai</cp:lastModifiedBy>
  <cp:revision>4</cp:revision>
  <dcterms:created xsi:type="dcterms:W3CDTF">2026-08-14T01:17:29Z</dcterms:created>
  <dcterms:modified xsi:type="dcterms:W3CDTF">2026-08-28T10:26:24Z</dcterms:modified>
</cp:coreProperties>
</file>