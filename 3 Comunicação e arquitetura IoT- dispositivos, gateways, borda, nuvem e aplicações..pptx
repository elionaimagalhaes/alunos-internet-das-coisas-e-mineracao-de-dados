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3097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Reconhecer o escopo da aula e a relação entre comunicação e arquitetura IoT.
Notas para a explicação do professor:
Comece conectando o tema com situações comuns: uma casa inteligente, uma fábrica conectada ou um campus com sensores. Explique IoT como Internet das Coisas: objetos físicos com capacidade de coletar dados, comunicar-se e apoiar ações. Reforce que a aula terá nível intermediário, portanto não ficará apenas nas definições.
Transição: Apresente a trilha da aula.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Identificar os blocos principais que serão estudados durante a aula.
Notas para a explicação do professor:
Explique que o roteiro foi pensado de forma progressiva. Primeiro, os alunos precisam entender como o dado nasce em um dispositivo; depois, como ele viaja; por fim, como vira informação útil em aplicações. Defina latência como o tempo de resposta entre um evento e uma ação.
Transição: Use o problema inicial para mostrar por que arquitetura importa.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Analisar um cenário simples para perceber que arquitetura afeta desempenho e confiabilidade.
Notas para a explicação do professor:
Desenvolva oralmente o cenário de uma sala de servidores ou laboratório. Antecipe o erro comum de pensar que todos os dados precisam ir direto para a nuvem. Mostre que decisões críticas podem ocorrer localmente para reduzir latência e depender menos da internet.
Transição: Explique a arquitetura de referência usada para organizar essa decisão.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Diferenciar os principais blocos de uma arquitetura IoT.
Notas para a explicação do professor:
Defina gateway como um equipamento ou software que conecta redes e protocolos diferentes. Defina borda, ou edge, como processamento próximo aos dispositivos. Mostre que a arquitetura não é apenas desenho; ela representa responsabilidades técnicas.
Transição: Aprofunde o primeiro bloco: os dispositivos.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Definir dispositivo IoT e relacionar seus componentes internos.
Notas para a explicação do professor:
Explique firmware como o software gravado no equipamento embarcado. Dê exemplos: sensor de presença, medidor de energia, fechadura inteligente e placa ESP32. Evite aprofundar código; o foco aqui é a função de cada componente na comunicação.
Transição: Mostre a diferença entre telemetria, evento e comando.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Diferenciar telemetria, evento, comando e estado em uma solução IoT.
Notas para a explicação do professor:
Use exemplos simples. Telemetria: temperatura a cada minuto. Evento: porta aberta. Comando: ligar ventilador. Estado: ventilador ligado ou desligado. Antecipe a confusão entre evento e telemetria: ambos são mensagens, mas evento indica uma ocorrência de interesse.
Transição: Explique como essas mensagens percorrem a rede.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Explicar o percurso típico de uma mensagem IoT.
Notas para a explicação do professor:
Explique mensagem como uma unidade de informação enviada entre sistemas. Relacione com programação para internet: assim como aplicações web trocam requisições, dispositivos trocam mensagens com serviços. Destaque que nem sempre existe gateway; depende da conectividade do dispositivo.
Transição: Apresente as topologias mais comuns.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Comparar topologias de rede comuns em soluções IoT.
Notas para a explicação do professor:
Explique topologia como a forma de organização dos nós na rede. Use analogia com sala de aula: estrela é falar com o professor; malha é passar recados entre colegas. Antecipe erro: malha não é sempre melhor; ela pode aumentar complexidade e consumo.
Transição: Mostre que cada topologia usa tecnologias diferentes.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Relacionar tecnologias locais com seus usos típicos em IoT.
Notas para a explicação do professor:
Defina BLE como Bluetooth Low Energy. Explique interoperabilidade como a capacidade de dispositivos de fabricantes diferentes funcionarem em conjunto. Use exemplos: lâmpadas inteligentes com Zigbee, wearable com BLE, câmera com Wi‑Fi. Evite dizer que uma tecnologia é universalmente superior.
Transição: Amplie para redes de longa distância.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Comparar tecnologias de conectividade para cenários de maior alcance.
Notas para a explicação do professor:
Defina LPWAN como rede de longa distância e baixa potência. Explique que maior alcance costuma vir com menor taxa de dados. Use exemplo de medidores urbanos ou sensores agrícolas. Reforce que conectividade deve ser escolhida pelo requisito do problema.
Transição: Conecte redes a protocolos de internet e aplicação.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Organizar tecnologias IoT por camadas de comunicação.
Notas para a explicação do professor:
Explique camada como uma responsabilidade técnica. Não é necessário entrar no modelo OSI completo. Defina TCP como transporte confiável orientado à conexão e UDP como transporte mais leve, sem a mesma garantia. Mostre que MQTT e HTTP geralmente usam TCP; CoAP foi projetado sobre UDP.
Transição: Introduza o gateway como ponto de integração.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Explicar o papel do gateway em uma arquitetura IoT.
Notas para a explicação do professor:
Defina gateway como ponte ou intermediário. Dê exemplo: sensores Zigbee enviam dados para um hub que publica na nuvem via MQTT. Antecipe erro: gateway não é apenas roteador de internet; ele pode executar lógica, segurança, filas e conversão de formatos.
Transição: Detalhe a tradução de protocolos.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Interpretar por que gateways frequentemente traduzem protocolos.
Notas para a explicação do professor:
Defina acoplamento como dependência forte entre partes do sistema. Use exemplo industrial: um CLP fala Modbus, mas a aplicação web consome uma API ou tópico MQTT. Explique que tradução também pode padronizar dados, nomes e unidades.
Transição: Mostre quando o processamento deve ocorrer na borda.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Definir computação de borda e reconhecer seus benefícios.
Notas para a explicação do professor:
Defina inferência como uso de um modelo ou regra para produzir uma conclusão. Exemplo: detectar vibração anormal de uma máquina sem enviar todos os dados brutos. Antecipe erro: borda não substitui totalmente a nuvem; ela complementa a arquitetura.
Transição: Compare borda e nuvem.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Comparar responsabilidades típicas da borda e da nuvem.
Notas para a explicação do professor:
Use uma comparação prática: câmera inteligente pode detectar movimento localmente e mandar à nuvem apenas evento e imagem selecionada. Explique escala como a capacidade de atender muitos dispositivos e usuários. Reforce que arquitetura é escolha baseada em requisitos.
Transição: Aprofunde o bloco da nuvem.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Descrever as funções de uma plataforma de nuvem IoT.
Notas para a explicação do professor:
Defina séries temporais como dados organizados por tempo, como temperatura por minuto. Explique roteamento como encaminhar mensagens para destinos específicos. Use analogia: a nuvem funciona como central de correio, armazém e painel de controle.
Transição: Mostre como aplicações consomem os dados.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Relacionar dados IoT a aplicações úteis para usuários e organizações.
Notas para a explicação do professor:
Explique dashboard como painel visual de acompanhamento. Cite exemplos: app de manutenção, sistema de energia, laboratório remoto. Antecipe erro: uma aplicação IoT não deve mostrar apenas dados crus; deve apoiar decisão.
Transição: Mostre o fluxo completo de ponta a ponta.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Ordenar as etapas de uma solução IoT ponta a ponta.
Notas para a explicação do professor:
Use o exemplo de climatização: medir temperatura, enviar ao gateway, processar regra, acionar ar-condicionado e registrar histórico. Reforce que cada etapa pode falhar e precisa ser observada. Essa visão ajuda os alunos a projetar soluções completas.
Transição: Introduza o modelo publish/subscribe.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Explicar o modelo publish/subscribe usado em muitas soluções IoT.
Notas para a explicação do professor:
Defina tópico como um endereço lógico de mensagens, por exemplo campus/blocoA/sala101/temperatura. Defina broker como o servidor intermediário. Dê o contraexemplo: sem broker, cada dispositivo teria que conhecer diretamente cada aplicação consumidora.
Transição: Mostre o protocolo MQTT como exemplo principal.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Identificar características básicas do MQTT em IoT.
Notas para a explicação do professor:
Explique que MQTT significa Message Queuing Telemetry Transport historicamente, mas hoje é tratado como padrão de mensagens IoT. Evite entrar em todos os campos do pacote. Destaque leveza, tópicos e broker. Relacione com programação web: é diferente de uma requisição HTTP tradicional.
Transição: Aprofunde tópicos e QoS.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Diferenciar tópicos MQTT e níveis de QoS.
Notas para a explicação do professor:
Defina QoS como Quality of Service, ou qualidade de serviço da entrega da mensagem. Antecipe erro: QoS maior não é sempre melhor; gera mais troca de mensagens e consumo. Use cenário: telemetria frequente pode usar QoS 0; comando crítico pode usar QoS 1 ou 2 conforme o projeto.
Transição: Compare com HTTP e CoAP.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Comparar HTTP e CoAP em aplicações IoT.
Notas para a explicação do professor:
Defina REST como um estilo de comunicação baseado em recursos, como /sensor/temperatura. Explique que HTTP é muito conhecido na internet, mas pode ser pesado para alguns dispositivos. CoAP tem proposta similar, porém mais compacto para ambientes restritos.
Transição: Mostre como representar o dispositivo digitalmente.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Definir gêmeo digital e estado reportado/desejado.
Notas para a explicação do professor:
Explique que gêmeo digital, neste contexto, não precisa ser uma simulação complexa 3D. Pode ser um documento com propriedades, status e configurações. Exemplo: lâmpada reporta ligada=false; aplicação define desejado ligada=true.
Transição: Apresente identidade e cadastro de dispositivos.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Relacionar identidade, autenticação e registro em IoT.
Notas para a explicação do professor:
Defina autenticação como provar quem é o dispositivo. Defina autorização como determinar o que ele pode fazer. Use analogia com login de usuário, mas reforce que dispositivos usam chaves, certificados ou tokens. Antecipe erro: não usar a mesma credencial para toda a frota.
Transição: Aprofunde segurança na comunicação.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Explicar controles básicos de segurança na comunicação IoT.
Notas para a explicação do professor:
Defina criptografia em trânsito como proteção durante o envio pela rede. Explique segredo como senha, chave ou token. Dê contraexemplo: firmware publicado em repositório com chave fixa. Reforce que segurança deve ser projetada desde o início.
Transição: Mostre segurança no ciclo de vida: atualização.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Explicar por que atualizações OTA são essenciais em IoT.
Notas para a explicação do professor:
Defina rollback como retorno à versão anterior. Explique que dispositivos ficam em campo por anos e podem estar longe fisicamente. Mostre riscos: atualização interrompida, pacote adulterado, falta de energia. Dê ênfase a assinatura, verificação e plano de recuperação.
Transição: Conecte atualização a gerenciamento de frota.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Descrever práticas de gerenciamento de muitos dispositivos IoT.
Notas para a explicação do professor:
Defina frota como conjunto de dispositivos gerenciados por uma organização. Explique localização lógica como sala, laboratório, setor ou máquina, não necessariamente GPS. Antecipe erro: protótipo com um dispositivo não revela complexidade de operar centenas.
Transição: Mostre observabilidade.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Identificar recursos de observabilidade para manter uma solução IoT saudável.
Notas para a explicação do professor:
Defina métrica como número acompanhado ao longo do tempo. Defina log como registro textual de eventos. Use exemplo: se o dashboard não atualiza, o problema pode estar no sensor, gateway, rede, broker, banco ou aplicação. Observabilidade ajuda a encontrar o ponto de falha.
Transição: Aborde escalabilidade e custo.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Avaliar impactos de volume de dados e crescimento da frota.
Notas para a explicação do professor:
Defina retenção como tempo de armazenamento de dados. Proponha cálculo simples oral: 100 sensores enviando a cada 10 segundos geram muito mais mensagens que 100 sensores enviando a cada 5 minutos. Reforce que a taxa de envio é decisão de arquitetura.
Transição: Traga privacidade e governança.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Relacionar arquitetura IoT a privacidade e governança.
Notas para a explicação do professor:
Explique governança como conjunto de regras para coletar, armazenar, acessar e descartar dados. Dê exemplo: sensor de presença pode revelar hábitos de uso de um espaço. Enfatize minimização de dados: coletar menos reduz risco e custo.
Transição: Mostre uma arquitetura de referência completa.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Montar mentalmente uma arquitetura IoT completa.
Notas para a explicação do professor:
Use este slide para sintetizar. Explique cache como armazenamento temporário para lidar com falhas ou atrasos. Reforce que segurança não é uma camada isolada no final; ela precisa aparecer em identidade, comunicação, armazenamento, atualização e aplicação.
Transição: Aplique a arquitetura em um estudo de caso.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Aplicar os blocos da arquitetura em um cenário industrial.
Notas para a explicação do professor:
Defina manutenção preditiva como tentativa de antecipar falhas antes da parada do equipamento. Explique que nem todos os dados brutos precisam ir à nuvem; a borda pode resumir, filtrar e enviar alertas. Discuta impacto profissional para engenharia da computação.
Transição: Aplique a outro cenário, mais próximo do cotidiano acadêmico.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Aplicar a arquitetura IoT em um cenário de campus inteligente.
Notas para a explicação do professor:
Mostre como um problema real de universidade pode ser resolvido com IoT. Use exemplos: desligar climatização de sala vazia, identificar laboratório com consumo anormal, mostrar ocupação de ambientes. Reforce privacidade ao falar de ocupação.
Transição: Mostre critérios para decidir a arquitetura.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Avaliar requisitos que orientam decisões em arquitetura IoT.
Notas para a explicação do professor:
Trabalhe como checklist. Para cada critério, peça um exemplo aos estudantes. Enfatize que requisitos podem entrar em conflito: enviar menos dados economiza custo, mas pode reduzir precisão analítica. Esse é um ponto importante de nível intermediário.
Transição: Transforme critérios em uma sequência de projeto.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Organizar uma sequência prática para projetar soluções IoT.
Notas para a explicação do professor:
Explique que protótipo não é apenas montar hardware; ele deve medir latência, perda de mensagens, consumo de energia e facilidade de manutenção. Antecipe erro: escolher tecnologia antes de entender o requisito. Primeiro vem o problema, depois a solução.
Transição: Prepare os alunos para a atividade.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Aplicar os conceitos projetando uma arquitetura IoT simples.
Notas para a explicação do professor:
Oriente os alunos a desenhar o fluxo em cinco etapas. Eles podem escolher Wi‑Fi, Zigbee ou BLE com gateway, desde que justifiquem. Peça que indiquem o que será processado localmente e o que irá para a nuvem. Circule pela sala para questionar latência, segurança e custo.
Transição: Depois da atividade, apresente um gabarito comentado possível.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Comparar a solução proposta com uma arquitetura coerente.
Notas para a explicação do professor:
Deixe claro que não existe uma única resposta correta. A coerência depende da justificativa. Comente alternativas: Wi‑Fi pode dispensar gateway, mas consome mais energia; Zigbee pode exigir gateway, mas favorece malha e baixo consumo. Reforce segurança e observabilidade como itens obrigatórios.
Transição: Finalize com síntese dos principais aprendizados.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Revisar os pontos centrais da aula em uma visão integrada.
Notas para a explicação do professor:
Retome o problema inicial e peça aos estudantes que indiquem onde cada decisão aparece na arquitetura. Reforce que o engenheiro precisa justificar escolhas, não apenas citar tecnologias. Faça conexão com futuras aulas práticas, protocolos e implementação.
Transição: Apresente referências para continuidade dos estudos.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 slide: Indicar fontes confiáveis para continuidade dos estudos.
Notas para a explicação do professor:
Explique que as referências foram selecionadas por serem documentação oficial ou institucional. Incentive a leitura por tema: protocolos, arquitetura, segurança e gêmeos digitais. Não é necessário estudar todos os documentos completos; o objetivo é saber onde consultar informação confiável.
Transição: Encerrar a aula e abrir para dúvidas.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earn.microsoft.com/en-us/azure/iot-hub/iot-concepts-and-iot-hub"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docs.aws.amazon.com/wellarchitected/latest/iot-lens/iot-edge-computing.html"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en-us/azure/iot-hub/iot-concepts-and-iot-hub"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en-us/azure/iot-hub/iot-hub-devguide-messages-construct"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n-us/azure/iot-hub/iot-concepts-and-iot-hub"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csa-iot.org/all-solutions/zigbee/"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lora-alliance.org/"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datatracker.ietf.org/doc/html/rfc7252"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docs.aws.amazon.com/wellarchitected/latest/iot-lens/iot-edge-computing.html"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mqtt.org/"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docs.aws.amazon.com/wellarchitected/latest/iot-lens/iot-edge-computing.html"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aws.amazon.com/greengrass/"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azure/iot-hub/iot-concepts-and-iot-hub"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learn.microsoft.com/en-us/azure/iot-hub/iot-hub-devguide-messages-construct"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mqtt.org/"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docs.oasis-open.org/mqtt/mqtt/v5.0/mqtt-v5.0.html"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mqtt.org/"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datatracker.ietf.org/doc/html/rfc7252"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eclipse.dev/ditto/intro-overview.html"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nist.gov/publications/iot-device-cybersecurity-capability-core-baseline"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owasp.org/www-project-internet-of-things/"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docs.aws.amazon.com/wellarchitected/latest/iot-lens/over-the-air-ota-updates.html"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learn.microsoft.com/en-us/azure/iot-hub-device-update/"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docs.aws.amazon.com/wellarchitected/latest/iot-lens/iot-edge-computing.html"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www.nist.gov/publications/iot-device-cybersecurity-capability-core-baseline"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aws.amazon.com/greengrass/"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docs.aws.amazon.com/wellarchitected/latest/iot-lens/iot-edge-computing.html"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https://learn.microsoft.com/en-us/azure/iot-hub/iot-concepts-and-iot-hub"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s://mqtt.org/" TargetMode="External"/><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Comunicação e arquitetura IoT</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Visão da aula</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Comunicação em IoT conecta sensores, gateways, borda, nuvem e aplicações.</a:t>
            </a:r>
            <a:endParaRPr lang="en-US" sz="2400" dirty="0"/>
          </a:p>
          <a:p>
            <a:pPr marL="0" indent="0">
              <a:buNone/>
            </a:pPr>
            <a:endParaRPr lang="en-US" sz="2400" dirty="0"/>
          </a:p>
          <a:p>
            <a:pPr marL="0" indent="0">
              <a:buNone/>
            </a:pPr>
            <a:r>
              <a:rPr lang="en-US" sz="2400" dirty="0">
                <a:solidFill>
                  <a:srgbClr val="172033"/>
                </a:solidFill>
              </a:rPr>
              <a:t>• A arquitetura define onde os dados são capturados, processados e usados.</a:t>
            </a:r>
            <a:endParaRPr lang="en-US" sz="2400" dirty="0"/>
          </a:p>
          <a:p>
            <a:pPr marL="0" indent="0">
              <a:buNone/>
            </a:pPr>
            <a:endParaRPr lang="en-US" sz="2400" dirty="0"/>
          </a:p>
          <a:p>
            <a:pPr marL="0" indent="0">
              <a:buNone/>
            </a:pPr>
            <a:r>
              <a:rPr lang="en-US" sz="2400" dirty="0">
                <a:solidFill>
                  <a:srgbClr val="172033"/>
                </a:solidFill>
              </a:rPr>
              <a:t>• O foco será entender decisões técnicas e seus impactos práticos.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Fluxo geral de uma solução IoT</a:t>
            </a:r>
            <a:endParaRPr lang="en-US" sz="1400" dirty="0"/>
          </a:p>
        </p:txBody>
      </p:sp>
      <p:sp>
        <p:nvSpPr>
          <p:cNvPr id="8" name="Text 6"/>
          <p:cNvSpPr/>
          <p:nvPr/>
        </p:nvSpPr>
        <p:spPr>
          <a:xfrm>
            <a:off x="7543800" y="1417320"/>
            <a:ext cx="4069080" cy="594360"/>
          </a:xfrm>
          <a:prstGeom prst="roundRect">
            <a:avLst>
              <a:gd name="adj" fmla="val 18462"/>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Dispositivo</a:t>
            </a:r>
            <a:endParaRPr lang="en-US" sz="1500" dirty="0"/>
          </a:p>
          <a:p>
            <a:pPr marL="0" indent="0" algn="ctr">
              <a:buNone/>
            </a:pPr>
            <a:r>
              <a:rPr lang="en-US" sz="1500" b="1" dirty="0">
                <a:solidFill>
                  <a:srgbClr val="0284C7"/>
                </a:solidFill>
              </a:rPr>
              <a:t>(sensor/atuador)</a:t>
            </a:r>
            <a:endParaRPr lang="en-US" sz="1500" dirty="0"/>
          </a:p>
        </p:txBody>
      </p:sp>
      <p:sp>
        <p:nvSpPr>
          <p:cNvPr id="9" name="Text 7"/>
          <p:cNvSpPr/>
          <p:nvPr/>
        </p:nvSpPr>
        <p:spPr>
          <a:xfrm>
            <a:off x="7543800" y="2240280"/>
            <a:ext cx="4069080" cy="594360"/>
          </a:xfrm>
          <a:prstGeom prst="roundRect">
            <a:avLst>
              <a:gd name="adj" fmla="val 18462"/>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Gateway</a:t>
            </a:r>
            <a:endParaRPr lang="en-US" sz="1500" dirty="0"/>
          </a:p>
          <a:p>
            <a:pPr marL="0" indent="0" algn="ctr">
              <a:buNone/>
            </a:pPr>
            <a:r>
              <a:rPr lang="en-US" sz="1500" b="1" dirty="0">
                <a:solidFill>
                  <a:srgbClr val="F97316"/>
                </a:solidFill>
              </a:rPr>
              <a:t>(concentra e traduz)</a:t>
            </a:r>
            <a:endParaRPr lang="en-US" sz="1500" dirty="0"/>
          </a:p>
        </p:txBody>
      </p:sp>
      <p:sp>
        <p:nvSpPr>
          <p:cNvPr id="10" name="Text 8"/>
          <p:cNvSpPr/>
          <p:nvPr/>
        </p:nvSpPr>
        <p:spPr>
          <a:xfrm>
            <a:off x="7543800" y="3063240"/>
            <a:ext cx="4069080" cy="594360"/>
          </a:xfrm>
          <a:prstGeom prst="roundRect">
            <a:avLst>
              <a:gd name="adj" fmla="val 18462"/>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 / Edge</a:t>
            </a:r>
            <a:endParaRPr lang="en-US" sz="1500" dirty="0"/>
          </a:p>
          <a:p>
            <a:pPr marL="0" indent="0" algn="ctr">
              <a:buNone/>
            </a:pPr>
            <a:r>
              <a:rPr lang="en-US" sz="1500" b="1" dirty="0">
                <a:solidFill>
                  <a:srgbClr val="10B981"/>
                </a:solidFill>
              </a:rPr>
              <a:t>(processa perto)</a:t>
            </a:r>
            <a:endParaRPr lang="en-US" sz="1500" dirty="0"/>
          </a:p>
        </p:txBody>
      </p:sp>
      <p:sp>
        <p:nvSpPr>
          <p:cNvPr id="11" name="Text 9"/>
          <p:cNvSpPr/>
          <p:nvPr/>
        </p:nvSpPr>
        <p:spPr>
          <a:xfrm>
            <a:off x="7543800" y="3886200"/>
            <a:ext cx="4069080" cy="594360"/>
          </a:xfrm>
          <a:prstGeom prst="roundRect">
            <a:avLst>
              <a:gd name="adj" fmla="val 18462"/>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(escala e armazena)</a:t>
            </a:r>
            <a:endParaRPr lang="en-US" sz="1500" dirty="0"/>
          </a:p>
        </p:txBody>
      </p:sp>
      <p:sp>
        <p:nvSpPr>
          <p:cNvPr id="12" name="Text 10"/>
          <p:cNvSpPr/>
          <p:nvPr/>
        </p:nvSpPr>
        <p:spPr>
          <a:xfrm>
            <a:off x="7543800" y="4709160"/>
            <a:ext cx="4069080" cy="594360"/>
          </a:xfrm>
          <a:prstGeom prst="roundRect">
            <a:avLst>
              <a:gd name="adj" fmla="val 18462"/>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Aplicações</a:t>
            </a:r>
            <a:endParaRPr lang="en-US" sz="1500" dirty="0"/>
          </a:p>
          <a:p>
            <a:pPr marL="0" indent="0" algn="ctr">
              <a:buNone/>
            </a:pPr>
            <a:r>
              <a:rPr lang="en-US" sz="1500" b="1" dirty="0">
                <a:solidFill>
                  <a:srgbClr val="CA8A04"/>
                </a:solidFill>
              </a:rPr>
              <a:t>(decisão e ação)</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Microsoft Learn — Azure IoT Hub</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Roteiro da aula</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Sequência pedagógica</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Fundamentos: dados, mensagens e camadas.</a:t>
            </a:r>
            <a:endParaRPr lang="en-US" sz="2400" dirty="0"/>
          </a:p>
          <a:p>
            <a:pPr marL="0" indent="0">
              <a:buNone/>
            </a:pPr>
            <a:endParaRPr lang="en-US" sz="2400" dirty="0"/>
          </a:p>
          <a:p>
            <a:pPr marL="0" indent="0">
              <a:buNone/>
            </a:pPr>
            <a:r>
              <a:rPr lang="en-US" sz="2400" dirty="0">
                <a:solidFill>
                  <a:srgbClr val="172033"/>
                </a:solidFill>
              </a:rPr>
              <a:t>• Comunicação: redes, protocolos e padrões.</a:t>
            </a:r>
            <a:endParaRPr lang="en-US" sz="2400" dirty="0"/>
          </a:p>
          <a:p>
            <a:pPr marL="0" indent="0">
              <a:buNone/>
            </a:pPr>
            <a:endParaRPr lang="en-US" sz="2400" dirty="0"/>
          </a:p>
          <a:p>
            <a:pPr marL="0" indent="0">
              <a:buNone/>
            </a:pPr>
            <a:r>
              <a:rPr lang="en-US" sz="2400" dirty="0">
                <a:solidFill>
                  <a:srgbClr val="172033"/>
                </a:solidFill>
              </a:rPr>
              <a:t>• Arquitetura: dispositivo, gateway, borda, nuvem e aplicação.</a:t>
            </a:r>
            <a:endParaRPr lang="en-US" sz="2400" dirty="0"/>
          </a:p>
          <a:p>
            <a:pPr marL="0" indent="0">
              <a:buNone/>
            </a:pPr>
            <a:endParaRPr lang="en-US" sz="2400" dirty="0"/>
          </a:p>
          <a:p>
            <a:pPr marL="0" indent="0">
              <a:buNone/>
            </a:pPr>
            <a:r>
              <a:rPr lang="en-US" sz="2400" dirty="0">
                <a:solidFill>
                  <a:srgbClr val="172033"/>
                </a:solidFill>
              </a:rPr>
              <a:t>• Decisões: latência, custo, segurança e escalabilidade.</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Arquitetura em camadas</a:t>
            </a:r>
            <a:endParaRPr lang="en-US" sz="1400" dirty="0"/>
          </a:p>
        </p:txBody>
      </p:sp>
      <p:sp>
        <p:nvSpPr>
          <p:cNvPr id="8" name="Text 6"/>
          <p:cNvSpPr/>
          <p:nvPr/>
        </p:nvSpPr>
        <p:spPr>
          <a:xfrm>
            <a:off x="7543800" y="1325880"/>
            <a:ext cx="4069080" cy="530352"/>
          </a:xfrm>
          <a:prstGeom prst="roundRect">
            <a:avLst>
              <a:gd name="adj" fmla="val 20690"/>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Aplicação</a:t>
            </a:r>
            <a:endParaRPr lang="en-US" sz="1500" dirty="0"/>
          </a:p>
          <a:p>
            <a:pPr marL="0" indent="0" algn="ctr">
              <a:buNone/>
            </a:pPr>
            <a:r>
              <a:rPr lang="en-US" sz="1500" b="1" dirty="0">
                <a:solidFill>
                  <a:srgbClr val="CA8A04"/>
                </a:solidFill>
              </a:rPr>
              <a:t>dashboards, alertas, APIs</a:t>
            </a:r>
            <a:endParaRPr lang="en-US" sz="1500" dirty="0"/>
          </a:p>
        </p:txBody>
      </p:sp>
      <p:sp>
        <p:nvSpPr>
          <p:cNvPr id="9" name="Text 7"/>
          <p:cNvSpPr/>
          <p:nvPr/>
        </p:nvSpPr>
        <p:spPr>
          <a:xfrm>
            <a:off x="7543800" y="2075688"/>
            <a:ext cx="4069080" cy="530352"/>
          </a:xfrm>
          <a:prstGeom prst="roundRect">
            <a:avLst>
              <a:gd name="adj" fmla="val 2069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ingestão, banco, análise</a:t>
            </a:r>
            <a:endParaRPr lang="en-US" sz="1500" dirty="0"/>
          </a:p>
        </p:txBody>
      </p:sp>
      <p:sp>
        <p:nvSpPr>
          <p:cNvPr id="10" name="Text 8"/>
          <p:cNvSpPr/>
          <p:nvPr/>
        </p:nvSpPr>
        <p:spPr>
          <a:xfrm>
            <a:off x="7543800" y="2825496"/>
            <a:ext cx="4069080" cy="530352"/>
          </a:xfrm>
          <a:prstGeom prst="roundRect">
            <a:avLst>
              <a:gd name="adj" fmla="val 2069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Borda/Gateway</a:t>
            </a:r>
            <a:endParaRPr lang="en-US" sz="1500" dirty="0"/>
          </a:p>
          <a:p>
            <a:pPr marL="0" indent="0" algn="ctr">
              <a:buNone/>
            </a:pPr>
            <a:r>
              <a:rPr lang="en-US" sz="1500" b="1" dirty="0">
                <a:solidFill>
                  <a:srgbClr val="10B981"/>
                </a:solidFill>
              </a:rPr>
              <a:t>filtro, protocolo, resposta local</a:t>
            </a:r>
            <a:endParaRPr lang="en-US" sz="1500" dirty="0"/>
          </a:p>
        </p:txBody>
      </p:sp>
      <p:sp>
        <p:nvSpPr>
          <p:cNvPr id="11" name="Text 9"/>
          <p:cNvSpPr/>
          <p:nvPr/>
        </p:nvSpPr>
        <p:spPr>
          <a:xfrm>
            <a:off x="7543800" y="3575304"/>
            <a:ext cx="4069080" cy="530352"/>
          </a:xfrm>
          <a:prstGeom prst="roundRect">
            <a:avLst>
              <a:gd name="adj" fmla="val 20690"/>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Comunicação</a:t>
            </a:r>
            <a:endParaRPr lang="en-US" sz="1500" dirty="0"/>
          </a:p>
          <a:p>
            <a:pPr marL="0" indent="0" algn="ctr">
              <a:buNone/>
            </a:pPr>
            <a:r>
              <a:rPr lang="en-US" sz="1500" b="1" dirty="0">
                <a:solidFill>
                  <a:srgbClr val="F97316"/>
                </a:solidFill>
              </a:rPr>
              <a:t>Wi-Fi, Ethernet, 4G/5G, LPWAN</a:t>
            </a:r>
            <a:endParaRPr lang="en-US" sz="1500" dirty="0"/>
          </a:p>
        </p:txBody>
      </p:sp>
      <p:sp>
        <p:nvSpPr>
          <p:cNvPr id="12" name="Text 10"/>
          <p:cNvSpPr/>
          <p:nvPr/>
        </p:nvSpPr>
        <p:spPr>
          <a:xfrm>
            <a:off x="7543800" y="4325112"/>
            <a:ext cx="4069080" cy="530352"/>
          </a:xfrm>
          <a:prstGeom prst="roundRect">
            <a:avLst>
              <a:gd name="adj" fmla="val 2069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Dispositivos</a:t>
            </a:r>
            <a:endParaRPr lang="en-US" sz="1500" dirty="0"/>
          </a:p>
          <a:p>
            <a:pPr marL="0" indent="0" algn="ctr">
              <a:buNone/>
            </a:pPr>
            <a:r>
              <a:rPr lang="en-US" sz="1500" b="1" dirty="0">
                <a:solidFill>
                  <a:srgbClr val="0284C7"/>
                </a:solidFill>
              </a:rPr>
              <a:t>sensores, atuadores, firmware</a:t>
            </a:r>
            <a:endParaRPr lang="en-US" sz="150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Problema inicial: monitoramento inteligente</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Por que arquitetura importa?</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Um sensor mede temperatura a cada 10 segundos.</a:t>
            </a:r>
            <a:endParaRPr lang="en-US" sz="2400" dirty="0"/>
          </a:p>
          <a:p>
            <a:pPr marL="0" indent="0">
              <a:buNone/>
            </a:pPr>
            <a:endParaRPr lang="en-US" sz="2400" dirty="0"/>
          </a:p>
          <a:p>
            <a:pPr marL="0" indent="0">
              <a:buNone/>
            </a:pPr>
            <a:r>
              <a:rPr lang="en-US" sz="2400" dirty="0">
                <a:solidFill>
                  <a:srgbClr val="172033"/>
                </a:solidFill>
              </a:rPr>
              <a:t>• Se a temperatura subir muito, um alerta deve chegar rápido.</a:t>
            </a:r>
            <a:endParaRPr lang="en-US" sz="2400" dirty="0"/>
          </a:p>
          <a:p>
            <a:pPr marL="0" indent="0">
              <a:buNone/>
            </a:pPr>
            <a:endParaRPr lang="en-US" sz="2400" dirty="0"/>
          </a:p>
          <a:p>
            <a:pPr marL="0" indent="0">
              <a:buNone/>
            </a:pPr>
            <a:r>
              <a:rPr lang="en-US" sz="2400" dirty="0">
                <a:solidFill>
                  <a:srgbClr val="172033"/>
                </a:solidFill>
              </a:rPr>
              <a:t>• A rede pode falhar e a nuvem pode ficar indisponível.</a:t>
            </a:r>
            <a:endParaRPr lang="en-US" sz="2400" dirty="0"/>
          </a:p>
          <a:p>
            <a:pPr marL="0" indent="0">
              <a:buNone/>
            </a:pPr>
            <a:endParaRPr lang="en-US" sz="2400" dirty="0"/>
          </a:p>
          <a:p>
            <a:pPr marL="0" indent="0">
              <a:buNone/>
            </a:pPr>
            <a:r>
              <a:rPr lang="en-US" sz="2400" dirty="0">
                <a:solidFill>
                  <a:srgbClr val="172033"/>
                </a:solidFill>
              </a:rPr>
              <a:t>• Onde processar a decisão: dispositivo, borda ou nuvem?</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Escolha arquitetural</a:t>
            </a:r>
            <a:endParaRPr lang="en-US" sz="1400" dirty="0"/>
          </a:p>
        </p:txBody>
      </p:sp>
      <p:sp>
        <p:nvSpPr>
          <p:cNvPr id="8" name="Text 6"/>
          <p:cNvSpPr/>
          <p:nvPr/>
        </p:nvSpPr>
        <p:spPr>
          <a:xfrm>
            <a:off x="7635240" y="1463040"/>
            <a:ext cx="3886200" cy="594360"/>
          </a:xfrm>
          <a:prstGeom prst="roundRect">
            <a:avLst>
              <a:gd name="adj" fmla="val 18462"/>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Precisa de resposta &lt; 1s?</a:t>
            </a:r>
            <a:endParaRPr lang="en-US" sz="1500" dirty="0"/>
          </a:p>
        </p:txBody>
      </p:sp>
      <p:sp>
        <p:nvSpPr>
          <p:cNvPr id="9" name="Text 7"/>
          <p:cNvSpPr/>
          <p:nvPr/>
        </p:nvSpPr>
        <p:spPr>
          <a:xfrm>
            <a:off x="7589520" y="2926080"/>
            <a:ext cx="1874520" cy="685800"/>
          </a:xfrm>
          <a:prstGeom prst="roundRect">
            <a:avLst>
              <a:gd name="adj" fmla="val 1600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Sim:</a:t>
            </a:r>
            <a:endParaRPr lang="en-US" sz="1500" dirty="0"/>
          </a:p>
          <a:p>
            <a:pPr marL="0" indent="0" algn="ctr">
              <a:buNone/>
            </a:pPr>
            <a:r>
              <a:rPr lang="en-US" sz="1500" b="1" dirty="0">
                <a:solidFill>
                  <a:srgbClr val="10B981"/>
                </a:solidFill>
              </a:rPr>
              <a:t>processar na borda</a:t>
            </a:r>
            <a:endParaRPr lang="en-US" sz="1500" dirty="0"/>
          </a:p>
        </p:txBody>
      </p:sp>
      <p:sp>
        <p:nvSpPr>
          <p:cNvPr id="10" name="Text 8"/>
          <p:cNvSpPr/>
          <p:nvPr/>
        </p:nvSpPr>
        <p:spPr>
          <a:xfrm>
            <a:off x="9921240" y="2926080"/>
            <a:ext cx="1874520" cy="685800"/>
          </a:xfrm>
          <a:prstGeom prst="roundRect">
            <a:avLst>
              <a:gd name="adj" fmla="val 1600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Não:</a:t>
            </a:r>
            <a:endParaRPr lang="en-US" sz="1500" dirty="0"/>
          </a:p>
          <a:p>
            <a:pPr marL="0" indent="0" algn="ctr">
              <a:buNone/>
            </a:pPr>
            <a:r>
              <a:rPr lang="en-US" sz="1500" b="1" dirty="0">
                <a:solidFill>
                  <a:srgbClr val="7C3AED"/>
                </a:solidFill>
              </a:rPr>
              <a:t>enviar à nuvem</a:t>
            </a:r>
            <a:endParaRPr lang="en-US" sz="1500" dirty="0"/>
          </a:p>
        </p:txBody>
      </p:sp>
      <p:sp>
        <p:nvSpPr>
          <p:cNvPr id="11" name="Text 9"/>
          <p:cNvSpPr/>
          <p:nvPr/>
        </p:nvSpPr>
        <p:spPr>
          <a:xfrm>
            <a:off x="7635240" y="4206240"/>
            <a:ext cx="3886200" cy="731520"/>
          </a:xfrm>
          <a:prstGeom prst="roundRect">
            <a:avLst>
              <a:gd name="adj" fmla="val 1500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Combine quando houver custo, privacidade ou instabilidade de rede.</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AWS Well-Architected — IoT Edge</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Arquitetura IoT em visão geral</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Blocos funcionais</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Dispositivos capturam dados ou executam ações.</a:t>
            </a:r>
            <a:endParaRPr lang="en-US" sz="2400" dirty="0"/>
          </a:p>
          <a:p>
            <a:pPr marL="0" indent="0">
              <a:buNone/>
            </a:pPr>
            <a:endParaRPr lang="en-US" sz="2400" dirty="0"/>
          </a:p>
          <a:p>
            <a:pPr marL="0" indent="0">
              <a:buNone/>
            </a:pPr>
            <a:r>
              <a:rPr lang="en-US" sz="2400" dirty="0">
                <a:solidFill>
                  <a:srgbClr val="172033"/>
                </a:solidFill>
              </a:rPr>
              <a:t>• Gateways conectam redes locais à internet.</a:t>
            </a:r>
            <a:endParaRPr lang="en-US" sz="2400" dirty="0"/>
          </a:p>
          <a:p>
            <a:pPr marL="0" indent="0">
              <a:buNone/>
            </a:pPr>
            <a:endParaRPr lang="en-US" sz="2400" dirty="0"/>
          </a:p>
          <a:p>
            <a:pPr marL="0" indent="0">
              <a:buNone/>
            </a:pPr>
            <a:r>
              <a:rPr lang="en-US" sz="2400" dirty="0">
                <a:solidFill>
                  <a:srgbClr val="172033"/>
                </a:solidFill>
              </a:rPr>
              <a:t>• Borda processa dados perto da origem.</a:t>
            </a:r>
            <a:endParaRPr lang="en-US" sz="2400" dirty="0"/>
          </a:p>
          <a:p>
            <a:pPr marL="0" indent="0">
              <a:buNone/>
            </a:pPr>
            <a:endParaRPr lang="en-US" sz="2400" dirty="0"/>
          </a:p>
          <a:p>
            <a:pPr marL="0" indent="0">
              <a:buNone/>
            </a:pPr>
            <a:r>
              <a:rPr lang="en-US" sz="2400" dirty="0">
                <a:solidFill>
                  <a:srgbClr val="172033"/>
                </a:solidFill>
              </a:rPr>
              <a:t>• Nuvem armazena, integra e escala serviços.</a:t>
            </a:r>
            <a:endParaRPr lang="en-US" sz="2400" dirty="0"/>
          </a:p>
          <a:p>
            <a:pPr marL="0" indent="0">
              <a:buNone/>
            </a:pPr>
            <a:endParaRPr lang="en-US" sz="2400" dirty="0"/>
          </a:p>
          <a:p>
            <a:pPr marL="0" indent="0">
              <a:buNone/>
            </a:pPr>
            <a:r>
              <a:rPr lang="en-US" sz="2400" dirty="0">
                <a:solidFill>
                  <a:srgbClr val="172033"/>
                </a:solidFill>
              </a:rPr>
              <a:t>• Aplicações entregam valor ao usuário.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Fluxo geral de uma solução IoT</a:t>
            </a:r>
            <a:endParaRPr lang="en-US" sz="1400" dirty="0"/>
          </a:p>
        </p:txBody>
      </p:sp>
      <p:sp>
        <p:nvSpPr>
          <p:cNvPr id="8" name="Text 6"/>
          <p:cNvSpPr/>
          <p:nvPr/>
        </p:nvSpPr>
        <p:spPr>
          <a:xfrm>
            <a:off x="7543800" y="1417320"/>
            <a:ext cx="4069080" cy="594360"/>
          </a:xfrm>
          <a:prstGeom prst="roundRect">
            <a:avLst>
              <a:gd name="adj" fmla="val 18462"/>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Dispositivo</a:t>
            </a:r>
            <a:endParaRPr lang="en-US" sz="1500" dirty="0"/>
          </a:p>
          <a:p>
            <a:pPr marL="0" indent="0" algn="ctr">
              <a:buNone/>
            </a:pPr>
            <a:r>
              <a:rPr lang="en-US" sz="1500" b="1" dirty="0">
                <a:solidFill>
                  <a:srgbClr val="0284C7"/>
                </a:solidFill>
              </a:rPr>
              <a:t>(sensor/atuador)</a:t>
            </a:r>
            <a:endParaRPr lang="en-US" sz="1500" dirty="0"/>
          </a:p>
        </p:txBody>
      </p:sp>
      <p:sp>
        <p:nvSpPr>
          <p:cNvPr id="9" name="Text 7"/>
          <p:cNvSpPr/>
          <p:nvPr/>
        </p:nvSpPr>
        <p:spPr>
          <a:xfrm>
            <a:off x="7543800" y="2240280"/>
            <a:ext cx="4069080" cy="594360"/>
          </a:xfrm>
          <a:prstGeom prst="roundRect">
            <a:avLst>
              <a:gd name="adj" fmla="val 18462"/>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Gateway</a:t>
            </a:r>
            <a:endParaRPr lang="en-US" sz="1500" dirty="0"/>
          </a:p>
          <a:p>
            <a:pPr marL="0" indent="0" algn="ctr">
              <a:buNone/>
            </a:pPr>
            <a:r>
              <a:rPr lang="en-US" sz="1500" b="1" dirty="0">
                <a:solidFill>
                  <a:srgbClr val="F97316"/>
                </a:solidFill>
              </a:rPr>
              <a:t>(concentra e traduz)</a:t>
            </a:r>
            <a:endParaRPr lang="en-US" sz="1500" dirty="0"/>
          </a:p>
        </p:txBody>
      </p:sp>
      <p:sp>
        <p:nvSpPr>
          <p:cNvPr id="10" name="Text 8"/>
          <p:cNvSpPr/>
          <p:nvPr/>
        </p:nvSpPr>
        <p:spPr>
          <a:xfrm>
            <a:off x="7543800" y="3063240"/>
            <a:ext cx="4069080" cy="594360"/>
          </a:xfrm>
          <a:prstGeom prst="roundRect">
            <a:avLst>
              <a:gd name="adj" fmla="val 18462"/>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 / Edge</a:t>
            </a:r>
            <a:endParaRPr lang="en-US" sz="1500" dirty="0"/>
          </a:p>
          <a:p>
            <a:pPr marL="0" indent="0" algn="ctr">
              <a:buNone/>
            </a:pPr>
            <a:r>
              <a:rPr lang="en-US" sz="1500" b="1" dirty="0">
                <a:solidFill>
                  <a:srgbClr val="10B981"/>
                </a:solidFill>
              </a:rPr>
              <a:t>(processa perto)</a:t>
            </a:r>
            <a:endParaRPr lang="en-US" sz="1500" dirty="0"/>
          </a:p>
        </p:txBody>
      </p:sp>
      <p:sp>
        <p:nvSpPr>
          <p:cNvPr id="11" name="Text 9"/>
          <p:cNvSpPr/>
          <p:nvPr/>
        </p:nvSpPr>
        <p:spPr>
          <a:xfrm>
            <a:off x="7543800" y="3886200"/>
            <a:ext cx="4069080" cy="594360"/>
          </a:xfrm>
          <a:prstGeom prst="roundRect">
            <a:avLst>
              <a:gd name="adj" fmla="val 18462"/>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(escala e armazena)</a:t>
            </a:r>
            <a:endParaRPr lang="en-US" sz="1500" dirty="0"/>
          </a:p>
        </p:txBody>
      </p:sp>
      <p:sp>
        <p:nvSpPr>
          <p:cNvPr id="12" name="Text 10"/>
          <p:cNvSpPr/>
          <p:nvPr/>
        </p:nvSpPr>
        <p:spPr>
          <a:xfrm>
            <a:off x="7543800" y="4709160"/>
            <a:ext cx="4069080" cy="594360"/>
          </a:xfrm>
          <a:prstGeom prst="roundRect">
            <a:avLst>
              <a:gd name="adj" fmla="val 18462"/>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Aplicações</a:t>
            </a:r>
            <a:endParaRPr lang="en-US" sz="1500" dirty="0"/>
          </a:p>
          <a:p>
            <a:pPr marL="0" indent="0" algn="ctr">
              <a:buNone/>
            </a:pPr>
            <a:r>
              <a:rPr lang="en-US" sz="1500" b="1" dirty="0">
                <a:solidFill>
                  <a:srgbClr val="CA8A04"/>
                </a:solidFill>
              </a:rPr>
              <a:t>(decisão e ação)</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Microsoft Learn — Azure IoT Hub</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Dispositivos IoT</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Origem dos dados</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Dispositivo IoT é um objeto físico com hardware, software e conectividade.</a:t>
            </a:r>
            <a:endParaRPr lang="en-US" sz="2400" dirty="0"/>
          </a:p>
          <a:p>
            <a:pPr marL="0" indent="0">
              <a:buNone/>
            </a:pPr>
            <a:endParaRPr lang="en-US" sz="2400" dirty="0"/>
          </a:p>
          <a:p>
            <a:pPr marL="0" indent="0">
              <a:buNone/>
            </a:pPr>
            <a:r>
              <a:rPr lang="en-US" sz="2400" dirty="0">
                <a:solidFill>
                  <a:srgbClr val="172033"/>
                </a:solidFill>
              </a:rPr>
              <a:t>• Sensores transformam fenômenos físicos em dados digitais.</a:t>
            </a:r>
            <a:endParaRPr lang="en-US" sz="2400" dirty="0"/>
          </a:p>
          <a:p>
            <a:pPr marL="0" indent="0">
              <a:buNone/>
            </a:pPr>
            <a:endParaRPr lang="en-US" sz="2400" dirty="0"/>
          </a:p>
          <a:p>
            <a:pPr marL="0" indent="0">
              <a:buNone/>
            </a:pPr>
            <a:r>
              <a:rPr lang="en-US" sz="2400" dirty="0">
                <a:solidFill>
                  <a:srgbClr val="172033"/>
                </a:solidFill>
              </a:rPr>
              <a:t>• Atuadores executam ações no ambiente.</a:t>
            </a:r>
            <a:endParaRPr lang="en-US" sz="2400" dirty="0"/>
          </a:p>
          <a:p>
            <a:pPr marL="0" indent="0">
              <a:buNone/>
            </a:pPr>
            <a:endParaRPr lang="en-US" sz="2400" dirty="0"/>
          </a:p>
          <a:p>
            <a:pPr marL="0" indent="0">
              <a:buNone/>
            </a:pPr>
            <a:r>
              <a:rPr lang="en-US" sz="2400" dirty="0">
                <a:solidFill>
                  <a:srgbClr val="172033"/>
                </a:solidFill>
              </a:rPr>
              <a:t>• Firmware controla leitura, comunicação e energia.</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Dentro de um dispositivo IoT</a:t>
            </a:r>
            <a:endParaRPr lang="en-US" sz="1400" dirty="0"/>
          </a:p>
        </p:txBody>
      </p:sp>
      <p:sp>
        <p:nvSpPr>
          <p:cNvPr id="8" name="Text 6"/>
          <p:cNvSpPr/>
          <p:nvPr/>
        </p:nvSpPr>
        <p:spPr>
          <a:xfrm>
            <a:off x="7543800" y="1920240"/>
            <a:ext cx="1325880" cy="594360"/>
          </a:xfrm>
          <a:prstGeom prst="roundRect">
            <a:avLst/>
          </a:prstGeom>
          <a:solidFill>
            <a:srgbClr val="E0F2FE"/>
          </a:solidFill>
          <a:ln>
            <a:solidFill>
              <a:srgbClr val="0284C7"/>
            </a:solidFill>
          </a:ln>
        </p:spPr>
        <p:txBody>
          <a:bodyPr wrap="square" lIns="508" tIns="508" rIns="508" bIns="508" rtlCol="0" anchor="ctr">
            <a:normAutofit/>
          </a:bodyPr>
          <a:lstStyle/>
          <a:p>
            <a:pPr marL="0" indent="0" algn="ctr">
              <a:buNone/>
            </a:pPr>
            <a:r>
              <a:rPr lang="en-US" sz="1200" b="1" dirty="0">
                <a:solidFill>
                  <a:srgbClr val="0284C7"/>
                </a:solidFill>
              </a:rPr>
              <a:t>Sensor</a:t>
            </a:r>
            <a:endParaRPr lang="en-US" sz="1200" dirty="0"/>
          </a:p>
        </p:txBody>
      </p:sp>
      <p:sp>
        <p:nvSpPr>
          <p:cNvPr id="9" name="Text 7"/>
          <p:cNvSpPr/>
          <p:nvPr/>
        </p:nvSpPr>
        <p:spPr>
          <a:xfrm>
            <a:off x="9098280" y="1691640"/>
            <a:ext cx="1600200" cy="1051560"/>
          </a:xfrm>
          <a:prstGeom prst="roundRect">
            <a:avLst/>
          </a:prstGeom>
          <a:solidFill>
            <a:srgbClr val="DCFCE7"/>
          </a:solidFill>
          <a:ln>
            <a:solidFill>
              <a:srgbClr val="10B981"/>
            </a:solidFill>
          </a:ln>
        </p:spPr>
        <p:txBody>
          <a:bodyPr wrap="square" lIns="508" tIns="508" rIns="508" bIns="508" rtlCol="0" anchor="ctr">
            <a:normAutofit/>
          </a:bodyPr>
          <a:lstStyle/>
          <a:p>
            <a:pPr marL="0" indent="0" algn="ctr">
              <a:buNone/>
            </a:pPr>
            <a:r>
              <a:rPr lang="en-US" sz="1200" b="1" dirty="0">
                <a:solidFill>
                  <a:srgbClr val="10B981"/>
                </a:solidFill>
              </a:rPr>
              <a:t>MCU / Firmware</a:t>
            </a:r>
            <a:endParaRPr lang="en-US" sz="1200" dirty="0"/>
          </a:p>
        </p:txBody>
      </p:sp>
      <p:sp>
        <p:nvSpPr>
          <p:cNvPr id="10" name="Text 8"/>
          <p:cNvSpPr/>
          <p:nvPr/>
        </p:nvSpPr>
        <p:spPr>
          <a:xfrm>
            <a:off x="10927080" y="1920240"/>
            <a:ext cx="868680" cy="594360"/>
          </a:xfrm>
          <a:prstGeom prst="roundRect">
            <a:avLst/>
          </a:prstGeom>
          <a:solidFill>
            <a:srgbClr val="FFEDD5"/>
          </a:solidFill>
          <a:ln>
            <a:solidFill>
              <a:srgbClr val="F97316"/>
            </a:solidFill>
          </a:ln>
        </p:spPr>
        <p:txBody>
          <a:bodyPr wrap="square" lIns="508" tIns="508" rIns="508" bIns="508" rtlCol="0" anchor="ctr">
            <a:normAutofit/>
          </a:bodyPr>
          <a:lstStyle/>
          <a:p>
            <a:pPr marL="0" indent="0" algn="ctr">
              <a:buNone/>
            </a:pPr>
            <a:r>
              <a:rPr lang="en-US" sz="1200" b="1" dirty="0">
                <a:solidFill>
                  <a:srgbClr val="F97316"/>
                </a:solidFill>
              </a:rPr>
              <a:t>Rádio / Rede</a:t>
            </a:r>
            <a:endParaRPr lang="en-US" sz="1200" dirty="0"/>
          </a:p>
        </p:txBody>
      </p:sp>
      <p:sp>
        <p:nvSpPr>
          <p:cNvPr id="11" name="Text 9"/>
          <p:cNvSpPr/>
          <p:nvPr/>
        </p:nvSpPr>
        <p:spPr>
          <a:xfrm>
            <a:off x="7543800" y="3429000"/>
            <a:ext cx="1325880" cy="594360"/>
          </a:xfrm>
          <a:prstGeom prst="roundRect">
            <a:avLst/>
          </a:prstGeom>
          <a:solidFill>
            <a:srgbClr val="FEF9C3"/>
          </a:solidFill>
          <a:ln>
            <a:solidFill>
              <a:srgbClr val="CA8A04"/>
            </a:solidFill>
          </a:ln>
        </p:spPr>
        <p:txBody>
          <a:bodyPr wrap="square" lIns="508" tIns="508" rIns="508" bIns="508" rtlCol="0" anchor="ctr">
            <a:normAutofit/>
          </a:bodyPr>
          <a:lstStyle/>
          <a:p>
            <a:pPr marL="0" indent="0" algn="ctr">
              <a:buNone/>
            </a:pPr>
            <a:r>
              <a:rPr lang="en-US" sz="1200" b="1" dirty="0">
                <a:solidFill>
                  <a:srgbClr val="CA8A04"/>
                </a:solidFill>
              </a:rPr>
              <a:t>Energia</a:t>
            </a:r>
            <a:endParaRPr lang="en-US" sz="1200" dirty="0"/>
          </a:p>
        </p:txBody>
      </p:sp>
      <p:sp>
        <p:nvSpPr>
          <p:cNvPr id="12" name="Text 10"/>
          <p:cNvSpPr/>
          <p:nvPr/>
        </p:nvSpPr>
        <p:spPr>
          <a:xfrm>
            <a:off x="10469880" y="3429000"/>
            <a:ext cx="1325880" cy="594360"/>
          </a:xfrm>
          <a:prstGeom prst="roundRect">
            <a:avLst/>
          </a:prstGeom>
          <a:solidFill>
            <a:srgbClr val="EDE9FE"/>
          </a:solidFill>
          <a:ln>
            <a:solidFill>
              <a:srgbClr val="7C3AED"/>
            </a:solidFill>
          </a:ln>
        </p:spPr>
        <p:txBody>
          <a:bodyPr wrap="square" lIns="508" tIns="508" rIns="508" bIns="508" rtlCol="0" anchor="ctr">
            <a:normAutofit/>
          </a:bodyPr>
          <a:lstStyle/>
          <a:p>
            <a:pPr marL="0" indent="0" algn="ctr">
              <a:buNone/>
            </a:pPr>
            <a:r>
              <a:rPr lang="en-US" sz="1200" b="1" dirty="0">
                <a:solidFill>
                  <a:srgbClr val="7C3AED"/>
                </a:solidFill>
              </a:rPr>
              <a:t>Atuador</a:t>
            </a:r>
            <a:endParaRPr lang="en-US" sz="120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Dados em IoT: telemetria, evento e comando</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Tipos de mensagens</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Telemetria: leitura periódica do estado do dispositivo.</a:t>
            </a:r>
            <a:endParaRPr lang="en-US" sz="2400" dirty="0"/>
          </a:p>
          <a:p>
            <a:pPr marL="0" indent="0">
              <a:buNone/>
            </a:pPr>
            <a:endParaRPr lang="en-US" sz="2400" dirty="0"/>
          </a:p>
          <a:p>
            <a:pPr marL="0" indent="0">
              <a:buNone/>
            </a:pPr>
            <a:r>
              <a:rPr lang="en-US" sz="2400" dirty="0">
                <a:solidFill>
                  <a:srgbClr val="172033"/>
                </a:solidFill>
              </a:rPr>
              <a:t>• Evento: ocorrência relevante, como falha ou movimento.</a:t>
            </a:r>
            <a:endParaRPr lang="en-US" sz="2400" dirty="0"/>
          </a:p>
          <a:p>
            <a:pPr marL="0" indent="0">
              <a:buNone/>
            </a:pPr>
            <a:endParaRPr lang="en-US" sz="2400" dirty="0"/>
          </a:p>
          <a:p>
            <a:pPr marL="0" indent="0">
              <a:buNone/>
            </a:pPr>
            <a:r>
              <a:rPr lang="en-US" sz="2400" dirty="0">
                <a:solidFill>
                  <a:srgbClr val="172033"/>
                </a:solidFill>
              </a:rPr>
              <a:t>• Comando: instrução enviada para o dispositivo agir.</a:t>
            </a:r>
            <a:endParaRPr lang="en-US" sz="2400" dirty="0"/>
          </a:p>
          <a:p>
            <a:pPr marL="0" indent="0">
              <a:buNone/>
            </a:pPr>
            <a:endParaRPr lang="en-US" sz="2400" dirty="0"/>
          </a:p>
          <a:p>
            <a:pPr marL="0" indent="0">
              <a:buNone/>
            </a:pPr>
            <a:r>
              <a:rPr lang="en-US" sz="2400" dirty="0">
                <a:solidFill>
                  <a:srgbClr val="172033"/>
                </a:solidFill>
              </a:rPr>
              <a:t>• Estado: representação atual ou desejada do dispositivo.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Publicação/assinatura</a:t>
            </a:r>
            <a:endParaRPr lang="en-US" sz="1400" dirty="0"/>
          </a:p>
        </p:txBody>
      </p:sp>
      <p:sp>
        <p:nvSpPr>
          <p:cNvPr id="8" name="Text 6"/>
          <p:cNvSpPr/>
          <p:nvPr/>
        </p:nvSpPr>
        <p:spPr>
          <a:xfrm>
            <a:off x="7589520" y="2011680"/>
            <a:ext cx="1143000" cy="731520"/>
          </a:xfrm>
          <a:prstGeom prst="roundRect">
            <a:avLst/>
          </a:prstGeom>
          <a:solidFill>
            <a:srgbClr val="E0F2FE"/>
          </a:solidFill>
          <a:ln>
            <a:solidFill>
              <a:srgbClr val="0284C7"/>
            </a:solidFill>
          </a:ln>
        </p:spPr>
        <p:txBody>
          <a:bodyPr wrap="square" lIns="508" tIns="508" rIns="508" bIns="508" rtlCol="0" anchor="ctr">
            <a:normAutofit/>
          </a:bodyPr>
          <a:lstStyle/>
          <a:p>
            <a:pPr marL="0" indent="0" algn="ctr">
              <a:buNone/>
            </a:pPr>
            <a:r>
              <a:rPr lang="en-US" sz="1200" b="1" dirty="0">
                <a:solidFill>
                  <a:srgbClr val="0284C7"/>
                </a:solidFill>
              </a:rPr>
              <a:t>Sensor</a:t>
            </a:r>
            <a:endParaRPr lang="en-US" sz="1200" dirty="0"/>
          </a:p>
          <a:p>
            <a:pPr marL="0" indent="0" algn="ctr">
              <a:buNone/>
            </a:pPr>
            <a:r>
              <a:rPr lang="en-US" sz="1200" b="1" dirty="0">
                <a:solidFill>
                  <a:srgbClr val="0284C7"/>
                </a:solidFill>
              </a:rPr>
              <a:t>publica</a:t>
            </a:r>
            <a:endParaRPr lang="en-US" sz="1200" dirty="0"/>
          </a:p>
        </p:txBody>
      </p:sp>
      <p:sp>
        <p:nvSpPr>
          <p:cNvPr id="9" name="Text 7"/>
          <p:cNvSpPr/>
          <p:nvPr/>
        </p:nvSpPr>
        <p:spPr>
          <a:xfrm>
            <a:off x="9144000" y="1874520"/>
            <a:ext cx="1371600" cy="1005840"/>
          </a:xfrm>
          <a:prstGeom prst="roundRect">
            <a:avLst/>
          </a:prstGeom>
          <a:solidFill>
            <a:srgbClr val="FFEDD5"/>
          </a:solidFill>
          <a:ln>
            <a:solidFill>
              <a:srgbClr val="F97316"/>
            </a:solidFill>
          </a:ln>
        </p:spPr>
        <p:txBody>
          <a:bodyPr wrap="square" lIns="508" tIns="508" rIns="508" bIns="508" rtlCol="0" anchor="ctr">
            <a:normAutofit/>
          </a:bodyPr>
          <a:lstStyle/>
          <a:p>
            <a:pPr marL="0" indent="0" algn="ctr">
              <a:buNone/>
            </a:pPr>
            <a:r>
              <a:rPr lang="en-US" sz="1200" b="1" dirty="0">
                <a:solidFill>
                  <a:srgbClr val="F97316"/>
                </a:solidFill>
              </a:rPr>
              <a:t>Broker</a:t>
            </a:r>
            <a:endParaRPr lang="en-US" sz="1200" dirty="0"/>
          </a:p>
          <a:p>
            <a:pPr marL="0" indent="0" algn="ctr">
              <a:buNone/>
            </a:pPr>
            <a:r>
              <a:rPr lang="en-US" sz="1200" b="1" dirty="0">
                <a:solidFill>
                  <a:srgbClr val="F97316"/>
                </a:solidFill>
              </a:rPr>
              <a:t>MQTT</a:t>
            </a:r>
            <a:endParaRPr lang="en-US" sz="1200" dirty="0"/>
          </a:p>
        </p:txBody>
      </p:sp>
      <p:sp>
        <p:nvSpPr>
          <p:cNvPr id="10" name="Text 8"/>
          <p:cNvSpPr/>
          <p:nvPr/>
        </p:nvSpPr>
        <p:spPr>
          <a:xfrm>
            <a:off x="10972800" y="2011680"/>
            <a:ext cx="822960" cy="731520"/>
          </a:xfrm>
          <a:prstGeom prst="roundRect">
            <a:avLst/>
          </a:prstGeom>
          <a:solidFill>
            <a:srgbClr val="DCFCE7"/>
          </a:solidFill>
          <a:ln>
            <a:solidFill>
              <a:srgbClr val="10B981"/>
            </a:solidFill>
          </a:ln>
        </p:spPr>
        <p:txBody>
          <a:bodyPr wrap="square" lIns="508" tIns="508" rIns="508" bIns="508" rtlCol="0" anchor="ctr">
            <a:normAutofit/>
          </a:bodyPr>
          <a:lstStyle/>
          <a:p>
            <a:pPr marL="0" indent="0" algn="ctr">
              <a:buNone/>
            </a:pPr>
            <a:r>
              <a:rPr lang="en-US" sz="1200" b="1" dirty="0">
                <a:solidFill>
                  <a:srgbClr val="10B981"/>
                </a:solidFill>
              </a:rPr>
              <a:t>App</a:t>
            </a:r>
            <a:endParaRPr lang="en-US" sz="1200" dirty="0"/>
          </a:p>
          <a:p>
            <a:pPr marL="0" indent="0" algn="ctr">
              <a:buNone/>
            </a:pPr>
            <a:r>
              <a:rPr lang="en-US" sz="1200" b="1" dirty="0">
                <a:solidFill>
                  <a:srgbClr val="10B981"/>
                </a:solidFill>
              </a:rPr>
              <a:t>assina</a:t>
            </a:r>
            <a:endParaRPr lang="en-US" sz="1200" dirty="0"/>
          </a:p>
        </p:txBody>
      </p:sp>
      <p:sp>
        <p:nvSpPr>
          <p:cNvPr id="11" name="Text 9"/>
          <p:cNvSpPr/>
          <p:nvPr/>
        </p:nvSpPr>
        <p:spPr>
          <a:xfrm>
            <a:off x="7772400" y="3246120"/>
            <a:ext cx="3749040" cy="347472"/>
          </a:xfrm>
          <a:prstGeom prst="rect">
            <a:avLst/>
          </a:prstGeom>
          <a:noFill/>
          <a:ln/>
        </p:spPr>
        <p:txBody>
          <a:bodyPr wrap="square" rtlCol="0" anchor="ctr"/>
          <a:lstStyle/>
          <a:p>
            <a:pPr marL="0" indent="0" algn="ctr">
              <a:buNone/>
            </a:pPr>
            <a:r>
              <a:rPr lang="en-US" sz="1400" i="1" dirty="0">
                <a:solidFill>
                  <a:srgbClr val="0B1F3A"/>
                </a:solidFill>
              </a:rPr>
              <a:t>tópico: sala/temperatura</a:t>
            </a:r>
            <a:endParaRPr lang="en-US" sz="1400" dirty="0"/>
          </a:p>
        </p:txBody>
      </p:sp>
      <p:sp>
        <p:nvSpPr>
          <p:cNvPr id="12" name="Text 10"/>
          <p:cNvSpPr/>
          <p:nvPr/>
        </p:nvSpPr>
        <p:spPr>
          <a:xfrm>
            <a:off x="7635240" y="3931920"/>
            <a:ext cx="3886200" cy="685800"/>
          </a:xfrm>
          <a:prstGeom prst="roundRect">
            <a:avLst>
              <a:gd name="adj" fmla="val 16000"/>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Quem produz não precisa conhecer quem consome.</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Microsoft Learn — mensagens IoT Hub</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Comunicação IoT: o caminho da mensagem</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Do sensor à aplicação</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O dado nasce no dispositivo e vira uma mensagem.</a:t>
            </a:r>
            <a:endParaRPr lang="en-US" sz="2400" dirty="0"/>
          </a:p>
          <a:p>
            <a:pPr marL="0" indent="0">
              <a:buNone/>
            </a:pPr>
            <a:endParaRPr lang="en-US" sz="2400" dirty="0"/>
          </a:p>
          <a:p>
            <a:pPr marL="0" indent="0">
              <a:buNone/>
            </a:pPr>
            <a:r>
              <a:rPr lang="en-US" sz="2400" dirty="0">
                <a:solidFill>
                  <a:srgbClr val="172033"/>
                </a:solidFill>
              </a:rPr>
              <a:t>• A mensagem passa por uma rede local ou de longa distância.</a:t>
            </a:r>
            <a:endParaRPr lang="en-US" sz="2400" dirty="0"/>
          </a:p>
          <a:p>
            <a:pPr marL="0" indent="0">
              <a:buNone/>
            </a:pPr>
            <a:endParaRPr lang="en-US" sz="2400" dirty="0"/>
          </a:p>
          <a:p>
            <a:pPr marL="0" indent="0">
              <a:buNone/>
            </a:pPr>
            <a:r>
              <a:rPr lang="en-US" sz="2400" dirty="0">
                <a:solidFill>
                  <a:srgbClr val="172033"/>
                </a:solidFill>
              </a:rPr>
              <a:t>• Um gateway pode traduzir protocolos ou agregar dados.</a:t>
            </a:r>
            <a:endParaRPr lang="en-US" sz="2400" dirty="0"/>
          </a:p>
          <a:p>
            <a:pPr marL="0" indent="0">
              <a:buNone/>
            </a:pPr>
            <a:endParaRPr lang="en-US" sz="2400" dirty="0"/>
          </a:p>
          <a:p>
            <a:pPr marL="0" indent="0">
              <a:buNone/>
            </a:pPr>
            <a:r>
              <a:rPr lang="en-US" sz="2400" dirty="0">
                <a:solidFill>
                  <a:srgbClr val="172033"/>
                </a:solidFill>
              </a:rPr>
              <a:t>• A nuvem recebe, processa e distribui para aplicações.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Fluxo geral de uma solução IoT</a:t>
            </a:r>
            <a:endParaRPr lang="en-US" sz="1400" dirty="0"/>
          </a:p>
        </p:txBody>
      </p:sp>
      <p:sp>
        <p:nvSpPr>
          <p:cNvPr id="8" name="Text 6"/>
          <p:cNvSpPr/>
          <p:nvPr/>
        </p:nvSpPr>
        <p:spPr>
          <a:xfrm>
            <a:off x="7543800" y="1417320"/>
            <a:ext cx="4069080" cy="594360"/>
          </a:xfrm>
          <a:prstGeom prst="roundRect">
            <a:avLst>
              <a:gd name="adj" fmla="val 18462"/>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Dispositivo</a:t>
            </a:r>
            <a:endParaRPr lang="en-US" sz="1500" dirty="0"/>
          </a:p>
          <a:p>
            <a:pPr marL="0" indent="0" algn="ctr">
              <a:buNone/>
            </a:pPr>
            <a:r>
              <a:rPr lang="en-US" sz="1500" b="1" dirty="0">
                <a:solidFill>
                  <a:srgbClr val="0284C7"/>
                </a:solidFill>
              </a:rPr>
              <a:t>(sensor/atuador)</a:t>
            </a:r>
            <a:endParaRPr lang="en-US" sz="1500" dirty="0"/>
          </a:p>
        </p:txBody>
      </p:sp>
      <p:sp>
        <p:nvSpPr>
          <p:cNvPr id="9" name="Text 7"/>
          <p:cNvSpPr/>
          <p:nvPr/>
        </p:nvSpPr>
        <p:spPr>
          <a:xfrm>
            <a:off x="7543800" y="2240280"/>
            <a:ext cx="4069080" cy="594360"/>
          </a:xfrm>
          <a:prstGeom prst="roundRect">
            <a:avLst>
              <a:gd name="adj" fmla="val 18462"/>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Gateway</a:t>
            </a:r>
            <a:endParaRPr lang="en-US" sz="1500" dirty="0"/>
          </a:p>
          <a:p>
            <a:pPr marL="0" indent="0" algn="ctr">
              <a:buNone/>
            </a:pPr>
            <a:r>
              <a:rPr lang="en-US" sz="1500" b="1" dirty="0">
                <a:solidFill>
                  <a:srgbClr val="F97316"/>
                </a:solidFill>
              </a:rPr>
              <a:t>(concentra e traduz)</a:t>
            </a:r>
            <a:endParaRPr lang="en-US" sz="1500" dirty="0"/>
          </a:p>
        </p:txBody>
      </p:sp>
      <p:sp>
        <p:nvSpPr>
          <p:cNvPr id="10" name="Text 8"/>
          <p:cNvSpPr/>
          <p:nvPr/>
        </p:nvSpPr>
        <p:spPr>
          <a:xfrm>
            <a:off x="7543800" y="3063240"/>
            <a:ext cx="4069080" cy="594360"/>
          </a:xfrm>
          <a:prstGeom prst="roundRect">
            <a:avLst>
              <a:gd name="adj" fmla="val 18462"/>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 / Edge</a:t>
            </a:r>
            <a:endParaRPr lang="en-US" sz="1500" dirty="0"/>
          </a:p>
          <a:p>
            <a:pPr marL="0" indent="0" algn="ctr">
              <a:buNone/>
            </a:pPr>
            <a:r>
              <a:rPr lang="en-US" sz="1500" b="1" dirty="0">
                <a:solidFill>
                  <a:srgbClr val="10B981"/>
                </a:solidFill>
              </a:rPr>
              <a:t>(processa perto)</a:t>
            </a:r>
            <a:endParaRPr lang="en-US" sz="1500" dirty="0"/>
          </a:p>
        </p:txBody>
      </p:sp>
      <p:sp>
        <p:nvSpPr>
          <p:cNvPr id="11" name="Text 9"/>
          <p:cNvSpPr/>
          <p:nvPr/>
        </p:nvSpPr>
        <p:spPr>
          <a:xfrm>
            <a:off x="7543800" y="3886200"/>
            <a:ext cx="4069080" cy="594360"/>
          </a:xfrm>
          <a:prstGeom prst="roundRect">
            <a:avLst>
              <a:gd name="adj" fmla="val 18462"/>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(escala e armazena)</a:t>
            </a:r>
            <a:endParaRPr lang="en-US" sz="1500" dirty="0"/>
          </a:p>
        </p:txBody>
      </p:sp>
      <p:sp>
        <p:nvSpPr>
          <p:cNvPr id="12" name="Text 10"/>
          <p:cNvSpPr/>
          <p:nvPr/>
        </p:nvSpPr>
        <p:spPr>
          <a:xfrm>
            <a:off x="7543800" y="4709160"/>
            <a:ext cx="4069080" cy="594360"/>
          </a:xfrm>
          <a:prstGeom prst="roundRect">
            <a:avLst>
              <a:gd name="adj" fmla="val 18462"/>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Aplicações</a:t>
            </a:r>
            <a:endParaRPr lang="en-US" sz="1500" dirty="0"/>
          </a:p>
          <a:p>
            <a:pPr marL="0" indent="0" algn="ctr">
              <a:buNone/>
            </a:pPr>
            <a:r>
              <a:rPr lang="en-US" sz="1500" b="1" dirty="0">
                <a:solidFill>
                  <a:srgbClr val="CA8A04"/>
                </a:solidFill>
              </a:rPr>
              <a:t>(decisão e ação)</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Microsoft Learn — Azure IoT Hub</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Topologias de rede em IoT</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Como os dispositivos se organizam</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Estrela: dispositivos se conectam a um ponto central.</a:t>
            </a:r>
            <a:endParaRPr lang="en-US" sz="2400" dirty="0"/>
          </a:p>
          <a:p>
            <a:pPr marL="0" indent="0">
              <a:buNone/>
            </a:pPr>
            <a:endParaRPr lang="en-US" sz="2400" dirty="0"/>
          </a:p>
          <a:p>
            <a:pPr marL="0" indent="0">
              <a:buNone/>
            </a:pPr>
            <a:r>
              <a:rPr lang="en-US" sz="2400" dirty="0">
                <a:solidFill>
                  <a:srgbClr val="172033"/>
                </a:solidFill>
              </a:rPr>
              <a:t>• Malha: dispositivos podem encaminhar mensagens entre si.</a:t>
            </a:r>
            <a:endParaRPr lang="en-US" sz="2400" dirty="0"/>
          </a:p>
          <a:p>
            <a:pPr marL="0" indent="0">
              <a:buNone/>
            </a:pPr>
            <a:endParaRPr lang="en-US" sz="2400" dirty="0"/>
          </a:p>
          <a:p>
            <a:pPr marL="0" indent="0">
              <a:buNone/>
            </a:pPr>
            <a:r>
              <a:rPr lang="en-US" sz="2400" dirty="0">
                <a:solidFill>
                  <a:srgbClr val="172033"/>
                </a:solidFill>
              </a:rPr>
              <a:t>• Ponto a ponto: comunicação direta entre dois nós.</a:t>
            </a:r>
            <a:endParaRPr lang="en-US" sz="2400" dirty="0"/>
          </a:p>
          <a:p>
            <a:pPr marL="0" indent="0">
              <a:buNone/>
            </a:pPr>
            <a:endParaRPr lang="en-US" sz="2400" dirty="0"/>
          </a:p>
          <a:p>
            <a:pPr marL="0" indent="0">
              <a:buNone/>
            </a:pPr>
            <a:r>
              <a:rPr lang="en-US" sz="2400" dirty="0">
                <a:solidFill>
                  <a:srgbClr val="172033"/>
                </a:solidFill>
              </a:rPr>
              <a:t>• A escolha afeta alcance, consumo, custo e manutenção.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Topologias de comunicação</a:t>
            </a:r>
            <a:endParaRPr lang="en-US" sz="1400" dirty="0"/>
          </a:p>
        </p:txBody>
      </p:sp>
      <p:sp>
        <p:nvSpPr>
          <p:cNvPr id="8" name="Text 6"/>
          <p:cNvSpPr/>
          <p:nvPr/>
        </p:nvSpPr>
        <p:spPr>
          <a:xfrm>
            <a:off x="7635240" y="1508760"/>
            <a:ext cx="3886200" cy="640080"/>
          </a:xfrm>
          <a:prstGeom prst="roundRect">
            <a:avLst>
              <a:gd name="adj" fmla="val 17143"/>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Estrela</a:t>
            </a:r>
            <a:endParaRPr lang="en-US" sz="1500" dirty="0"/>
          </a:p>
          <a:p>
            <a:pPr marL="0" indent="0" algn="ctr">
              <a:buNone/>
            </a:pPr>
            <a:r>
              <a:rPr lang="en-US" sz="1500" b="1" dirty="0">
                <a:solidFill>
                  <a:srgbClr val="F97316"/>
                </a:solidFill>
              </a:rPr>
              <a:t>Gateway no centro</a:t>
            </a:r>
            <a:endParaRPr lang="en-US" sz="1500" dirty="0"/>
          </a:p>
        </p:txBody>
      </p:sp>
      <p:sp>
        <p:nvSpPr>
          <p:cNvPr id="9" name="Text 7"/>
          <p:cNvSpPr/>
          <p:nvPr/>
        </p:nvSpPr>
        <p:spPr>
          <a:xfrm>
            <a:off x="7635240" y="2514600"/>
            <a:ext cx="3886200" cy="640080"/>
          </a:xfrm>
          <a:prstGeom prst="roundRect">
            <a:avLst>
              <a:gd name="adj" fmla="val 17143"/>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Malha / Mesh</a:t>
            </a:r>
            <a:endParaRPr lang="en-US" sz="1500" dirty="0"/>
          </a:p>
          <a:p>
            <a:pPr marL="0" indent="0" algn="ctr">
              <a:buNone/>
            </a:pPr>
            <a:r>
              <a:rPr lang="en-US" sz="1500" b="1" dirty="0">
                <a:solidFill>
                  <a:srgbClr val="10B981"/>
                </a:solidFill>
              </a:rPr>
              <a:t>Nós colaboram entre si</a:t>
            </a:r>
            <a:endParaRPr lang="en-US" sz="1500" dirty="0"/>
          </a:p>
        </p:txBody>
      </p:sp>
      <p:sp>
        <p:nvSpPr>
          <p:cNvPr id="10" name="Text 8"/>
          <p:cNvSpPr/>
          <p:nvPr/>
        </p:nvSpPr>
        <p:spPr>
          <a:xfrm>
            <a:off x="7635240" y="3520440"/>
            <a:ext cx="3886200" cy="640080"/>
          </a:xfrm>
          <a:prstGeom prst="roundRect">
            <a:avLst>
              <a:gd name="adj" fmla="val 17143"/>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Ponto a ponto</a:t>
            </a:r>
            <a:endParaRPr lang="en-US" sz="1500" dirty="0"/>
          </a:p>
          <a:p>
            <a:pPr marL="0" indent="0" algn="ctr">
              <a:buNone/>
            </a:pPr>
            <a:r>
              <a:rPr lang="en-US" sz="1500" b="1" dirty="0">
                <a:solidFill>
                  <a:srgbClr val="0284C7"/>
                </a:solidFill>
              </a:rPr>
              <a:t>Par direto</a:t>
            </a:r>
            <a:endParaRPr lang="en-US" sz="1500" dirty="0"/>
          </a:p>
        </p:txBody>
      </p:sp>
      <p:sp>
        <p:nvSpPr>
          <p:cNvPr id="11" name="Text 9"/>
          <p:cNvSpPr/>
          <p:nvPr/>
        </p:nvSpPr>
        <p:spPr>
          <a:xfrm>
            <a:off x="7635240" y="4526280"/>
            <a:ext cx="3886200" cy="640080"/>
          </a:xfrm>
          <a:prstGeom prst="roundRect">
            <a:avLst>
              <a:gd name="adj" fmla="val 17143"/>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Escolha guiada por alcance, energia e manutenção.</a:t>
            </a:r>
            <a:endParaRPr lang="en-US" sz="1500" dirty="0"/>
          </a:p>
        </p:txBody>
      </p:sp>
      <p:sp>
        <p:nvSpPr>
          <p:cNvPr id="12" name="Shape 10"/>
          <p:cNvSpPr/>
          <p:nvPr/>
        </p:nvSpPr>
        <p:spPr>
          <a:xfrm>
            <a:off x="502920" y="6327648"/>
            <a:ext cx="11201400" cy="0"/>
          </a:xfrm>
          <a:prstGeom prst="line">
            <a:avLst/>
          </a:prstGeom>
          <a:noFill/>
          <a:ln w="12700">
            <a:solidFill>
              <a:srgbClr val="E2E8F0"/>
            </a:solidFill>
            <a:prstDash val="solid"/>
          </a:ln>
        </p:spPr>
      </p:sp>
      <p:sp>
        <p:nvSpPr>
          <p:cNvPr id="13" name="Text 11"/>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Redes locais: Wi‑Fi, BLE e Zigbee</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Conectividade de curto alcance</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Wi‑Fi oferece boa taxa de dados, mas consome mais energia.</a:t>
            </a:r>
            <a:endParaRPr lang="en-US" sz="2400" dirty="0"/>
          </a:p>
          <a:p>
            <a:pPr marL="0" indent="0">
              <a:buNone/>
            </a:pPr>
            <a:endParaRPr lang="en-US" sz="2400" dirty="0"/>
          </a:p>
          <a:p>
            <a:pPr marL="0" indent="0">
              <a:buNone/>
            </a:pPr>
            <a:r>
              <a:rPr lang="en-US" sz="2400" dirty="0">
                <a:solidFill>
                  <a:srgbClr val="172033"/>
                </a:solidFill>
              </a:rPr>
              <a:t>• BLE é útil para baixo consumo e proximidade.</a:t>
            </a:r>
            <a:endParaRPr lang="en-US" sz="2400" dirty="0"/>
          </a:p>
          <a:p>
            <a:pPr marL="0" indent="0">
              <a:buNone/>
            </a:pPr>
            <a:endParaRPr lang="en-US" sz="2400" dirty="0"/>
          </a:p>
          <a:p>
            <a:pPr marL="0" indent="0">
              <a:buNone/>
            </a:pPr>
            <a:r>
              <a:rPr lang="en-US" sz="2400" dirty="0">
                <a:solidFill>
                  <a:srgbClr val="172033"/>
                </a:solidFill>
              </a:rPr>
              <a:t>• Zigbee é comum em redes de sensores com topologia em malha.</a:t>
            </a:r>
            <a:endParaRPr lang="en-US" sz="2400" dirty="0"/>
          </a:p>
          <a:p>
            <a:pPr marL="0" indent="0">
              <a:buNone/>
            </a:pPr>
            <a:endParaRPr lang="en-US" sz="2400" dirty="0"/>
          </a:p>
          <a:p>
            <a:pPr marL="0" indent="0">
              <a:buNone/>
            </a:pPr>
            <a:r>
              <a:rPr lang="en-US" sz="2400" dirty="0">
                <a:solidFill>
                  <a:srgbClr val="172033"/>
                </a:solidFill>
              </a:rPr>
              <a:t>• A escolha depende de energia, alcance e interoperabilidade.</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Protocolos e alcance</a:t>
            </a:r>
            <a:endParaRPr lang="en-US" sz="1400" dirty="0"/>
          </a:p>
        </p:txBody>
      </p:sp>
      <p:sp>
        <p:nvSpPr>
          <p:cNvPr id="8" name="Text 6"/>
          <p:cNvSpPr/>
          <p:nvPr/>
        </p:nvSpPr>
        <p:spPr>
          <a:xfrm>
            <a:off x="7635240" y="1508760"/>
            <a:ext cx="3886200" cy="621792"/>
          </a:xfrm>
          <a:prstGeom prst="roundRect">
            <a:avLst>
              <a:gd name="adj" fmla="val 17647"/>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BLE/Zigbee</a:t>
            </a:r>
            <a:endParaRPr lang="en-US" sz="1500" dirty="0"/>
          </a:p>
          <a:p>
            <a:pPr marL="0" indent="0" algn="ctr">
              <a:buNone/>
            </a:pPr>
            <a:r>
              <a:rPr lang="en-US" sz="1500" b="1" dirty="0">
                <a:solidFill>
                  <a:srgbClr val="0284C7"/>
                </a:solidFill>
              </a:rPr>
              <a:t>curto alcance</a:t>
            </a:r>
            <a:endParaRPr lang="en-US" sz="1500" dirty="0"/>
          </a:p>
        </p:txBody>
      </p:sp>
      <p:sp>
        <p:nvSpPr>
          <p:cNvPr id="9" name="Text 7"/>
          <p:cNvSpPr/>
          <p:nvPr/>
        </p:nvSpPr>
        <p:spPr>
          <a:xfrm>
            <a:off x="7635240" y="2377440"/>
            <a:ext cx="3886200" cy="621792"/>
          </a:xfrm>
          <a:prstGeom prst="roundRect">
            <a:avLst>
              <a:gd name="adj" fmla="val 17647"/>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Wi‑Fi/Ethernet</a:t>
            </a:r>
            <a:endParaRPr lang="en-US" sz="1500" dirty="0"/>
          </a:p>
          <a:p>
            <a:pPr marL="0" indent="0" algn="ctr">
              <a:buNone/>
            </a:pPr>
            <a:r>
              <a:rPr lang="en-US" sz="1500" b="1" dirty="0">
                <a:solidFill>
                  <a:srgbClr val="F97316"/>
                </a:solidFill>
              </a:rPr>
              <a:t>rede local/IP</a:t>
            </a:r>
            <a:endParaRPr lang="en-US" sz="1500" dirty="0"/>
          </a:p>
        </p:txBody>
      </p:sp>
      <p:sp>
        <p:nvSpPr>
          <p:cNvPr id="10" name="Text 8"/>
          <p:cNvSpPr/>
          <p:nvPr/>
        </p:nvSpPr>
        <p:spPr>
          <a:xfrm>
            <a:off x="7635240" y="3246120"/>
            <a:ext cx="3886200" cy="621792"/>
          </a:xfrm>
          <a:prstGeom prst="roundRect">
            <a:avLst>
              <a:gd name="adj" fmla="val 17647"/>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LoRaWAN/4G/5G</a:t>
            </a:r>
            <a:endParaRPr lang="en-US" sz="1500" dirty="0"/>
          </a:p>
          <a:p>
            <a:pPr marL="0" indent="0" algn="ctr">
              <a:buNone/>
            </a:pPr>
            <a:r>
              <a:rPr lang="en-US" sz="1500" b="1" dirty="0">
                <a:solidFill>
                  <a:srgbClr val="10B981"/>
                </a:solidFill>
              </a:rPr>
              <a:t>longa distância</a:t>
            </a:r>
            <a:endParaRPr lang="en-US" sz="1500" dirty="0"/>
          </a:p>
        </p:txBody>
      </p:sp>
      <p:sp>
        <p:nvSpPr>
          <p:cNvPr id="11" name="Text 9"/>
          <p:cNvSpPr/>
          <p:nvPr/>
        </p:nvSpPr>
        <p:spPr>
          <a:xfrm>
            <a:off x="7635240" y="4114800"/>
            <a:ext cx="3886200" cy="621792"/>
          </a:xfrm>
          <a:prstGeom prst="roundRect">
            <a:avLst>
              <a:gd name="adj" fmla="val 17647"/>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MQTT/HTTP/CoAP</a:t>
            </a:r>
            <a:endParaRPr lang="en-US" sz="1500" dirty="0"/>
          </a:p>
          <a:p>
            <a:pPr marL="0" indent="0" algn="ctr">
              <a:buNone/>
            </a:pPr>
            <a:r>
              <a:rPr lang="en-US" sz="1500" b="1" dirty="0">
                <a:solidFill>
                  <a:srgbClr val="7C3AED"/>
                </a:solidFill>
              </a:rPr>
              <a:t>aplicação</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Connectivity Standards Alliance — Zigbee</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Redes de longa distância</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LPWAN, celular e Ethernet</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LPWAN prioriza longo alcance e baixo consumo.</a:t>
            </a:r>
            <a:endParaRPr lang="en-US" sz="2400" dirty="0"/>
          </a:p>
          <a:p>
            <a:pPr marL="0" indent="0">
              <a:buNone/>
            </a:pPr>
            <a:endParaRPr lang="en-US" sz="2400" dirty="0"/>
          </a:p>
          <a:p>
            <a:pPr marL="0" indent="0">
              <a:buNone/>
            </a:pPr>
            <a:r>
              <a:rPr lang="en-US" sz="2400" dirty="0">
                <a:solidFill>
                  <a:srgbClr val="172033"/>
                </a:solidFill>
              </a:rPr>
              <a:t>• LoRaWAN é comum em sensores distribuídos por áreas grandes.</a:t>
            </a:r>
            <a:endParaRPr lang="en-US" sz="2400" dirty="0"/>
          </a:p>
          <a:p>
            <a:pPr marL="0" indent="0">
              <a:buNone/>
            </a:pPr>
            <a:endParaRPr lang="en-US" sz="2400" dirty="0"/>
          </a:p>
          <a:p>
            <a:pPr marL="0" indent="0">
              <a:buNone/>
            </a:pPr>
            <a:r>
              <a:rPr lang="en-US" sz="2400" dirty="0">
                <a:solidFill>
                  <a:srgbClr val="172033"/>
                </a:solidFill>
              </a:rPr>
              <a:t>• 4G/5G facilita mobilidade e conexão direta com a internet.</a:t>
            </a:r>
            <a:endParaRPr lang="en-US" sz="2400" dirty="0"/>
          </a:p>
          <a:p>
            <a:pPr marL="0" indent="0">
              <a:buNone/>
            </a:pPr>
            <a:endParaRPr lang="en-US" sz="2400" dirty="0"/>
          </a:p>
          <a:p>
            <a:pPr marL="0" indent="0">
              <a:buNone/>
            </a:pPr>
            <a:r>
              <a:rPr lang="en-US" sz="2400" dirty="0">
                <a:solidFill>
                  <a:srgbClr val="172033"/>
                </a:solidFill>
              </a:rPr>
              <a:t>• Ethernet é estável em ambientes industriais e prediais.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Protocolos e alcance</a:t>
            </a:r>
            <a:endParaRPr lang="en-US" sz="1400" dirty="0"/>
          </a:p>
        </p:txBody>
      </p:sp>
      <p:sp>
        <p:nvSpPr>
          <p:cNvPr id="8" name="Text 6"/>
          <p:cNvSpPr/>
          <p:nvPr/>
        </p:nvSpPr>
        <p:spPr>
          <a:xfrm>
            <a:off x="7635240" y="1508760"/>
            <a:ext cx="3886200" cy="621792"/>
          </a:xfrm>
          <a:prstGeom prst="roundRect">
            <a:avLst>
              <a:gd name="adj" fmla="val 17647"/>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BLE/Zigbee</a:t>
            </a:r>
            <a:endParaRPr lang="en-US" sz="1500" dirty="0"/>
          </a:p>
          <a:p>
            <a:pPr marL="0" indent="0" algn="ctr">
              <a:buNone/>
            </a:pPr>
            <a:r>
              <a:rPr lang="en-US" sz="1500" b="1" dirty="0">
                <a:solidFill>
                  <a:srgbClr val="0284C7"/>
                </a:solidFill>
              </a:rPr>
              <a:t>curto alcance</a:t>
            </a:r>
            <a:endParaRPr lang="en-US" sz="1500" dirty="0"/>
          </a:p>
        </p:txBody>
      </p:sp>
      <p:sp>
        <p:nvSpPr>
          <p:cNvPr id="9" name="Text 7"/>
          <p:cNvSpPr/>
          <p:nvPr/>
        </p:nvSpPr>
        <p:spPr>
          <a:xfrm>
            <a:off x="7635240" y="2377440"/>
            <a:ext cx="3886200" cy="621792"/>
          </a:xfrm>
          <a:prstGeom prst="roundRect">
            <a:avLst>
              <a:gd name="adj" fmla="val 17647"/>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Wi‑Fi/Ethernet</a:t>
            </a:r>
            <a:endParaRPr lang="en-US" sz="1500" dirty="0"/>
          </a:p>
          <a:p>
            <a:pPr marL="0" indent="0" algn="ctr">
              <a:buNone/>
            </a:pPr>
            <a:r>
              <a:rPr lang="en-US" sz="1500" b="1" dirty="0">
                <a:solidFill>
                  <a:srgbClr val="F97316"/>
                </a:solidFill>
              </a:rPr>
              <a:t>rede local/IP</a:t>
            </a:r>
            <a:endParaRPr lang="en-US" sz="1500" dirty="0"/>
          </a:p>
        </p:txBody>
      </p:sp>
      <p:sp>
        <p:nvSpPr>
          <p:cNvPr id="10" name="Text 8"/>
          <p:cNvSpPr/>
          <p:nvPr/>
        </p:nvSpPr>
        <p:spPr>
          <a:xfrm>
            <a:off x="7635240" y="3246120"/>
            <a:ext cx="3886200" cy="621792"/>
          </a:xfrm>
          <a:prstGeom prst="roundRect">
            <a:avLst>
              <a:gd name="adj" fmla="val 17647"/>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LoRaWAN/4G/5G</a:t>
            </a:r>
            <a:endParaRPr lang="en-US" sz="1500" dirty="0"/>
          </a:p>
          <a:p>
            <a:pPr marL="0" indent="0" algn="ctr">
              <a:buNone/>
            </a:pPr>
            <a:r>
              <a:rPr lang="en-US" sz="1500" b="1" dirty="0">
                <a:solidFill>
                  <a:srgbClr val="10B981"/>
                </a:solidFill>
              </a:rPr>
              <a:t>longa distância</a:t>
            </a:r>
            <a:endParaRPr lang="en-US" sz="1500" dirty="0"/>
          </a:p>
        </p:txBody>
      </p:sp>
      <p:sp>
        <p:nvSpPr>
          <p:cNvPr id="11" name="Text 9"/>
          <p:cNvSpPr/>
          <p:nvPr/>
        </p:nvSpPr>
        <p:spPr>
          <a:xfrm>
            <a:off x="7635240" y="4114800"/>
            <a:ext cx="3886200" cy="621792"/>
          </a:xfrm>
          <a:prstGeom prst="roundRect">
            <a:avLst>
              <a:gd name="adj" fmla="val 17647"/>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MQTT/HTTP/CoAP</a:t>
            </a:r>
            <a:endParaRPr lang="en-US" sz="1500" dirty="0"/>
          </a:p>
          <a:p>
            <a:pPr marL="0" indent="0" algn="ctr">
              <a:buNone/>
            </a:pPr>
            <a:r>
              <a:rPr lang="en-US" sz="1500" b="1" dirty="0">
                <a:solidFill>
                  <a:srgbClr val="7C3AED"/>
                </a:solidFill>
              </a:rPr>
              <a:t>aplicação</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LoRa Alliance</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Camadas de comunicação</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Da mídia ao protocolo de aplicação</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Camada física/enlace: como o sinal circula.</a:t>
            </a:r>
            <a:endParaRPr lang="en-US" sz="2400" dirty="0"/>
          </a:p>
          <a:p>
            <a:pPr marL="0" indent="0">
              <a:buNone/>
            </a:pPr>
            <a:endParaRPr lang="en-US" sz="2400" dirty="0"/>
          </a:p>
          <a:p>
            <a:pPr marL="0" indent="0">
              <a:buNone/>
            </a:pPr>
            <a:r>
              <a:rPr lang="en-US" sz="2400" dirty="0">
                <a:solidFill>
                  <a:srgbClr val="172033"/>
                </a:solidFill>
              </a:rPr>
              <a:t>• IP: endereçamento e roteamento na rede.</a:t>
            </a:r>
            <a:endParaRPr lang="en-US" sz="2400" dirty="0"/>
          </a:p>
          <a:p>
            <a:pPr marL="0" indent="0">
              <a:buNone/>
            </a:pPr>
            <a:endParaRPr lang="en-US" sz="2400" dirty="0"/>
          </a:p>
          <a:p>
            <a:pPr marL="0" indent="0">
              <a:buNone/>
            </a:pPr>
            <a:r>
              <a:rPr lang="en-US" sz="2400" dirty="0">
                <a:solidFill>
                  <a:srgbClr val="172033"/>
                </a:solidFill>
              </a:rPr>
              <a:t>• TCP ou UDP: transporte da mensagem.</a:t>
            </a:r>
            <a:endParaRPr lang="en-US" sz="2400" dirty="0"/>
          </a:p>
          <a:p>
            <a:pPr marL="0" indent="0">
              <a:buNone/>
            </a:pPr>
            <a:endParaRPr lang="en-US" sz="2400" dirty="0"/>
          </a:p>
          <a:p>
            <a:pPr marL="0" indent="0">
              <a:buNone/>
            </a:pPr>
            <a:r>
              <a:rPr lang="en-US" sz="2400" dirty="0">
                <a:solidFill>
                  <a:srgbClr val="172033"/>
                </a:solidFill>
              </a:rPr>
              <a:t>• MQTT, HTTP e CoAP: regras de troca na aplicação.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Arquitetura em camadas</a:t>
            </a:r>
            <a:endParaRPr lang="en-US" sz="1400" dirty="0"/>
          </a:p>
        </p:txBody>
      </p:sp>
      <p:sp>
        <p:nvSpPr>
          <p:cNvPr id="8" name="Text 6"/>
          <p:cNvSpPr/>
          <p:nvPr/>
        </p:nvSpPr>
        <p:spPr>
          <a:xfrm>
            <a:off x="7543800" y="1325880"/>
            <a:ext cx="4069080" cy="530352"/>
          </a:xfrm>
          <a:prstGeom prst="roundRect">
            <a:avLst>
              <a:gd name="adj" fmla="val 20690"/>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Aplicação</a:t>
            </a:r>
            <a:endParaRPr lang="en-US" sz="1500" dirty="0"/>
          </a:p>
          <a:p>
            <a:pPr marL="0" indent="0" algn="ctr">
              <a:buNone/>
            </a:pPr>
            <a:r>
              <a:rPr lang="en-US" sz="1500" b="1" dirty="0">
                <a:solidFill>
                  <a:srgbClr val="CA8A04"/>
                </a:solidFill>
              </a:rPr>
              <a:t>dashboards, alertas, APIs</a:t>
            </a:r>
            <a:endParaRPr lang="en-US" sz="1500" dirty="0"/>
          </a:p>
        </p:txBody>
      </p:sp>
      <p:sp>
        <p:nvSpPr>
          <p:cNvPr id="9" name="Text 7"/>
          <p:cNvSpPr/>
          <p:nvPr/>
        </p:nvSpPr>
        <p:spPr>
          <a:xfrm>
            <a:off x="7543800" y="2075688"/>
            <a:ext cx="4069080" cy="530352"/>
          </a:xfrm>
          <a:prstGeom prst="roundRect">
            <a:avLst>
              <a:gd name="adj" fmla="val 2069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ingestão, banco, análise</a:t>
            </a:r>
            <a:endParaRPr lang="en-US" sz="1500" dirty="0"/>
          </a:p>
        </p:txBody>
      </p:sp>
      <p:sp>
        <p:nvSpPr>
          <p:cNvPr id="10" name="Text 8"/>
          <p:cNvSpPr/>
          <p:nvPr/>
        </p:nvSpPr>
        <p:spPr>
          <a:xfrm>
            <a:off x="7543800" y="2825496"/>
            <a:ext cx="4069080" cy="530352"/>
          </a:xfrm>
          <a:prstGeom prst="roundRect">
            <a:avLst>
              <a:gd name="adj" fmla="val 2069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Borda/Gateway</a:t>
            </a:r>
            <a:endParaRPr lang="en-US" sz="1500" dirty="0"/>
          </a:p>
          <a:p>
            <a:pPr marL="0" indent="0" algn="ctr">
              <a:buNone/>
            </a:pPr>
            <a:r>
              <a:rPr lang="en-US" sz="1500" b="1" dirty="0">
                <a:solidFill>
                  <a:srgbClr val="10B981"/>
                </a:solidFill>
              </a:rPr>
              <a:t>filtro, protocolo, resposta local</a:t>
            </a:r>
            <a:endParaRPr lang="en-US" sz="1500" dirty="0"/>
          </a:p>
        </p:txBody>
      </p:sp>
      <p:sp>
        <p:nvSpPr>
          <p:cNvPr id="11" name="Text 9"/>
          <p:cNvSpPr/>
          <p:nvPr/>
        </p:nvSpPr>
        <p:spPr>
          <a:xfrm>
            <a:off x="7543800" y="3575304"/>
            <a:ext cx="4069080" cy="530352"/>
          </a:xfrm>
          <a:prstGeom prst="roundRect">
            <a:avLst>
              <a:gd name="adj" fmla="val 20690"/>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Comunicação</a:t>
            </a:r>
            <a:endParaRPr lang="en-US" sz="1500" dirty="0"/>
          </a:p>
          <a:p>
            <a:pPr marL="0" indent="0" algn="ctr">
              <a:buNone/>
            </a:pPr>
            <a:r>
              <a:rPr lang="en-US" sz="1500" b="1" dirty="0">
                <a:solidFill>
                  <a:srgbClr val="F97316"/>
                </a:solidFill>
              </a:rPr>
              <a:t>Wi-Fi, Ethernet, 4G/5G, LPWAN</a:t>
            </a:r>
            <a:endParaRPr lang="en-US" sz="1500" dirty="0"/>
          </a:p>
        </p:txBody>
      </p:sp>
      <p:sp>
        <p:nvSpPr>
          <p:cNvPr id="12" name="Text 10"/>
          <p:cNvSpPr/>
          <p:nvPr/>
        </p:nvSpPr>
        <p:spPr>
          <a:xfrm>
            <a:off x="7543800" y="4325112"/>
            <a:ext cx="4069080" cy="530352"/>
          </a:xfrm>
          <a:prstGeom prst="roundRect">
            <a:avLst>
              <a:gd name="adj" fmla="val 2069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Dispositivos</a:t>
            </a:r>
            <a:endParaRPr lang="en-US" sz="1500" dirty="0"/>
          </a:p>
          <a:p>
            <a:pPr marL="0" indent="0" algn="ctr">
              <a:buNone/>
            </a:pPr>
            <a:r>
              <a:rPr lang="en-US" sz="1500" b="1" dirty="0">
                <a:solidFill>
                  <a:srgbClr val="0284C7"/>
                </a:solidFill>
              </a:rPr>
              <a:t>sensores, atuadores, firmware</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IETF RFC 7252 — CoAP</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Gateway IoT</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Ponte entre mundos</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Gateway conecta dispositivos locais a sistemas externos.</a:t>
            </a:r>
            <a:endParaRPr lang="en-US" sz="2400" dirty="0"/>
          </a:p>
          <a:p>
            <a:pPr marL="0" indent="0">
              <a:buNone/>
            </a:pPr>
            <a:endParaRPr lang="en-US" sz="2400" dirty="0"/>
          </a:p>
          <a:p>
            <a:pPr marL="0" indent="0">
              <a:buNone/>
            </a:pPr>
            <a:r>
              <a:rPr lang="en-US" sz="2400" dirty="0">
                <a:solidFill>
                  <a:srgbClr val="172033"/>
                </a:solidFill>
              </a:rPr>
              <a:t>• Pode concentrar leituras de muitos sensores.</a:t>
            </a:r>
            <a:endParaRPr lang="en-US" sz="2400" dirty="0"/>
          </a:p>
          <a:p>
            <a:pPr marL="0" indent="0">
              <a:buNone/>
            </a:pPr>
            <a:endParaRPr lang="en-US" sz="2400" dirty="0"/>
          </a:p>
          <a:p>
            <a:pPr marL="0" indent="0">
              <a:buNone/>
            </a:pPr>
            <a:r>
              <a:rPr lang="en-US" sz="2400" dirty="0">
                <a:solidFill>
                  <a:srgbClr val="172033"/>
                </a:solidFill>
              </a:rPr>
              <a:t>• Pode traduzir Zigbee, BLE ou serial para IP/MQTT.</a:t>
            </a:r>
            <a:endParaRPr lang="en-US" sz="2400" dirty="0"/>
          </a:p>
          <a:p>
            <a:pPr marL="0" indent="0">
              <a:buNone/>
            </a:pPr>
            <a:endParaRPr lang="en-US" sz="2400" dirty="0"/>
          </a:p>
          <a:p>
            <a:pPr marL="0" indent="0">
              <a:buNone/>
            </a:pPr>
            <a:r>
              <a:rPr lang="en-US" sz="2400" dirty="0">
                <a:solidFill>
                  <a:srgbClr val="172033"/>
                </a:solidFill>
              </a:rPr>
              <a:t>• Também pode aplicar filtros e regras locais.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Fluxo geral de uma solução IoT</a:t>
            </a:r>
            <a:endParaRPr lang="en-US" sz="1400" dirty="0"/>
          </a:p>
        </p:txBody>
      </p:sp>
      <p:sp>
        <p:nvSpPr>
          <p:cNvPr id="8" name="Text 6"/>
          <p:cNvSpPr/>
          <p:nvPr/>
        </p:nvSpPr>
        <p:spPr>
          <a:xfrm>
            <a:off x="7543800" y="1417320"/>
            <a:ext cx="4069080" cy="594360"/>
          </a:xfrm>
          <a:prstGeom prst="roundRect">
            <a:avLst>
              <a:gd name="adj" fmla="val 18462"/>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Dispositivo</a:t>
            </a:r>
            <a:endParaRPr lang="en-US" sz="1500" dirty="0"/>
          </a:p>
          <a:p>
            <a:pPr marL="0" indent="0" algn="ctr">
              <a:buNone/>
            </a:pPr>
            <a:r>
              <a:rPr lang="en-US" sz="1500" b="1" dirty="0">
                <a:solidFill>
                  <a:srgbClr val="0284C7"/>
                </a:solidFill>
              </a:rPr>
              <a:t>(sensor/atuador)</a:t>
            </a:r>
            <a:endParaRPr lang="en-US" sz="1500" dirty="0"/>
          </a:p>
        </p:txBody>
      </p:sp>
      <p:sp>
        <p:nvSpPr>
          <p:cNvPr id="9" name="Text 7"/>
          <p:cNvSpPr/>
          <p:nvPr/>
        </p:nvSpPr>
        <p:spPr>
          <a:xfrm>
            <a:off x="7543800" y="2240280"/>
            <a:ext cx="4069080" cy="594360"/>
          </a:xfrm>
          <a:prstGeom prst="roundRect">
            <a:avLst>
              <a:gd name="adj" fmla="val 18462"/>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Gateway</a:t>
            </a:r>
            <a:endParaRPr lang="en-US" sz="1500" dirty="0"/>
          </a:p>
          <a:p>
            <a:pPr marL="0" indent="0" algn="ctr">
              <a:buNone/>
            </a:pPr>
            <a:r>
              <a:rPr lang="en-US" sz="1500" b="1" dirty="0">
                <a:solidFill>
                  <a:srgbClr val="F97316"/>
                </a:solidFill>
              </a:rPr>
              <a:t>(concentra e traduz)</a:t>
            </a:r>
            <a:endParaRPr lang="en-US" sz="1500" dirty="0"/>
          </a:p>
        </p:txBody>
      </p:sp>
      <p:sp>
        <p:nvSpPr>
          <p:cNvPr id="10" name="Text 8"/>
          <p:cNvSpPr/>
          <p:nvPr/>
        </p:nvSpPr>
        <p:spPr>
          <a:xfrm>
            <a:off x="7543800" y="3063240"/>
            <a:ext cx="4069080" cy="594360"/>
          </a:xfrm>
          <a:prstGeom prst="roundRect">
            <a:avLst>
              <a:gd name="adj" fmla="val 18462"/>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 / Edge</a:t>
            </a:r>
            <a:endParaRPr lang="en-US" sz="1500" dirty="0"/>
          </a:p>
          <a:p>
            <a:pPr marL="0" indent="0" algn="ctr">
              <a:buNone/>
            </a:pPr>
            <a:r>
              <a:rPr lang="en-US" sz="1500" b="1" dirty="0">
                <a:solidFill>
                  <a:srgbClr val="10B981"/>
                </a:solidFill>
              </a:rPr>
              <a:t>(processa perto)</a:t>
            </a:r>
            <a:endParaRPr lang="en-US" sz="1500" dirty="0"/>
          </a:p>
        </p:txBody>
      </p:sp>
      <p:sp>
        <p:nvSpPr>
          <p:cNvPr id="11" name="Text 9"/>
          <p:cNvSpPr/>
          <p:nvPr/>
        </p:nvSpPr>
        <p:spPr>
          <a:xfrm>
            <a:off x="7543800" y="3886200"/>
            <a:ext cx="4069080" cy="594360"/>
          </a:xfrm>
          <a:prstGeom prst="roundRect">
            <a:avLst>
              <a:gd name="adj" fmla="val 18462"/>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(escala e armazena)</a:t>
            </a:r>
            <a:endParaRPr lang="en-US" sz="1500" dirty="0"/>
          </a:p>
        </p:txBody>
      </p:sp>
      <p:sp>
        <p:nvSpPr>
          <p:cNvPr id="12" name="Text 10"/>
          <p:cNvSpPr/>
          <p:nvPr/>
        </p:nvSpPr>
        <p:spPr>
          <a:xfrm>
            <a:off x="7543800" y="4709160"/>
            <a:ext cx="4069080" cy="594360"/>
          </a:xfrm>
          <a:prstGeom prst="roundRect">
            <a:avLst>
              <a:gd name="adj" fmla="val 18462"/>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Aplicações</a:t>
            </a:r>
            <a:endParaRPr lang="en-US" sz="1500" dirty="0"/>
          </a:p>
          <a:p>
            <a:pPr marL="0" indent="0" algn="ctr">
              <a:buNone/>
            </a:pPr>
            <a:r>
              <a:rPr lang="en-US" sz="1500" b="1" dirty="0">
                <a:solidFill>
                  <a:srgbClr val="CA8A04"/>
                </a:solidFill>
              </a:rPr>
              <a:t>(decisão e ação)</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AWS Well-Architected — IoT Edge</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Tradução de protocolos</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Do protocolo local ao serviço</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Sensores podem usar protocolos diferentes dos serviços em nuvem.</a:t>
            </a:r>
            <a:endParaRPr lang="en-US" sz="2400" dirty="0"/>
          </a:p>
          <a:p>
            <a:pPr marL="0" indent="0">
              <a:buNone/>
            </a:pPr>
            <a:endParaRPr lang="en-US" sz="2400" dirty="0"/>
          </a:p>
          <a:p>
            <a:pPr marL="0" indent="0">
              <a:buNone/>
            </a:pPr>
            <a:r>
              <a:rPr lang="en-US" sz="2400" dirty="0">
                <a:solidFill>
                  <a:srgbClr val="172033"/>
                </a:solidFill>
              </a:rPr>
              <a:t>• O gateway adapta formato, transporte e autenticação.</a:t>
            </a:r>
            <a:endParaRPr lang="en-US" sz="2400" dirty="0"/>
          </a:p>
          <a:p>
            <a:pPr marL="0" indent="0">
              <a:buNone/>
            </a:pPr>
            <a:endParaRPr lang="en-US" sz="2400" dirty="0"/>
          </a:p>
          <a:p>
            <a:pPr marL="0" indent="0">
              <a:buNone/>
            </a:pPr>
            <a:r>
              <a:rPr lang="en-US" sz="2400" dirty="0">
                <a:solidFill>
                  <a:srgbClr val="172033"/>
                </a:solidFill>
              </a:rPr>
              <a:t>• Exemplo: Modbus/serial → MQTT/IP.</a:t>
            </a:r>
            <a:endParaRPr lang="en-US" sz="2400" dirty="0"/>
          </a:p>
          <a:p>
            <a:pPr marL="0" indent="0">
              <a:buNone/>
            </a:pPr>
            <a:endParaRPr lang="en-US" sz="2400" dirty="0"/>
          </a:p>
          <a:p>
            <a:pPr marL="0" indent="0">
              <a:buNone/>
            </a:pPr>
            <a:r>
              <a:rPr lang="en-US" sz="2400" dirty="0">
                <a:solidFill>
                  <a:srgbClr val="172033"/>
                </a:solidFill>
              </a:rPr>
              <a:t>• A tradução reduz acoplamento entre campo e aplicação.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Publicação/assinatura</a:t>
            </a:r>
            <a:endParaRPr lang="en-US" sz="1400" dirty="0"/>
          </a:p>
        </p:txBody>
      </p:sp>
      <p:sp>
        <p:nvSpPr>
          <p:cNvPr id="8" name="Text 6"/>
          <p:cNvSpPr/>
          <p:nvPr/>
        </p:nvSpPr>
        <p:spPr>
          <a:xfrm>
            <a:off x="7589520" y="2011680"/>
            <a:ext cx="1143000" cy="731520"/>
          </a:xfrm>
          <a:prstGeom prst="roundRect">
            <a:avLst/>
          </a:prstGeom>
          <a:solidFill>
            <a:srgbClr val="E0F2FE"/>
          </a:solidFill>
          <a:ln>
            <a:solidFill>
              <a:srgbClr val="0284C7"/>
            </a:solidFill>
          </a:ln>
        </p:spPr>
        <p:txBody>
          <a:bodyPr wrap="square" lIns="508" tIns="508" rIns="508" bIns="508" rtlCol="0" anchor="ctr">
            <a:normAutofit/>
          </a:bodyPr>
          <a:lstStyle/>
          <a:p>
            <a:pPr marL="0" indent="0" algn="ctr">
              <a:buNone/>
            </a:pPr>
            <a:r>
              <a:rPr lang="en-US" sz="1200" b="1" dirty="0">
                <a:solidFill>
                  <a:srgbClr val="0284C7"/>
                </a:solidFill>
              </a:rPr>
              <a:t>Sensor</a:t>
            </a:r>
            <a:endParaRPr lang="en-US" sz="1200" dirty="0"/>
          </a:p>
          <a:p>
            <a:pPr marL="0" indent="0" algn="ctr">
              <a:buNone/>
            </a:pPr>
            <a:r>
              <a:rPr lang="en-US" sz="1200" b="1" dirty="0">
                <a:solidFill>
                  <a:srgbClr val="0284C7"/>
                </a:solidFill>
              </a:rPr>
              <a:t>publica</a:t>
            </a:r>
            <a:endParaRPr lang="en-US" sz="1200" dirty="0"/>
          </a:p>
        </p:txBody>
      </p:sp>
      <p:sp>
        <p:nvSpPr>
          <p:cNvPr id="9" name="Text 7"/>
          <p:cNvSpPr/>
          <p:nvPr/>
        </p:nvSpPr>
        <p:spPr>
          <a:xfrm>
            <a:off x="9144000" y="1874520"/>
            <a:ext cx="1371600" cy="1005840"/>
          </a:xfrm>
          <a:prstGeom prst="roundRect">
            <a:avLst/>
          </a:prstGeom>
          <a:solidFill>
            <a:srgbClr val="FFEDD5"/>
          </a:solidFill>
          <a:ln>
            <a:solidFill>
              <a:srgbClr val="F97316"/>
            </a:solidFill>
          </a:ln>
        </p:spPr>
        <p:txBody>
          <a:bodyPr wrap="square" lIns="508" tIns="508" rIns="508" bIns="508" rtlCol="0" anchor="ctr">
            <a:normAutofit/>
          </a:bodyPr>
          <a:lstStyle/>
          <a:p>
            <a:pPr marL="0" indent="0" algn="ctr">
              <a:buNone/>
            </a:pPr>
            <a:r>
              <a:rPr lang="en-US" sz="1200" b="1" dirty="0">
                <a:solidFill>
                  <a:srgbClr val="F97316"/>
                </a:solidFill>
              </a:rPr>
              <a:t>Broker</a:t>
            </a:r>
            <a:endParaRPr lang="en-US" sz="1200" dirty="0"/>
          </a:p>
          <a:p>
            <a:pPr marL="0" indent="0" algn="ctr">
              <a:buNone/>
            </a:pPr>
            <a:r>
              <a:rPr lang="en-US" sz="1200" b="1" dirty="0">
                <a:solidFill>
                  <a:srgbClr val="F97316"/>
                </a:solidFill>
              </a:rPr>
              <a:t>MQTT</a:t>
            </a:r>
            <a:endParaRPr lang="en-US" sz="1200" dirty="0"/>
          </a:p>
        </p:txBody>
      </p:sp>
      <p:sp>
        <p:nvSpPr>
          <p:cNvPr id="10" name="Text 8"/>
          <p:cNvSpPr/>
          <p:nvPr/>
        </p:nvSpPr>
        <p:spPr>
          <a:xfrm>
            <a:off x="10972800" y="2011680"/>
            <a:ext cx="822960" cy="731520"/>
          </a:xfrm>
          <a:prstGeom prst="roundRect">
            <a:avLst/>
          </a:prstGeom>
          <a:solidFill>
            <a:srgbClr val="DCFCE7"/>
          </a:solidFill>
          <a:ln>
            <a:solidFill>
              <a:srgbClr val="10B981"/>
            </a:solidFill>
          </a:ln>
        </p:spPr>
        <p:txBody>
          <a:bodyPr wrap="square" lIns="508" tIns="508" rIns="508" bIns="508" rtlCol="0" anchor="ctr">
            <a:normAutofit/>
          </a:bodyPr>
          <a:lstStyle/>
          <a:p>
            <a:pPr marL="0" indent="0" algn="ctr">
              <a:buNone/>
            </a:pPr>
            <a:r>
              <a:rPr lang="en-US" sz="1200" b="1" dirty="0">
                <a:solidFill>
                  <a:srgbClr val="10B981"/>
                </a:solidFill>
              </a:rPr>
              <a:t>App</a:t>
            </a:r>
            <a:endParaRPr lang="en-US" sz="1200" dirty="0"/>
          </a:p>
          <a:p>
            <a:pPr marL="0" indent="0" algn="ctr">
              <a:buNone/>
            </a:pPr>
            <a:r>
              <a:rPr lang="en-US" sz="1200" b="1" dirty="0">
                <a:solidFill>
                  <a:srgbClr val="10B981"/>
                </a:solidFill>
              </a:rPr>
              <a:t>assina</a:t>
            </a:r>
            <a:endParaRPr lang="en-US" sz="1200" dirty="0"/>
          </a:p>
        </p:txBody>
      </p:sp>
      <p:sp>
        <p:nvSpPr>
          <p:cNvPr id="11" name="Text 9"/>
          <p:cNvSpPr/>
          <p:nvPr/>
        </p:nvSpPr>
        <p:spPr>
          <a:xfrm>
            <a:off x="7772400" y="3246120"/>
            <a:ext cx="3749040" cy="347472"/>
          </a:xfrm>
          <a:prstGeom prst="rect">
            <a:avLst/>
          </a:prstGeom>
          <a:noFill/>
          <a:ln/>
        </p:spPr>
        <p:txBody>
          <a:bodyPr wrap="square" rtlCol="0" anchor="ctr"/>
          <a:lstStyle/>
          <a:p>
            <a:pPr marL="0" indent="0" algn="ctr">
              <a:buNone/>
            </a:pPr>
            <a:r>
              <a:rPr lang="en-US" sz="1400" i="1" dirty="0">
                <a:solidFill>
                  <a:srgbClr val="0B1F3A"/>
                </a:solidFill>
              </a:rPr>
              <a:t>tópico: sala/temperatura</a:t>
            </a:r>
            <a:endParaRPr lang="en-US" sz="1400" dirty="0"/>
          </a:p>
        </p:txBody>
      </p:sp>
      <p:sp>
        <p:nvSpPr>
          <p:cNvPr id="12" name="Text 10"/>
          <p:cNvSpPr/>
          <p:nvPr/>
        </p:nvSpPr>
        <p:spPr>
          <a:xfrm>
            <a:off x="7635240" y="3931920"/>
            <a:ext cx="3886200" cy="685800"/>
          </a:xfrm>
          <a:prstGeom prst="roundRect">
            <a:avLst>
              <a:gd name="adj" fmla="val 16000"/>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Quem produz não precisa conhecer quem consome.</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MQTT.org</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Computação de borda</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Processar perto da origem</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Borda é o processamento realizado perto dos dispositivos.</a:t>
            </a:r>
            <a:endParaRPr lang="en-US" sz="2400" dirty="0"/>
          </a:p>
          <a:p>
            <a:pPr marL="0" indent="0">
              <a:buNone/>
            </a:pPr>
            <a:endParaRPr lang="en-US" sz="2400" dirty="0"/>
          </a:p>
          <a:p>
            <a:pPr marL="0" indent="0">
              <a:buNone/>
            </a:pPr>
            <a:r>
              <a:rPr lang="en-US" sz="2400" dirty="0">
                <a:solidFill>
                  <a:srgbClr val="172033"/>
                </a:solidFill>
              </a:rPr>
              <a:t>• Reduz latência e tráfego para a nuvem.</a:t>
            </a:r>
            <a:endParaRPr lang="en-US" sz="2400" dirty="0"/>
          </a:p>
          <a:p>
            <a:pPr marL="0" indent="0">
              <a:buNone/>
            </a:pPr>
            <a:endParaRPr lang="en-US" sz="2400" dirty="0"/>
          </a:p>
          <a:p>
            <a:pPr marL="0" indent="0">
              <a:buNone/>
            </a:pPr>
            <a:r>
              <a:rPr lang="en-US" sz="2400" dirty="0">
                <a:solidFill>
                  <a:srgbClr val="172033"/>
                </a:solidFill>
              </a:rPr>
              <a:t>• Permite resposta local mesmo com internet instável.</a:t>
            </a:r>
            <a:endParaRPr lang="en-US" sz="2400" dirty="0"/>
          </a:p>
          <a:p>
            <a:pPr marL="0" indent="0">
              <a:buNone/>
            </a:pPr>
            <a:endParaRPr lang="en-US" sz="2400" dirty="0"/>
          </a:p>
          <a:p>
            <a:pPr marL="0" indent="0">
              <a:buNone/>
            </a:pPr>
            <a:r>
              <a:rPr lang="en-US" sz="2400" dirty="0">
                <a:solidFill>
                  <a:srgbClr val="172033"/>
                </a:solidFill>
              </a:rPr>
              <a:t>• É útil para alarmes, filtragem e inferência simples.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Exemplo aplicado</a:t>
            </a:r>
            <a:endParaRPr lang="en-US" sz="1400" dirty="0"/>
          </a:p>
        </p:txBody>
      </p:sp>
      <p:sp>
        <p:nvSpPr>
          <p:cNvPr id="8" name="Text 6"/>
          <p:cNvSpPr/>
          <p:nvPr/>
        </p:nvSpPr>
        <p:spPr>
          <a:xfrm>
            <a:off x="7635240" y="1463040"/>
            <a:ext cx="3886200" cy="548640"/>
          </a:xfrm>
          <a:prstGeom prst="roundRect">
            <a:avLst>
              <a:gd name="adj" fmla="val 2000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Máquina</a:t>
            </a:r>
            <a:endParaRPr lang="en-US" sz="1500" dirty="0"/>
          </a:p>
          <a:p>
            <a:pPr marL="0" indent="0" algn="ctr">
              <a:buNone/>
            </a:pPr>
            <a:r>
              <a:rPr lang="en-US" sz="1500" b="1" dirty="0">
                <a:solidFill>
                  <a:srgbClr val="0284C7"/>
                </a:solidFill>
              </a:rPr>
              <a:t>mede vibração</a:t>
            </a:r>
            <a:endParaRPr lang="en-US" sz="1500" dirty="0"/>
          </a:p>
        </p:txBody>
      </p:sp>
      <p:sp>
        <p:nvSpPr>
          <p:cNvPr id="9" name="Text 7"/>
          <p:cNvSpPr/>
          <p:nvPr/>
        </p:nvSpPr>
        <p:spPr>
          <a:xfrm>
            <a:off x="7635240" y="2423160"/>
            <a:ext cx="3886200" cy="548640"/>
          </a:xfrm>
          <a:prstGeom prst="roundRect">
            <a:avLst>
              <a:gd name="adj" fmla="val 2000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a:t>
            </a:r>
            <a:endParaRPr lang="en-US" sz="1500" dirty="0"/>
          </a:p>
          <a:p>
            <a:pPr marL="0" indent="0" algn="ctr">
              <a:buNone/>
            </a:pPr>
            <a:r>
              <a:rPr lang="en-US" sz="1500" b="1" dirty="0">
                <a:solidFill>
                  <a:srgbClr val="10B981"/>
                </a:solidFill>
              </a:rPr>
              <a:t>filtra ruído</a:t>
            </a:r>
            <a:endParaRPr lang="en-US" sz="1500" dirty="0"/>
          </a:p>
        </p:txBody>
      </p:sp>
      <p:sp>
        <p:nvSpPr>
          <p:cNvPr id="10" name="Text 8"/>
          <p:cNvSpPr/>
          <p:nvPr/>
        </p:nvSpPr>
        <p:spPr>
          <a:xfrm>
            <a:off x="7635240" y="3383280"/>
            <a:ext cx="3886200" cy="548640"/>
          </a:xfrm>
          <a:prstGeom prst="roundRect">
            <a:avLst>
              <a:gd name="adj" fmla="val 2000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analisa tendência</a:t>
            </a:r>
            <a:endParaRPr lang="en-US" sz="1500" dirty="0"/>
          </a:p>
        </p:txBody>
      </p:sp>
      <p:sp>
        <p:nvSpPr>
          <p:cNvPr id="11" name="Text 9"/>
          <p:cNvSpPr/>
          <p:nvPr/>
        </p:nvSpPr>
        <p:spPr>
          <a:xfrm>
            <a:off x="7635240" y="4343400"/>
            <a:ext cx="3886200" cy="548640"/>
          </a:xfrm>
          <a:prstGeom prst="roundRect">
            <a:avLst>
              <a:gd name="adj" fmla="val 20000"/>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Aplicação</a:t>
            </a:r>
            <a:endParaRPr lang="en-US" sz="1500" dirty="0"/>
          </a:p>
          <a:p>
            <a:pPr marL="0" indent="0" algn="ctr">
              <a:buNone/>
            </a:pPr>
            <a:r>
              <a:rPr lang="en-US" sz="1500" b="1" dirty="0">
                <a:solidFill>
                  <a:srgbClr val="F97316"/>
                </a:solidFill>
              </a:rPr>
              <a:t>abre alerta</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AWS Well-Architected — IoT Edge</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Borda versus nuvem</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Onde executar cada tarefa?</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Borda: resposta rápida, filtro e autonomia local.</a:t>
            </a:r>
            <a:endParaRPr lang="en-US" sz="2400" dirty="0"/>
          </a:p>
          <a:p>
            <a:pPr marL="0" indent="0">
              <a:buNone/>
            </a:pPr>
            <a:endParaRPr lang="en-US" sz="2400" dirty="0"/>
          </a:p>
          <a:p>
            <a:pPr marL="0" indent="0">
              <a:buNone/>
            </a:pPr>
            <a:r>
              <a:rPr lang="en-US" sz="2400" dirty="0">
                <a:solidFill>
                  <a:srgbClr val="172033"/>
                </a:solidFill>
              </a:rPr>
              <a:t>• Nuvem: armazenamento, escala e integração ampla.</a:t>
            </a:r>
            <a:endParaRPr lang="en-US" sz="2400" dirty="0"/>
          </a:p>
          <a:p>
            <a:pPr marL="0" indent="0">
              <a:buNone/>
            </a:pPr>
            <a:endParaRPr lang="en-US" sz="2400" dirty="0"/>
          </a:p>
          <a:p>
            <a:pPr marL="0" indent="0">
              <a:buNone/>
            </a:pPr>
            <a:r>
              <a:rPr lang="en-US" sz="2400" dirty="0">
                <a:solidFill>
                  <a:srgbClr val="172033"/>
                </a:solidFill>
              </a:rPr>
              <a:t>• Dados sensíveis podem ser reduzidos antes do envio.</a:t>
            </a:r>
            <a:endParaRPr lang="en-US" sz="2400" dirty="0"/>
          </a:p>
          <a:p>
            <a:pPr marL="0" indent="0">
              <a:buNone/>
            </a:pPr>
            <a:endParaRPr lang="en-US" sz="2400" dirty="0"/>
          </a:p>
          <a:p>
            <a:pPr marL="0" indent="0">
              <a:buNone/>
            </a:pPr>
            <a:r>
              <a:rPr lang="en-US" sz="2400" dirty="0">
                <a:solidFill>
                  <a:srgbClr val="172033"/>
                </a:solidFill>
              </a:rPr>
              <a:t>• A melhor solução geralmente combina os dois.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Escolha arquitetural</a:t>
            </a:r>
            <a:endParaRPr lang="en-US" sz="1400" dirty="0"/>
          </a:p>
        </p:txBody>
      </p:sp>
      <p:sp>
        <p:nvSpPr>
          <p:cNvPr id="8" name="Text 6"/>
          <p:cNvSpPr/>
          <p:nvPr/>
        </p:nvSpPr>
        <p:spPr>
          <a:xfrm>
            <a:off x="7635240" y="1463040"/>
            <a:ext cx="3886200" cy="594360"/>
          </a:xfrm>
          <a:prstGeom prst="roundRect">
            <a:avLst>
              <a:gd name="adj" fmla="val 18462"/>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Precisa de resposta &lt; 1s?</a:t>
            </a:r>
            <a:endParaRPr lang="en-US" sz="1500" dirty="0"/>
          </a:p>
        </p:txBody>
      </p:sp>
      <p:sp>
        <p:nvSpPr>
          <p:cNvPr id="9" name="Text 7"/>
          <p:cNvSpPr/>
          <p:nvPr/>
        </p:nvSpPr>
        <p:spPr>
          <a:xfrm>
            <a:off x="7589520" y="2926080"/>
            <a:ext cx="1874520" cy="685800"/>
          </a:xfrm>
          <a:prstGeom prst="roundRect">
            <a:avLst>
              <a:gd name="adj" fmla="val 1600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Sim:</a:t>
            </a:r>
            <a:endParaRPr lang="en-US" sz="1500" dirty="0"/>
          </a:p>
          <a:p>
            <a:pPr marL="0" indent="0" algn="ctr">
              <a:buNone/>
            </a:pPr>
            <a:r>
              <a:rPr lang="en-US" sz="1500" b="1" dirty="0">
                <a:solidFill>
                  <a:srgbClr val="10B981"/>
                </a:solidFill>
              </a:rPr>
              <a:t>processar na borda</a:t>
            </a:r>
            <a:endParaRPr lang="en-US" sz="1500" dirty="0"/>
          </a:p>
        </p:txBody>
      </p:sp>
      <p:sp>
        <p:nvSpPr>
          <p:cNvPr id="10" name="Text 8"/>
          <p:cNvSpPr/>
          <p:nvPr/>
        </p:nvSpPr>
        <p:spPr>
          <a:xfrm>
            <a:off x="9921240" y="2926080"/>
            <a:ext cx="1874520" cy="685800"/>
          </a:xfrm>
          <a:prstGeom prst="roundRect">
            <a:avLst>
              <a:gd name="adj" fmla="val 1600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Não:</a:t>
            </a:r>
            <a:endParaRPr lang="en-US" sz="1500" dirty="0"/>
          </a:p>
          <a:p>
            <a:pPr marL="0" indent="0" algn="ctr">
              <a:buNone/>
            </a:pPr>
            <a:r>
              <a:rPr lang="en-US" sz="1500" b="1" dirty="0">
                <a:solidFill>
                  <a:srgbClr val="7C3AED"/>
                </a:solidFill>
              </a:rPr>
              <a:t>enviar à nuvem</a:t>
            </a:r>
            <a:endParaRPr lang="en-US" sz="1500" dirty="0"/>
          </a:p>
        </p:txBody>
      </p:sp>
      <p:sp>
        <p:nvSpPr>
          <p:cNvPr id="11" name="Text 9"/>
          <p:cNvSpPr/>
          <p:nvPr/>
        </p:nvSpPr>
        <p:spPr>
          <a:xfrm>
            <a:off x="7635240" y="4206240"/>
            <a:ext cx="3886200" cy="731520"/>
          </a:xfrm>
          <a:prstGeom prst="roundRect">
            <a:avLst>
              <a:gd name="adj" fmla="val 1500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Combine quando houver custo, privacidade ou instabilidade de rede.</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AWS IoT Greengrass</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Nuvem IoT</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Serviços centrais</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Recebe mensagens de milhares ou milhões de dispositivos.</a:t>
            </a:r>
            <a:endParaRPr lang="en-US" sz="2400" dirty="0"/>
          </a:p>
          <a:p>
            <a:pPr marL="0" indent="0">
              <a:buNone/>
            </a:pPr>
            <a:endParaRPr lang="en-US" sz="2400" dirty="0"/>
          </a:p>
          <a:p>
            <a:pPr marL="0" indent="0">
              <a:buNone/>
            </a:pPr>
            <a:r>
              <a:rPr lang="en-US" sz="2400" dirty="0">
                <a:solidFill>
                  <a:srgbClr val="172033"/>
                </a:solidFill>
              </a:rPr>
              <a:t>• Aplica regras, armazena séries temporais e integra APIs.</a:t>
            </a:r>
            <a:endParaRPr lang="en-US" sz="2400" dirty="0"/>
          </a:p>
          <a:p>
            <a:pPr marL="0" indent="0">
              <a:buNone/>
            </a:pPr>
            <a:endParaRPr lang="en-US" sz="2400" dirty="0"/>
          </a:p>
          <a:p>
            <a:pPr marL="0" indent="0">
              <a:buNone/>
            </a:pPr>
            <a:r>
              <a:rPr lang="en-US" sz="2400" dirty="0">
                <a:solidFill>
                  <a:srgbClr val="172033"/>
                </a:solidFill>
              </a:rPr>
              <a:t>• Controla identidade, permissões e roteamento de mensagens.</a:t>
            </a:r>
            <a:endParaRPr lang="en-US" sz="2400" dirty="0"/>
          </a:p>
          <a:p>
            <a:pPr marL="0" indent="0">
              <a:buNone/>
            </a:pPr>
            <a:endParaRPr lang="en-US" sz="2400" dirty="0"/>
          </a:p>
          <a:p>
            <a:pPr marL="0" indent="0">
              <a:buNone/>
            </a:pPr>
            <a:r>
              <a:rPr lang="en-US" sz="2400" dirty="0">
                <a:solidFill>
                  <a:srgbClr val="172033"/>
                </a:solidFill>
              </a:rPr>
              <a:t>• Alimenta dashboards, relatórios e automações.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Nuvem IoT</a:t>
            </a:r>
            <a:endParaRPr lang="en-US" sz="1400" dirty="0"/>
          </a:p>
        </p:txBody>
      </p:sp>
      <p:sp>
        <p:nvSpPr>
          <p:cNvPr id="8" name="Shape 6"/>
          <p:cNvSpPr/>
          <p:nvPr/>
        </p:nvSpPr>
        <p:spPr>
          <a:xfrm>
            <a:off x="7635240" y="1554480"/>
            <a:ext cx="3840480" cy="2103120"/>
          </a:xfrm>
          <a:prstGeom prst="cloud">
            <a:avLst/>
          </a:prstGeom>
          <a:solidFill>
            <a:srgbClr val="EDE9FE"/>
          </a:solidFill>
          <a:ln w="12700">
            <a:solidFill>
              <a:srgbClr val="7C3AED"/>
            </a:solidFill>
            <a:prstDash val="solid"/>
          </a:ln>
        </p:spPr>
      </p:sp>
      <p:sp>
        <p:nvSpPr>
          <p:cNvPr id="9" name="Text 7"/>
          <p:cNvSpPr/>
          <p:nvPr/>
        </p:nvSpPr>
        <p:spPr>
          <a:xfrm>
            <a:off x="8275320" y="1965960"/>
            <a:ext cx="2560320" cy="1280160"/>
          </a:xfrm>
          <a:prstGeom prst="rect">
            <a:avLst/>
          </a:prstGeom>
          <a:noFill/>
          <a:ln/>
        </p:spPr>
        <p:txBody>
          <a:bodyPr wrap="square" lIns="0" tIns="0" rIns="0" bIns="0" rtlCol="0" anchor="ctr"/>
          <a:lstStyle/>
          <a:p>
            <a:pPr marL="0" indent="0" algn="ctr">
              <a:buNone/>
            </a:pPr>
            <a:r>
              <a:rPr lang="en-US" sz="1800" b="1" dirty="0">
                <a:solidFill>
                  <a:srgbClr val="7C3AED"/>
                </a:solidFill>
              </a:rPr>
              <a:t>Ingestão</a:t>
            </a:r>
            <a:endParaRPr lang="en-US" sz="1800" dirty="0"/>
          </a:p>
          <a:p>
            <a:pPr marL="0" indent="0" algn="ctr">
              <a:buNone/>
            </a:pPr>
            <a:r>
              <a:rPr lang="en-US" sz="1800" b="1" dirty="0">
                <a:solidFill>
                  <a:srgbClr val="7C3AED"/>
                </a:solidFill>
              </a:rPr>
              <a:t>Regras</a:t>
            </a:r>
            <a:endParaRPr lang="en-US" sz="1800" dirty="0"/>
          </a:p>
          <a:p>
            <a:pPr marL="0" indent="0" algn="ctr">
              <a:buNone/>
            </a:pPr>
            <a:r>
              <a:rPr lang="en-US" sz="1800" b="1" dirty="0">
                <a:solidFill>
                  <a:srgbClr val="7C3AED"/>
                </a:solidFill>
              </a:rPr>
              <a:t>Banco de dados</a:t>
            </a:r>
            <a:endParaRPr lang="en-US" sz="1800" dirty="0"/>
          </a:p>
          <a:p>
            <a:pPr marL="0" indent="0" algn="ctr">
              <a:buNone/>
            </a:pPr>
            <a:r>
              <a:rPr lang="en-US" sz="1800" b="1" dirty="0">
                <a:solidFill>
                  <a:srgbClr val="7C3AED"/>
                </a:solidFill>
              </a:rPr>
              <a:t>APIs</a:t>
            </a:r>
            <a:endParaRPr lang="en-US" sz="1800" dirty="0"/>
          </a:p>
        </p:txBody>
      </p:sp>
      <p:sp>
        <p:nvSpPr>
          <p:cNvPr id="10" name="Text 8"/>
          <p:cNvSpPr/>
          <p:nvPr/>
        </p:nvSpPr>
        <p:spPr>
          <a:xfrm>
            <a:off x="7818120" y="4206240"/>
            <a:ext cx="1280160" cy="502920"/>
          </a:xfrm>
          <a:prstGeom prst="roundRect">
            <a:avLst/>
          </a:prstGeom>
          <a:solidFill>
            <a:srgbClr val="E0F2FE"/>
          </a:solidFill>
          <a:ln>
            <a:solidFill>
              <a:srgbClr val="0284C7"/>
            </a:solidFill>
          </a:ln>
        </p:spPr>
        <p:txBody>
          <a:bodyPr wrap="square" lIns="508" tIns="508" rIns="508" bIns="508" rtlCol="0" anchor="ctr">
            <a:normAutofit/>
          </a:bodyPr>
          <a:lstStyle/>
          <a:p>
            <a:pPr marL="0" indent="0" algn="ctr">
              <a:buNone/>
            </a:pPr>
            <a:r>
              <a:rPr lang="en-US" sz="1100" b="1" dirty="0">
                <a:solidFill>
                  <a:srgbClr val="0284C7"/>
                </a:solidFill>
              </a:rPr>
              <a:t>Dispositivos</a:t>
            </a:r>
            <a:endParaRPr lang="en-US" sz="1100" dirty="0"/>
          </a:p>
        </p:txBody>
      </p:sp>
      <p:sp>
        <p:nvSpPr>
          <p:cNvPr id="11" name="Text 9"/>
          <p:cNvSpPr/>
          <p:nvPr/>
        </p:nvSpPr>
        <p:spPr>
          <a:xfrm>
            <a:off x="10058400" y="4206240"/>
            <a:ext cx="1280160" cy="502920"/>
          </a:xfrm>
          <a:prstGeom prst="roundRect">
            <a:avLst/>
          </a:prstGeom>
          <a:solidFill>
            <a:srgbClr val="DCFCE7"/>
          </a:solidFill>
          <a:ln>
            <a:solidFill>
              <a:srgbClr val="10B981"/>
            </a:solidFill>
          </a:ln>
        </p:spPr>
        <p:txBody>
          <a:bodyPr wrap="square" lIns="508" tIns="508" rIns="508" bIns="508" rtlCol="0" anchor="ctr">
            <a:normAutofit/>
          </a:bodyPr>
          <a:lstStyle/>
          <a:p>
            <a:pPr marL="0" indent="0" algn="ctr">
              <a:buNone/>
            </a:pPr>
            <a:r>
              <a:rPr lang="en-US" sz="1100" b="1" dirty="0">
                <a:solidFill>
                  <a:srgbClr val="10B981"/>
                </a:solidFill>
              </a:rPr>
              <a:t>Aplicações</a:t>
            </a:r>
            <a:endParaRPr lang="en-US" sz="11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Microsoft Learn — Azure IoT Hub</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Aplicações IoT</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Transformar dados em valor</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Dashboards mostram estado e histórico dos dispositivos.</a:t>
            </a:r>
            <a:endParaRPr lang="en-US" sz="2400" dirty="0"/>
          </a:p>
          <a:p>
            <a:pPr marL="0" indent="0">
              <a:buNone/>
            </a:pPr>
            <a:endParaRPr lang="en-US" sz="2400" dirty="0"/>
          </a:p>
          <a:p>
            <a:pPr marL="0" indent="0">
              <a:buNone/>
            </a:pPr>
            <a:r>
              <a:rPr lang="en-US" sz="2400" dirty="0">
                <a:solidFill>
                  <a:srgbClr val="172033"/>
                </a:solidFill>
              </a:rPr>
              <a:t>• Alertas notificam situações anormais.</a:t>
            </a:r>
            <a:endParaRPr lang="en-US" sz="2400" dirty="0"/>
          </a:p>
          <a:p>
            <a:pPr marL="0" indent="0">
              <a:buNone/>
            </a:pPr>
            <a:endParaRPr lang="en-US" sz="2400" dirty="0"/>
          </a:p>
          <a:p>
            <a:pPr marL="0" indent="0">
              <a:buNone/>
            </a:pPr>
            <a:r>
              <a:rPr lang="en-US" sz="2400" dirty="0">
                <a:solidFill>
                  <a:srgbClr val="172033"/>
                </a:solidFill>
              </a:rPr>
              <a:t>• APIs integram IoT a sistemas acadêmicos ou corporativos.</a:t>
            </a:r>
            <a:endParaRPr lang="en-US" sz="2400" dirty="0"/>
          </a:p>
          <a:p>
            <a:pPr marL="0" indent="0">
              <a:buNone/>
            </a:pPr>
            <a:endParaRPr lang="en-US" sz="2400" dirty="0"/>
          </a:p>
          <a:p>
            <a:pPr marL="0" indent="0">
              <a:buNone/>
            </a:pPr>
            <a:r>
              <a:rPr lang="en-US" sz="2400" dirty="0">
                <a:solidFill>
                  <a:srgbClr val="172033"/>
                </a:solidFill>
              </a:rPr>
              <a:t>• Automação fecha o ciclo entre detectar e agir.</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Fluxo geral de uma solução IoT</a:t>
            </a:r>
            <a:endParaRPr lang="en-US" sz="1400" dirty="0"/>
          </a:p>
        </p:txBody>
      </p:sp>
      <p:sp>
        <p:nvSpPr>
          <p:cNvPr id="8" name="Text 6"/>
          <p:cNvSpPr/>
          <p:nvPr/>
        </p:nvSpPr>
        <p:spPr>
          <a:xfrm>
            <a:off x="7543800" y="1417320"/>
            <a:ext cx="4069080" cy="594360"/>
          </a:xfrm>
          <a:prstGeom prst="roundRect">
            <a:avLst>
              <a:gd name="adj" fmla="val 18462"/>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Dispositivo</a:t>
            </a:r>
            <a:endParaRPr lang="en-US" sz="1500" dirty="0"/>
          </a:p>
          <a:p>
            <a:pPr marL="0" indent="0" algn="ctr">
              <a:buNone/>
            </a:pPr>
            <a:r>
              <a:rPr lang="en-US" sz="1500" b="1" dirty="0">
                <a:solidFill>
                  <a:srgbClr val="0284C7"/>
                </a:solidFill>
              </a:rPr>
              <a:t>(sensor/atuador)</a:t>
            </a:r>
            <a:endParaRPr lang="en-US" sz="1500" dirty="0"/>
          </a:p>
        </p:txBody>
      </p:sp>
      <p:sp>
        <p:nvSpPr>
          <p:cNvPr id="9" name="Text 7"/>
          <p:cNvSpPr/>
          <p:nvPr/>
        </p:nvSpPr>
        <p:spPr>
          <a:xfrm>
            <a:off x="7543800" y="2240280"/>
            <a:ext cx="4069080" cy="594360"/>
          </a:xfrm>
          <a:prstGeom prst="roundRect">
            <a:avLst>
              <a:gd name="adj" fmla="val 18462"/>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Gateway</a:t>
            </a:r>
            <a:endParaRPr lang="en-US" sz="1500" dirty="0"/>
          </a:p>
          <a:p>
            <a:pPr marL="0" indent="0" algn="ctr">
              <a:buNone/>
            </a:pPr>
            <a:r>
              <a:rPr lang="en-US" sz="1500" b="1" dirty="0">
                <a:solidFill>
                  <a:srgbClr val="F97316"/>
                </a:solidFill>
              </a:rPr>
              <a:t>(concentra e traduz)</a:t>
            </a:r>
            <a:endParaRPr lang="en-US" sz="1500" dirty="0"/>
          </a:p>
        </p:txBody>
      </p:sp>
      <p:sp>
        <p:nvSpPr>
          <p:cNvPr id="10" name="Text 8"/>
          <p:cNvSpPr/>
          <p:nvPr/>
        </p:nvSpPr>
        <p:spPr>
          <a:xfrm>
            <a:off x="7543800" y="3063240"/>
            <a:ext cx="4069080" cy="594360"/>
          </a:xfrm>
          <a:prstGeom prst="roundRect">
            <a:avLst>
              <a:gd name="adj" fmla="val 18462"/>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 / Edge</a:t>
            </a:r>
            <a:endParaRPr lang="en-US" sz="1500" dirty="0"/>
          </a:p>
          <a:p>
            <a:pPr marL="0" indent="0" algn="ctr">
              <a:buNone/>
            </a:pPr>
            <a:r>
              <a:rPr lang="en-US" sz="1500" b="1" dirty="0">
                <a:solidFill>
                  <a:srgbClr val="10B981"/>
                </a:solidFill>
              </a:rPr>
              <a:t>(processa perto)</a:t>
            </a:r>
            <a:endParaRPr lang="en-US" sz="1500" dirty="0"/>
          </a:p>
        </p:txBody>
      </p:sp>
      <p:sp>
        <p:nvSpPr>
          <p:cNvPr id="11" name="Text 9"/>
          <p:cNvSpPr/>
          <p:nvPr/>
        </p:nvSpPr>
        <p:spPr>
          <a:xfrm>
            <a:off x="7543800" y="3886200"/>
            <a:ext cx="4069080" cy="594360"/>
          </a:xfrm>
          <a:prstGeom prst="roundRect">
            <a:avLst>
              <a:gd name="adj" fmla="val 18462"/>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(escala e armazena)</a:t>
            </a:r>
            <a:endParaRPr lang="en-US" sz="1500" dirty="0"/>
          </a:p>
        </p:txBody>
      </p:sp>
      <p:sp>
        <p:nvSpPr>
          <p:cNvPr id="12" name="Text 10"/>
          <p:cNvSpPr/>
          <p:nvPr/>
        </p:nvSpPr>
        <p:spPr>
          <a:xfrm>
            <a:off x="7543800" y="4709160"/>
            <a:ext cx="4069080" cy="594360"/>
          </a:xfrm>
          <a:prstGeom prst="roundRect">
            <a:avLst>
              <a:gd name="adj" fmla="val 18462"/>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Aplicações</a:t>
            </a:r>
            <a:endParaRPr lang="en-US" sz="1500" dirty="0"/>
          </a:p>
          <a:p>
            <a:pPr marL="0" indent="0" algn="ctr">
              <a:buNone/>
            </a:pPr>
            <a:r>
              <a:rPr lang="en-US" sz="1500" b="1" dirty="0">
                <a:solidFill>
                  <a:srgbClr val="CA8A04"/>
                </a:solidFill>
              </a:rPr>
              <a:t>(decisão e ação)</a:t>
            </a:r>
            <a:endParaRPr lang="en-US" sz="150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Fluxo ponta a ponta</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Da medição à ação</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Capturar: sensor lê uma grandeza física.</a:t>
            </a:r>
            <a:endParaRPr lang="en-US" sz="2400" dirty="0"/>
          </a:p>
          <a:p>
            <a:pPr marL="0" indent="0">
              <a:buNone/>
            </a:pPr>
            <a:endParaRPr lang="en-US" sz="2400" dirty="0"/>
          </a:p>
          <a:p>
            <a:pPr marL="0" indent="0">
              <a:buNone/>
            </a:pPr>
            <a:r>
              <a:rPr lang="en-US" sz="2400" dirty="0">
                <a:solidFill>
                  <a:srgbClr val="172033"/>
                </a:solidFill>
              </a:rPr>
              <a:t>• Comunicar: mensagem é enviada pela rede.</a:t>
            </a:r>
            <a:endParaRPr lang="en-US" sz="2400" dirty="0"/>
          </a:p>
          <a:p>
            <a:pPr marL="0" indent="0">
              <a:buNone/>
            </a:pPr>
            <a:endParaRPr lang="en-US" sz="2400" dirty="0"/>
          </a:p>
          <a:p>
            <a:pPr marL="0" indent="0">
              <a:buNone/>
            </a:pPr>
            <a:r>
              <a:rPr lang="en-US" sz="2400" dirty="0">
                <a:solidFill>
                  <a:srgbClr val="172033"/>
                </a:solidFill>
              </a:rPr>
              <a:t>• Processar: borda ou nuvem aplica regras.</a:t>
            </a:r>
            <a:endParaRPr lang="en-US" sz="2400" dirty="0"/>
          </a:p>
          <a:p>
            <a:pPr marL="0" indent="0">
              <a:buNone/>
            </a:pPr>
            <a:endParaRPr lang="en-US" sz="2400" dirty="0"/>
          </a:p>
          <a:p>
            <a:pPr marL="0" indent="0">
              <a:buNone/>
            </a:pPr>
            <a:r>
              <a:rPr lang="en-US" sz="2400" dirty="0">
                <a:solidFill>
                  <a:srgbClr val="172033"/>
                </a:solidFill>
              </a:rPr>
              <a:t>• Decidir: aplicação apresenta alerta ou executa ação.</a:t>
            </a:r>
            <a:endParaRPr lang="en-US" sz="2400" dirty="0"/>
          </a:p>
          <a:p>
            <a:pPr marL="0" indent="0">
              <a:buNone/>
            </a:pPr>
            <a:endParaRPr lang="en-US" sz="2400" dirty="0"/>
          </a:p>
          <a:p>
            <a:pPr marL="0" indent="0">
              <a:buNone/>
            </a:pPr>
            <a:r>
              <a:rPr lang="en-US" sz="2400" dirty="0">
                <a:solidFill>
                  <a:srgbClr val="172033"/>
                </a:solidFill>
              </a:rPr>
              <a:t>• Aprender: histórico melhora decisões futuras.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Exemplo aplicado</a:t>
            </a:r>
            <a:endParaRPr lang="en-US" sz="1400" dirty="0"/>
          </a:p>
        </p:txBody>
      </p:sp>
      <p:sp>
        <p:nvSpPr>
          <p:cNvPr id="8" name="Text 6"/>
          <p:cNvSpPr/>
          <p:nvPr/>
        </p:nvSpPr>
        <p:spPr>
          <a:xfrm>
            <a:off x="7635240" y="1463040"/>
            <a:ext cx="3886200" cy="548640"/>
          </a:xfrm>
          <a:prstGeom prst="roundRect">
            <a:avLst>
              <a:gd name="adj" fmla="val 2000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Máquina</a:t>
            </a:r>
            <a:endParaRPr lang="en-US" sz="1500" dirty="0"/>
          </a:p>
          <a:p>
            <a:pPr marL="0" indent="0" algn="ctr">
              <a:buNone/>
            </a:pPr>
            <a:r>
              <a:rPr lang="en-US" sz="1500" b="1" dirty="0">
                <a:solidFill>
                  <a:srgbClr val="0284C7"/>
                </a:solidFill>
              </a:rPr>
              <a:t>mede vibração</a:t>
            </a:r>
            <a:endParaRPr lang="en-US" sz="1500" dirty="0"/>
          </a:p>
        </p:txBody>
      </p:sp>
      <p:sp>
        <p:nvSpPr>
          <p:cNvPr id="9" name="Text 7"/>
          <p:cNvSpPr/>
          <p:nvPr/>
        </p:nvSpPr>
        <p:spPr>
          <a:xfrm>
            <a:off x="7635240" y="2423160"/>
            <a:ext cx="3886200" cy="548640"/>
          </a:xfrm>
          <a:prstGeom prst="roundRect">
            <a:avLst>
              <a:gd name="adj" fmla="val 2000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a:t>
            </a:r>
            <a:endParaRPr lang="en-US" sz="1500" dirty="0"/>
          </a:p>
          <a:p>
            <a:pPr marL="0" indent="0" algn="ctr">
              <a:buNone/>
            </a:pPr>
            <a:r>
              <a:rPr lang="en-US" sz="1500" b="1" dirty="0">
                <a:solidFill>
                  <a:srgbClr val="10B981"/>
                </a:solidFill>
              </a:rPr>
              <a:t>filtra ruído</a:t>
            </a:r>
            <a:endParaRPr lang="en-US" sz="1500" dirty="0"/>
          </a:p>
        </p:txBody>
      </p:sp>
      <p:sp>
        <p:nvSpPr>
          <p:cNvPr id="10" name="Text 8"/>
          <p:cNvSpPr/>
          <p:nvPr/>
        </p:nvSpPr>
        <p:spPr>
          <a:xfrm>
            <a:off x="7635240" y="3383280"/>
            <a:ext cx="3886200" cy="548640"/>
          </a:xfrm>
          <a:prstGeom prst="roundRect">
            <a:avLst>
              <a:gd name="adj" fmla="val 2000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analisa tendência</a:t>
            </a:r>
            <a:endParaRPr lang="en-US" sz="1500" dirty="0"/>
          </a:p>
        </p:txBody>
      </p:sp>
      <p:sp>
        <p:nvSpPr>
          <p:cNvPr id="11" name="Text 9"/>
          <p:cNvSpPr/>
          <p:nvPr/>
        </p:nvSpPr>
        <p:spPr>
          <a:xfrm>
            <a:off x="7635240" y="4343400"/>
            <a:ext cx="3886200" cy="548640"/>
          </a:xfrm>
          <a:prstGeom prst="roundRect">
            <a:avLst>
              <a:gd name="adj" fmla="val 20000"/>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Aplicação</a:t>
            </a:r>
            <a:endParaRPr lang="en-US" sz="1500" dirty="0"/>
          </a:p>
          <a:p>
            <a:pPr marL="0" indent="0" algn="ctr">
              <a:buNone/>
            </a:pPr>
            <a:r>
              <a:rPr lang="en-US" sz="1500" b="1" dirty="0">
                <a:solidFill>
                  <a:srgbClr val="F97316"/>
                </a:solidFill>
              </a:rPr>
              <a:t>abre alerta</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Microsoft Learn — mensagens IoT Hub</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Modelo publish/subscribe</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Comunicação por tópicos</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Produtores publicam mensagens em tópicos.</a:t>
            </a:r>
            <a:endParaRPr lang="en-US" sz="2400" dirty="0"/>
          </a:p>
          <a:p>
            <a:pPr marL="0" indent="0">
              <a:buNone/>
            </a:pPr>
            <a:endParaRPr lang="en-US" sz="2400" dirty="0"/>
          </a:p>
          <a:p>
            <a:pPr marL="0" indent="0">
              <a:buNone/>
            </a:pPr>
            <a:r>
              <a:rPr lang="en-US" sz="2400" dirty="0">
                <a:solidFill>
                  <a:srgbClr val="172033"/>
                </a:solidFill>
              </a:rPr>
              <a:t>• Consumidores assinam tópicos de interesse.</a:t>
            </a:r>
            <a:endParaRPr lang="en-US" sz="2400" dirty="0"/>
          </a:p>
          <a:p>
            <a:pPr marL="0" indent="0">
              <a:buNone/>
            </a:pPr>
            <a:endParaRPr lang="en-US" sz="2400" dirty="0"/>
          </a:p>
          <a:p>
            <a:pPr marL="0" indent="0">
              <a:buNone/>
            </a:pPr>
            <a:r>
              <a:rPr lang="en-US" sz="2400" dirty="0">
                <a:solidFill>
                  <a:srgbClr val="172033"/>
                </a:solidFill>
              </a:rPr>
              <a:t>• O broker intermediário distribui as mensagens.</a:t>
            </a:r>
            <a:endParaRPr lang="en-US" sz="2400" dirty="0"/>
          </a:p>
          <a:p>
            <a:pPr marL="0" indent="0">
              <a:buNone/>
            </a:pPr>
            <a:endParaRPr lang="en-US" sz="2400" dirty="0"/>
          </a:p>
          <a:p>
            <a:pPr marL="0" indent="0">
              <a:buNone/>
            </a:pPr>
            <a:r>
              <a:rPr lang="en-US" sz="2400" dirty="0">
                <a:solidFill>
                  <a:srgbClr val="172033"/>
                </a:solidFill>
              </a:rPr>
              <a:t>• Isso desacopla dispositivo e aplicação.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Publicação/assinatura</a:t>
            </a:r>
            <a:endParaRPr lang="en-US" sz="1400" dirty="0"/>
          </a:p>
        </p:txBody>
      </p:sp>
      <p:sp>
        <p:nvSpPr>
          <p:cNvPr id="8" name="Text 6"/>
          <p:cNvSpPr/>
          <p:nvPr/>
        </p:nvSpPr>
        <p:spPr>
          <a:xfrm>
            <a:off x="7589520" y="2011680"/>
            <a:ext cx="1143000" cy="731520"/>
          </a:xfrm>
          <a:prstGeom prst="roundRect">
            <a:avLst/>
          </a:prstGeom>
          <a:solidFill>
            <a:srgbClr val="E0F2FE"/>
          </a:solidFill>
          <a:ln>
            <a:solidFill>
              <a:srgbClr val="0284C7"/>
            </a:solidFill>
          </a:ln>
        </p:spPr>
        <p:txBody>
          <a:bodyPr wrap="square" lIns="508" tIns="508" rIns="508" bIns="508" rtlCol="0" anchor="ctr">
            <a:normAutofit/>
          </a:bodyPr>
          <a:lstStyle/>
          <a:p>
            <a:pPr marL="0" indent="0" algn="ctr">
              <a:buNone/>
            </a:pPr>
            <a:r>
              <a:rPr lang="en-US" sz="1200" b="1" dirty="0">
                <a:solidFill>
                  <a:srgbClr val="0284C7"/>
                </a:solidFill>
              </a:rPr>
              <a:t>Sensor</a:t>
            </a:r>
            <a:endParaRPr lang="en-US" sz="1200" dirty="0"/>
          </a:p>
          <a:p>
            <a:pPr marL="0" indent="0" algn="ctr">
              <a:buNone/>
            </a:pPr>
            <a:r>
              <a:rPr lang="en-US" sz="1200" b="1" dirty="0">
                <a:solidFill>
                  <a:srgbClr val="0284C7"/>
                </a:solidFill>
              </a:rPr>
              <a:t>publica</a:t>
            </a:r>
            <a:endParaRPr lang="en-US" sz="1200" dirty="0"/>
          </a:p>
        </p:txBody>
      </p:sp>
      <p:sp>
        <p:nvSpPr>
          <p:cNvPr id="9" name="Text 7"/>
          <p:cNvSpPr/>
          <p:nvPr/>
        </p:nvSpPr>
        <p:spPr>
          <a:xfrm>
            <a:off x="9144000" y="1874520"/>
            <a:ext cx="1371600" cy="1005840"/>
          </a:xfrm>
          <a:prstGeom prst="roundRect">
            <a:avLst/>
          </a:prstGeom>
          <a:solidFill>
            <a:srgbClr val="FFEDD5"/>
          </a:solidFill>
          <a:ln>
            <a:solidFill>
              <a:srgbClr val="F97316"/>
            </a:solidFill>
          </a:ln>
        </p:spPr>
        <p:txBody>
          <a:bodyPr wrap="square" lIns="508" tIns="508" rIns="508" bIns="508" rtlCol="0" anchor="ctr">
            <a:normAutofit/>
          </a:bodyPr>
          <a:lstStyle/>
          <a:p>
            <a:pPr marL="0" indent="0" algn="ctr">
              <a:buNone/>
            </a:pPr>
            <a:r>
              <a:rPr lang="en-US" sz="1200" b="1" dirty="0">
                <a:solidFill>
                  <a:srgbClr val="F97316"/>
                </a:solidFill>
              </a:rPr>
              <a:t>Broker</a:t>
            </a:r>
            <a:endParaRPr lang="en-US" sz="1200" dirty="0"/>
          </a:p>
          <a:p>
            <a:pPr marL="0" indent="0" algn="ctr">
              <a:buNone/>
            </a:pPr>
            <a:r>
              <a:rPr lang="en-US" sz="1200" b="1" dirty="0">
                <a:solidFill>
                  <a:srgbClr val="F97316"/>
                </a:solidFill>
              </a:rPr>
              <a:t>MQTT</a:t>
            </a:r>
            <a:endParaRPr lang="en-US" sz="1200" dirty="0"/>
          </a:p>
        </p:txBody>
      </p:sp>
      <p:sp>
        <p:nvSpPr>
          <p:cNvPr id="10" name="Text 8"/>
          <p:cNvSpPr/>
          <p:nvPr/>
        </p:nvSpPr>
        <p:spPr>
          <a:xfrm>
            <a:off x="10972800" y="2011680"/>
            <a:ext cx="822960" cy="731520"/>
          </a:xfrm>
          <a:prstGeom prst="roundRect">
            <a:avLst/>
          </a:prstGeom>
          <a:solidFill>
            <a:srgbClr val="DCFCE7"/>
          </a:solidFill>
          <a:ln>
            <a:solidFill>
              <a:srgbClr val="10B981"/>
            </a:solidFill>
          </a:ln>
        </p:spPr>
        <p:txBody>
          <a:bodyPr wrap="square" lIns="508" tIns="508" rIns="508" bIns="508" rtlCol="0" anchor="ctr">
            <a:normAutofit/>
          </a:bodyPr>
          <a:lstStyle/>
          <a:p>
            <a:pPr marL="0" indent="0" algn="ctr">
              <a:buNone/>
            </a:pPr>
            <a:r>
              <a:rPr lang="en-US" sz="1200" b="1" dirty="0">
                <a:solidFill>
                  <a:srgbClr val="10B981"/>
                </a:solidFill>
              </a:rPr>
              <a:t>App</a:t>
            </a:r>
            <a:endParaRPr lang="en-US" sz="1200" dirty="0"/>
          </a:p>
          <a:p>
            <a:pPr marL="0" indent="0" algn="ctr">
              <a:buNone/>
            </a:pPr>
            <a:r>
              <a:rPr lang="en-US" sz="1200" b="1" dirty="0">
                <a:solidFill>
                  <a:srgbClr val="10B981"/>
                </a:solidFill>
              </a:rPr>
              <a:t>assina</a:t>
            </a:r>
            <a:endParaRPr lang="en-US" sz="1200" dirty="0"/>
          </a:p>
        </p:txBody>
      </p:sp>
      <p:sp>
        <p:nvSpPr>
          <p:cNvPr id="11" name="Text 9"/>
          <p:cNvSpPr/>
          <p:nvPr/>
        </p:nvSpPr>
        <p:spPr>
          <a:xfrm>
            <a:off x="7772400" y="3246120"/>
            <a:ext cx="3749040" cy="347472"/>
          </a:xfrm>
          <a:prstGeom prst="rect">
            <a:avLst/>
          </a:prstGeom>
          <a:noFill/>
          <a:ln/>
        </p:spPr>
        <p:txBody>
          <a:bodyPr wrap="square" rtlCol="0" anchor="ctr"/>
          <a:lstStyle/>
          <a:p>
            <a:pPr marL="0" indent="0" algn="ctr">
              <a:buNone/>
            </a:pPr>
            <a:r>
              <a:rPr lang="en-US" sz="1400" i="1" dirty="0">
                <a:solidFill>
                  <a:srgbClr val="0B1F3A"/>
                </a:solidFill>
              </a:rPr>
              <a:t>tópico: sala/temperatura</a:t>
            </a:r>
            <a:endParaRPr lang="en-US" sz="1400" dirty="0"/>
          </a:p>
        </p:txBody>
      </p:sp>
      <p:sp>
        <p:nvSpPr>
          <p:cNvPr id="12" name="Text 10"/>
          <p:cNvSpPr/>
          <p:nvPr/>
        </p:nvSpPr>
        <p:spPr>
          <a:xfrm>
            <a:off x="7635240" y="3931920"/>
            <a:ext cx="3886200" cy="685800"/>
          </a:xfrm>
          <a:prstGeom prst="roundRect">
            <a:avLst>
              <a:gd name="adj" fmla="val 16000"/>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Quem produz não precisa conhecer quem consome.</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MQTT.org</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MQTT</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Protocolo leve para mensagens IoT</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MQTT é baseado em publish/subscribe.</a:t>
            </a:r>
            <a:endParaRPr lang="en-US" sz="2400" dirty="0"/>
          </a:p>
          <a:p>
            <a:pPr marL="0" indent="0">
              <a:buNone/>
            </a:pPr>
            <a:endParaRPr lang="en-US" sz="2400" dirty="0"/>
          </a:p>
          <a:p>
            <a:pPr marL="0" indent="0">
              <a:buNone/>
            </a:pPr>
            <a:r>
              <a:rPr lang="en-US" sz="2400" dirty="0">
                <a:solidFill>
                  <a:srgbClr val="172033"/>
                </a:solidFill>
              </a:rPr>
              <a:t>• É indicado para dispositivos com rede limitada.</a:t>
            </a:r>
            <a:endParaRPr lang="en-US" sz="2400" dirty="0"/>
          </a:p>
          <a:p>
            <a:pPr marL="0" indent="0">
              <a:buNone/>
            </a:pPr>
            <a:endParaRPr lang="en-US" sz="2400" dirty="0"/>
          </a:p>
          <a:p>
            <a:pPr marL="0" indent="0">
              <a:buNone/>
            </a:pPr>
            <a:r>
              <a:rPr lang="en-US" sz="2400" dirty="0">
                <a:solidFill>
                  <a:srgbClr val="172033"/>
                </a:solidFill>
              </a:rPr>
              <a:t>• Usa tópicos para organizar mensagens.</a:t>
            </a:r>
            <a:endParaRPr lang="en-US" sz="2400" dirty="0"/>
          </a:p>
          <a:p>
            <a:pPr marL="0" indent="0">
              <a:buNone/>
            </a:pPr>
            <a:endParaRPr lang="en-US" sz="2400" dirty="0"/>
          </a:p>
          <a:p>
            <a:pPr marL="0" indent="0">
              <a:buNone/>
            </a:pPr>
            <a:r>
              <a:rPr lang="en-US" sz="2400" dirty="0">
                <a:solidFill>
                  <a:srgbClr val="172033"/>
                </a:solidFill>
              </a:rPr>
              <a:t>• Pode trabalhar com níveis de qualidade de serviço.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Publicação/assinatura</a:t>
            </a:r>
            <a:endParaRPr lang="en-US" sz="1400" dirty="0"/>
          </a:p>
        </p:txBody>
      </p:sp>
      <p:sp>
        <p:nvSpPr>
          <p:cNvPr id="8" name="Text 6"/>
          <p:cNvSpPr/>
          <p:nvPr/>
        </p:nvSpPr>
        <p:spPr>
          <a:xfrm>
            <a:off x="7589520" y="2011680"/>
            <a:ext cx="1143000" cy="731520"/>
          </a:xfrm>
          <a:prstGeom prst="roundRect">
            <a:avLst/>
          </a:prstGeom>
          <a:solidFill>
            <a:srgbClr val="E0F2FE"/>
          </a:solidFill>
          <a:ln>
            <a:solidFill>
              <a:srgbClr val="0284C7"/>
            </a:solidFill>
          </a:ln>
        </p:spPr>
        <p:txBody>
          <a:bodyPr wrap="square" lIns="508" tIns="508" rIns="508" bIns="508" rtlCol="0" anchor="ctr">
            <a:normAutofit/>
          </a:bodyPr>
          <a:lstStyle/>
          <a:p>
            <a:pPr marL="0" indent="0" algn="ctr">
              <a:buNone/>
            </a:pPr>
            <a:r>
              <a:rPr lang="en-US" sz="1200" b="1" dirty="0">
                <a:solidFill>
                  <a:srgbClr val="0284C7"/>
                </a:solidFill>
              </a:rPr>
              <a:t>Sensor</a:t>
            </a:r>
            <a:endParaRPr lang="en-US" sz="1200" dirty="0"/>
          </a:p>
          <a:p>
            <a:pPr marL="0" indent="0" algn="ctr">
              <a:buNone/>
            </a:pPr>
            <a:r>
              <a:rPr lang="en-US" sz="1200" b="1" dirty="0">
                <a:solidFill>
                  <a:srgbClr val="0284C7"/>
                </a:solidFill>
              </a:rPr>
              <a:t>publica</a:t>
            </a:r>
            <a:endParaRPr lang="en-US" sz="1200" dirty="0"/>
          </a:p>
        </p:txBody>
      </p:sp>
      <p:sp>
        <p:nvSpPr>
          <p:cNvPr id="9" name="Text 7"/>
          <p:cNvSpPr/>
          <p:nvPr/>
        </p:nvSpPr>
        <p:spPr>
          <a:xfrm>
            <a:off x="9144000" y="1874520"/>
            <a:ext cx="1371600" cy="1005840"/>
          </a:xfrm>
          <a:prstGeom prst="roundRect">
            <a:avLst/>
          </a:prstGeom>
          <a:solidFill>
            <a:srgbClr val="FFEDD5"/>
          </a:solidFill>
          <a:ln>
            <a:solidFill>
              <a:srgbClr val="F97316"/>
            </a:solidFill>
          </a:ln>
        </p:spPr>
        <p:txBody>
          <a:bodyPr wrap="square" lIns="508" tIns="508" rIns="508" bIns="508" rtlCol="0" anchor="ctr">
            <a:normAutofit/>
          </a:bodyPr>
          <a:lstStyle/>
          <a:p>
            <a:pPr marL="0" indent="0" algn="ctr">
              <a:buNone/>
            </a:pPr>
            <a:r>
              <a:rPr lang="en-US" sz="1200" b="1" dirty="0">
                <a:solidFill>
                  <a:srgbClr val="F97316"/>
                </a:solidFill>
              </a:rPr>
              <a:t>Broker</a:t>
            </a:r>
            <a:endParaRPr lang="en-US" sz="1200" dirty="0"/>
          </a:p>
          <a:p>
            <a:pPr marL="0" indent="0" algn="ctr">
              <a:buNone/>
            </a:pPr>
            <a:r>
              <a:rPr lang="en-US" sz="1200" b="1" dirty="0">
                <a:solidFill>
                  <a:srgbClr val="F97316"/>
                </a:solidFill>
              </a:rPr>
              <a:t>MQTT</a:t>
            </a:r>
            <a:endParaRPr lang="en-US" sz="1200" dirty="0"/>
          </a:p>
        </p:txBody>
      </p:sp>
      <p:sp>
        <p:nvSpPr>
          <p:cNvPr id="10" name="Text 8"/>
          <p:cNvSpPr/>
          <p:nvPr/>
        </p:nvSpPr>
        <p:spPr>
          <a:xfrm>
            <a:off x="10972800" y="2011680"/>
            <a:ext cx="822960" cy="731520"/>
          </a:xfrm>
          <a:prstGeom prst="roundRect">
            <a:avLst/>
          </a:prstGeom>
          <a:solidFill>
            <a:srgbClr val="DCFCE7"/>
          </a:solidFill>
          <a:ln>
            <a:solidFill>
              <a:srgbClr val="10B981"/>
            </a:solidFill>
          </a:ln>
        </p:spPr>
        <p:txBody>
          <a:bodyPr wrap="square" lIns="508" tIns="508" rIns="508" bIns="508" rtlCol="0" anchor="ctr">
            <a:normAutofit/>
          </a:bodyPr>
          <a:lstStyle/>
          <a:p>
            <a:pPr marL="0" indent="0" algn="ctr">
              <a:buNone/>
            </a:pPr>
            <a:r>
              <a:rPr lang="en-US" sz="1200" b="1" dirty="0">
                <a:solidFill>
                  <a:srgbClr val="10B981"/>
                </a:solidFill>
              </a:rPr>
              <a:t>App</a:t>
            </a:r>
            <a:endParaRPr lang="en-US" sz="1200" dirty="0"/>
          </a:p>
          <a:p>
            <a:pPr marL="0" indent="0" algn="ctr">
              <a:buNone/>
            </a:pPr>
            <a:r>
              <a:rPr lang="en-US" sz="1200" b="1" dirty="0">
                <a:solidFill>
                  <a:srgbClr val="10B981"/>
                </a:solidFill>
              </a:rPr>
              <a:t>assina</a:t>
            </a:r>
            <a:endParaRPr lang="en-US" sz="1200" dirty="0"/>
          </a:p>
        </p:txBody>
      </p:sp>
      <p:sp>
        <p:nvSpPr>
          <p:cNvPr id="11" name="Text 9"/>
          <p:cNvSpPr/>
          <p:nvPr/>
        </p:nvSpPr>
        <p:spPr>
          <a:xfrm>
            <a:off x="7772400" y="3246120"/>
            <a:ext cx="3749040" cy="347472"/>
          </a:xfrm>
          <a:prstGeom prst="rect">
            <a:avLst/>
          </a:prstGeom>
          <a:noFill/>
          <a:ln/>
        </p:spPr>
        <p:txBody>
          <a:bodyPr wrap="square" rtlCol="0" anchor="ctr"/>
          <a:lstStyle/>
          <a:p>
            <a:pPr marL="0" indent="0" algn="ctr">
              <a:buNone/>
            </a:pPr>
            <a:r>
              <a:rPr lang="en-US" sz="1400" i="1" dirty="0">
                <a:solidFill>
                  <a:srgbClr val="0B1F3A"/>
                </a:solidFill>
              </a:rPr>
              <a:t>tópico: sala/temperatura</a:t>
            </a:r>
            <a:endParaRPr lang="en-US" sz="1400" dirty="0"/>
          </a:p>
        </p:txBody>
      </p:sp>
      <p:sp>
        <p:nvSpPr>
          <p:cNvPr id="12" name="Text 10"/>
          <p:cNvSpPr/>
          <p:nvPr/>
        </p:nvSpPr>
        <p:spPr>
          <a:xfrm>
            <a:off x="7635240" y="3931920"/>
            <a:ext cx="3886200" cy="685800"/>
          </a:xfrm>
          <a:prstGeom prst="roundRect">
            <a:avLst>
              <a:gd name="adj" fmla="val 16000"/>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Quem produz não precisa conhecer quem consome.</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OASIS MQTT 5.0</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Tópicos MQTT e QoS</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Organização e entrega</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Tópicos usam hierarquia textual, como campus/sala/temperatura.</a:t>
            </a:r>
            <a:endParaRPr lang="en-US" sz="2400" dirty="0"/>
          </a:p>
          <a:p>
            <a:pPr marL="0" indent="0">
              <a:buNone/>
            </a:pPr>
            <a:endParaRPr lang="en-US" sz="2400" dirty="0"/>
          </a:p>
          <a:p>
            <a:pPr marL="0" indent="0">
              <a:buNone/>
            </a:pPr>
            <a:r>
              <a:rPr lang="en-US" sz="2400" dirty="0">
                <a:solidFill>
                  <a:srgbClr val="172033"/>
                </a:solidFill>
              </a:rPr>
              <a:t>• QoS 0: entrega no melhor esforço.</a:t>
            </a:r>
            <a:endParaRPr lang="en-US" sz="2400" dirty="0"/>
          </a:p>
          <a:p>
            <a:pPr marL="0" indent="0">
              <a:buNone/>
            </a:pPr>
            <a:endParaRPr lang="en-US" sz="2400" dirty="0"/>
          </a:p>
          <a:p>
            <a:pPr marL="0" indent="0">
              <a:buNone/>
            </a:pPr>
            <a:r>
              <a:rPr lang="en-US" sz="2400" dirty="0">
                <a:solidFill>
                  <a:srgbClr val="172033"/>
                </a:solidFill>
              </a:rPr>
              <a:t>• QoS 1: pelo menos uma entrega.</a:t>
            </a:r>
            <a:endParaRPr lang="en-US" sz="2400" dirty="0"/>
          </a:p>
          <a:p>
            <a:pPr marL="0" indent="0">
              <a:buNone/>
            </a:pPr>
            <a:endParaRPr lang="en-US" sz="2400" dirty="0"/>
          </a:p>
          <a:p>
            <a:pPr marL="0" indent="0">
              <a:buNone/>
            </a:pPr>
            <a:r>
              <a:rPr lang="en-US" sz="2400" dirty="0">
                <a:solidFill>
                  <a:srgbClr val="172033"/>
                </a:solidFill>
              </a:rPr>
              <a:t>• QoS 2: entrega exatamente uma vez, com maior custo.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Publicação/assinatura</a:t>
            </a:r>
            <a:endParaRPr lang="en-US" sz="1400" dirty="0"/>
          </a:p>
        </p:txBody>
      </p:sp>
      <p:sp>
        <p:nvSpPr>
          <p:cNvPr id="8" name="Text 6"/>
          <p:cNvSpPr/>
          <p:nvPr/>
        </p:nvSpPr>
        <p:spPr>
          <a:xfrm>
            <a:off x="7589520" y="2011680"/>
            <a:ext cx="1143000" cy="731520"/>
          </a:xfrm>
          <a:prstGeom prst="roundRect">
            <a:avLst/>
          </a:prstGeom>
          <a:solidFill>
            <a:srgbClr val="E0F2FE"/>
          </a:solidFill>
          <a:ln>
            <a:solidFill>
              <a:srgbClr val="0284C7"/>
            </a:solidFill>
          </a:ln>
        </p:spPr>
        <p:txBody>
          <a:bodyPr wrap="square" lIns="508" tIns="508" rIns="508" bIns="508" rtlCol="0" anchor="ctr">
            <a:normAutofit/>
          </a:bodyPr>
          <a:lstStyle/>
          <a:p>
            <a:pPr marL="0" indent="0" algn="ctr">
              <a:buNone/>
            </a:pPr>
            <a:r>
              <a:rPr lang="en-US" sz="1200" b="1" dirty="0">
                <a:solidFill>
                  <a:srgbClr val="0284C7"/>
                </a:solidFill>
              </a:rPr>
              <a:t>Sensor</a:t>
            </a:r>
            <a:endParaRPr lang="en-US" sz="1200" dirty="0"/>
          </a:p>
          <a:p>
            <a:pPr marL="0" indent="0" algn="ctr">
              <a:buNone/>
            </a:pPr>
            <a:r>
              <a:rPr lang="en-US" sz="1200" b="1" dirty="0">
                <a:solidFill>
                  <a:srgbClr val="0284C7"/>
                </a:solidFill>
              </a:rPr>
              <a:t>publica</a:t>
            </a:r>
            <a:endParaRPr lang="en-US" sz="1200" dirty="0"/>
          </a:p>
        </p:txBody>
      </p:sp>
      <p:sp>
        <p:nvSpPr>
          <p:cNvPr id="9" name="Text 7"/>
          <p:cNvSpPr/>
          <p:nvPr/>
        </p:nvSpPr>
        <p:spPr>
          <a:xfrm>
            <a:off x="9144000" y="1874520"/>
            <a:ext cx="1371600" cy="1005840"/>
          </a:xfrm>
          <a:prstGeom prst="roundRect">
            <a:avLst/>
          </a:prstGeom>
          <a:solidFill>
            <a:srgbClr val="FFEDD5"/>
          </a:solidFill>
          <a:ln>
            <a:solidFill>
              <a:srgbClr val="F97316"/>
            </a:solidFill>
          </a:ln>
        </p:spPr>
        <p:txBody>
          <a:bodyPr wrap="square" lIns="508" tIns="508" rIns="508" bIns="508" rtlCol="0" anchor="ctr">
            <a:normAutofit/>
          </a:bodyPr>
          <a:lstStyle/>
          <a:p>
            <a:pPr marL="0" indent="0" algn="ctr">
              <a:buNone/>
            </a:pPr>
            <a:r>
              <a:rPr lang="en-US" sz="1200" b="1" dirty="0">
                <a:solidFill>
                  <a:srgbClr val="F97316"/>
                </a:solidFill>
              </a:rPr>
              <a:t>Broker</a:t>
            </a:r>
            <a:endParaRPr lang="en-US" sz="1200" dirty="0"/>
          </a:p>
          <a:p>
            <a:pPr marL="0" indent="0" algn="ctr">
              <a:buNone/>
            </a:pPr>
            <a:r>
              <a:rPr lang="en-US" sz="1200" b="1" dirty="0">
                <a:solidFill>
                  <a:srgbClr val="F97316"/>
                </a:solidFill>
              </a:rPr>
              <a:t>MQTT</a:t>
            </a:r>
            <a:endParaRPr lang="en-US" sz="1200" dirty="0"/>
          </a:p>
        </p:txBody>
      </p:sp>
      <p:sp>
        <p:nvSpPr>
          <p:cNvPr id="10" name="Text 8"/>
          <p:cNvSpPr/>
          <p:nvPr/>
        </p:nvSpPr>
        <p:spPr>
          <a:xfrm>
            <a:off x="10972800" y="2011680"/>
            <a:ext cx="822960" cy="731520"/>
          </a:xfrm>
          <a:prstGeom prst="roundRect">
            <a:avLst/>
          </a:prstGeom>
          <a:solidFill>
            <a:srgbClr val="DCFCE7"/>
          </a:solidFill>
          <a:ln>
            <a:solidFill>
              <a:srgbClr val="10B981"/>
            </a:solidFill>
          </a:ln>
        </p:spPr>
        <p:txBody>
          <a:bodyPr wrap="square" lIns="508" tIns="508" rIns="508" bIns="508" rtlCol="0" anchor="ctr">
            <a:normAutofit/>
          </a:bodyPr>
          <a:lstStyle/>
          <a:p>
            <a:pPr marL="0" indent="0" algn="ctr">
              <a:buNone/>
            </a:pPr>
            <a:r>
              <a:rPr lang="en-US" sz="1200" b="1" dirty="0">
                <a:solidFill>
                  <a:srgbClr val="10B981"/>
                </a:solidFill>
              </a:rPr>
              <a:t>App</a:t>
            </a:r>
            <a:endParaRPr lang="en-US" sz="1200" dirty="0"/>
          </a:p>
          <a:p>
            <a:pPr marL="0" indent="0" algn="ctr">
              <a:buNone/>
            </a:pPr>
            <a:r>
              <a:rPr lang="en-US" sz="1200" b="1" dirty="0">
                <a:solidFill>
                  <a:srgbClr val="10B981"/>
                </a:solidFill>
              </a:rPr>
              <a:t>assina</a:t>
            </a:r>
            <a:endParaRPr lang="en-US" sz="1200" dirty="0"/>
          </a:p>
        </p:txBody>
      </p:sp>
      <p:sp>
        <p:nvSpPr>
          <p:cNvPr id="11" name="Text 9"/>
          <p:cNvSpPr/>
          <p:nvPr/>
        </p:nvSpPr>
        <p:spPr>
          <a:xfrm>
            <a:off x="7772400" y="3246120"/>
            <a:ext cx="3749040" cy="347472"/>
          </a:xfrm>
          <a:prstGeom prst="rect">
            <a:avLst/>
          </a:prstGeom>
          <a:noFill/>
          <a:ln/>
        </p:spPr>
        <p:txBody>
          <a:bodyPr wrap="square" rtlCol="0" anchor="ctr"/>
          <a:lstStyle/>
          <a:p>
            <a:pPr marL="0" indent="0" algn="ctr">
              <a:buNone/>
            </a:pPr>
            <a:r>
              <a:rPr lang="en-US" sz="1400" i="1" dirty="0">
                <a:solidFill>
                  <a:srgbClr val="0B1F3A"/>
                </a:solidFill>
              </a:rPr>
              <a:t>tópico: sala/temperatura</a:t>
            </a:r>
            <a:endParaRPr lang="en-US" sz="1400" dirty="0"/>
          </a:p>
        </p:txBody>
      </p:sp>
      <p:sp>
        <p:nvSpPr>
          <p:cNvPr id="12" name="Text 10"/>
          <p:cNvSpPr/>
          <p:nvPr/>
        </p:nvSpPr>
        <p:spPr>
          <a:xfrm>
            <a:off x="7635240" y="3931920"/>
            <a:ext cx="3886200" cy="685800"/>
          </a:xfrm>
          <a:prstGeom prst="roundRect">
            <a:avLst>
              <a:gd name="adj" fmla="val 16000"/>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Quem produz não precisa conhecer quem consome.</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MQTT.org</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HTTP e CoAP em IoT</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Requisição/resposta</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HTTP é familiar para APIs web e integrações.</a:t>
            </a:r>
            <a:endParaRPr lang="en-US" sz="2400" dirty="0"/>
          </a:p>
          <a:p>
            <a:pPr marL="0" indent="0">
              <a:buNone/>
            </a:pPr>
            <a:endParaRPr lang="en-US" sz="2400" dirty="0"/>
          </a:p>
          <a:p>
            <a:pPr marL="0" indent="0">
              <a:buNone/>
            </a:pPr>
            <a:r>
              <a:rPr lang="en-US" sz="2400" dirty="0">
                <a:solidFill>
                  <a:srgbClr val="172033"/>
                </a:solidFill>
              </a:rPr>
              <a:t>• CoAP foi criado para dispositivos e redes restritas.</a:t>
            </a:r>
            <a:endParaRPr lang="en-US" sz="2400" dirty="0"/>
          </a:p>
          <a:p>
            <a:pPr marL="0" indent="0">
              <a:buNone/>
            </a:pPr>
            <a:endParaRPr lang="en-US" sz="2400" dirty="0"/>
          </a:p>
          <a:p>
            <a:pPr marL="0" indent="0">
              <a:buNone/>
            </a:pPr>
            <a:r>
              <a:rPr lang="en-US" sz="2400" dirty="0">
                <a:solidFill>
                  <a:srgbClr val="172033"/>
                </a:solidFill>
              </a:rPr>
              <a:t>• HTTP costuma ser mais simples de integrar com sistemas web.</a:t>
            </a:r>
            <a:endParaRPr lang="en-US" sz="2400" dirty="0"/>
          </a:p>
          <a:p>
            <a:pPr marL="0" indent="0">
              <a:buNone/>
            </a:pPr>
            <a:endParaRPr lang="en-US" sz="2400" dirty="0"/>
          </a:p>
          <a:p>
            <a:pPr marL="0" indent="0">
              <a:buNone/>
            </a:pPr>
            <a:r>
              <a:rPr lang="en-US" sz="2400" dirty="0">
                <a:solidFill>
                  <a:srgbClr val="172033"/>
                </a:solidFill>
              </a:rPr>
              <a:t>• CoAP é mais leve e usa o estilo REST em ambientes limitados.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Protocolos e alcance</a:t>
            </a:r>
            <a:endParaRPr lang="en-US" sz="1400" dirty="0"/>
          </a:p>
        </p:txBody>
      </p:sp>
      <p:sp>
        <p:nvSpPr>
          <p:cNvPr id="8" name="Text 6"/>
          <p:cNvSpPr/>
          <p:nvPr/>
        </p:nvSpPr>
        <p:spPr>
          <a:xfrm>
            <a:off x="7635240" y="1508760"/>
            <a:ext cx="3886200" cy="621792"/>
          </a:xfrm>
          <a:prstGeom prst="roundRect">
            <a:avLst>
              <a:gd name="adj" fmla="val 17647"/>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BLE/Zigbee</a:t>
            </a:r>
            <a:endParaRPr lang="en-US" sz="1500" dirty="0"/>
          </a:p>
          <a:p>
            <a:pPr marL="0" indent="0" algn="ctr">
              <a:buNone/>
            </a:pPr>
            <a:r>
              <a:rPr lang="en-US" sz="1500" b="1" dirty="0">
                <a:solidFill>
                  <a:srgbClr val="0284C7"/>
                </a:solidFill>
              </a:rPr>
              <a:t>curto alcance</a:t>
            </a:r>
            <a:endParaRPr lang="en-US" sz="1500" dirty="0"/>
          </a:p>
        </p:txBody>
      </p:sp>
      <p:sp>
        <p:nvSpPr>
          <p:cNvPr id="9" name="Text 7"/>
          <p:cNvSpPr/>
          <p:nvPr/>
        </p:nvSpPr>
        <p:spPr>
          <a:xfrm>
            <a:off x="7635240" y="2377440"/>
            <a:ext cx="3886200" cy="621792"/>
          </a:xfrm>
          <a:prstGeom prst="roundRect">
            <a:avLst>
              <a:gd name="adj" fmla="val 17647"/>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Wi‑Fi/Ethernet</a:t>
            </a:r>
            <a:endParaRPr lang="en-US" sz="1500" dirty="0"/>
          </a:p>
          <a:p>
            <a:pPr marL="0" indent="0" algn="ctr">
              <a:buNone/>
            </a:pPr>
            <a:r>
              <a:rPr lang="en-US" sz="1500" b="1" dirty="0">
                <a:solidFill>
                  <a:srgbClr val="F97316"/>
                </a:solidFill>
              </a:rPr>
              <a:t>rede local/IP</a:t>
            </a:r>
            <a:endParaRPr lang="en-US" sz="1500" dirty="0"/>
          </a:p>
        </p:txBody>
      </p:sp>
      <p:sp>
        <p:nvSpPr>
          <p:cNvPr id="10" name="Text 8"/>
          <p:cNvSpPr/>
          <p:nvPr/>
        </p:nvSpPr>
        <p:spPr>
          <a:xfrm>
            <a:off x="7635240" y="3246120"/>
            <a:ext cx="3886200" cy="621792"/>
          </a:xfrm>
          <a:prstGeom prst="roundRect">
            <a:avLst>
              <a:gd name="adj" fmla="val 17647"/>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LoRaWAN/4G/5G</a:t>
            </a:r>
            <a:endParaRPr lang="en-US" sz="1500" dirty="0"/>
          </a:p>
          <a:p>
            <a:pPr marL="0" indent="0" algn="ctr">
              <a:buNone/>
            </a:pPr>
            <a:r>
              <a:rPr lang="en-US" sz="1500" b="1" dirty="0">
                <a:solidFill>
                  <a:srgbClr val="10B981"/>
                </a:solidFill>
              </a:rPr>
              <a:t>longa distância</a:t>
            </a:r>
            <a:endParaRPr lang="en-US" sz="1500" dirty="0"/>
          </a:p>
        </p:txBody>
      </p:sp>
      <p:sp>
        <p:nvSpPr>
          <p:cNvPr id="11" name="Text 9"/>
          <p:cNvSpPr/>
          <p:nvPr/>
        </p:nvSpPr>
        <p:spPr>
          <a:xfrm>
            <a:off x="7635240" y="4114800"/>
            <a:ext cx="3886200" cy="621792"/>
          </a:xfrm>
          <a:prstGeom prst="roundRect">
            <a:avLst>
              <a:gd name="adj" fmla="val 17647"/>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MQTT/HTTP/CoAP</a:t>
            </a:r>
            <a:endParaRPr lang="en-US" sz="1500" dirty="0"/>
          </a:p>
          <a:p>
            <a:pPr marL="0" indent="0" algn="ctr">
              <a:buNone/>
            </a:pPr>
            <a:r>
              <a:rPr lang="en-US" sz="1500" b="1" dirty="0">
                <a:solidFill>
                  <a:srgbClr val="7C3AED"/>
                </a:solidFill>
              </a:rPr>
              <a:t>aplicação</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IETF RFC 7252 — CoAP</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Gêmeo digital e estado do dispositivo</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Representação virtual</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Gêmeo digital representa um dispositivo físico em software.</a:t>
            </a:r>
            <a:endParaRPr lang="en-US" sz="2400" dirty="0"/>
          </a:p>
          <a:p>
            <a:pPr marL="0" indent="0">
              <a:buNone/>
            </a:pPr>
            <a:endParaRPr lang="en-US" sz="2400" dirty="0"/>
          </a:p>
          <a:p>
            <a:pPr marL="0" indent="0">
              <a:buNone/>
            </a:pPr>
            <a:r>
              <a:rPr lang="en-US" sz="2400" dirty="0">
                <a:solidFill>
                  <a:srgbClr val="172033"/>
                </a:solidFill>
              </a:rPr>
              <a:t>• Estado reportado indica o que o dispositivo informa.</a:t>
            </a:r>
            <a:endParaRPr lang="en-US" sz="2400" dirty="0"/>
          </a:p>
          <a:p>
            <a:pPr marL="0" indent="0">
              <a:buNone/>
            </a:pPr>
            <a:endParaRPr lang="en-US" sz="2400" dirty="0"/>
          </a:p>
          <a:p>
            <a:pPr marL="0" indent="0">
              <a:buNone/>
            </a:pPr>
            <a:r>
              <a:rPr lang="en-US" sz="2400" dirty="0">
                <a:solidFill>
                  <a:srgbClr val="172033"/>
                </a:solidFill>
              </a:rPr>
              <a:t>• Estado desejado indica o que o sistema quer configurar.</a:t>
            </a:r>
            <a:endParaRPr lang="en-US" sz="2400" dirty="0"/>
          </a:p>
          <a:p>
            <a:pPr marL="0" indent="0">
              <a:buNone/>
            </a:pPr>
            <a:endParaRPr lang="en-US" sz="2400" dirty="0"/>
          </a:p>
          <a:p>
            <a:pPr marL="0" indent="0">
              <a:buNone/>
            </a:pPr>
            <a:r>
              <a:rPr lang="en-US" sz="2400" dirty="0">
                <a:solidFill>
                  <a:srgbClr val="172033"/>
                </a:solidFill>
              </a:rPr>
              <a:t>• Ajuda aplicações a consultar e comandar dispositivos.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Nuvem IoT</a:t>
            </a:r>
            <a:endParaRPr lang="en-US" sz="1400" dirty="0"/>
          </a:p>
        </p:txBody>
      </p:sp>
      <p:sp>
        <p:nvSpPr>
          <p:cNvPr id="8" name="Shape 6"/>
          <p:cNvSpPr/>
          <p:nvPr/>
        </p:nvSpPr>
        <p:spPr>
          <a:xfrm>
            <a:off x="7635240" y="1554480"/>
            <a:ext cx="3840480" cy="2103120"/>
          </a:xfrm>
          <a:prstGeom prst="cloud">
            <a:avLst/>
          </a:prstGeom>
          <a:solidFill>
            <a:srgbClr val="EDE9FE"/>
          </a:solidFill>
          <a:ln w="12700">
            <a:solidFill>
              <a:srgbClr val="7C3AED"/>
            </a:solidFill>
            <a:prstDash val="solid"/>
          </a:ln>
        </p:spPr>
      </p:sp>
      <p:sp>
        <p:nvSpPr>
          <p:cNvPr id="9" name="Text 7"/>
          <p:cNvSpPr/>
          <p:nvPr/>
        </p:nvSpPr>
        <p:spPr>
          <a:xfrm>
            <a:off x="8275320" y="1965960"/>
            <a:ext cx="2560320" cy="1280160"/>
          </a:xfrm>
          <a:prstGeom prst="rect">
            <a:avLst/>
          </a:prstGeom>
          <a:noFill/>
          <a:ln/>
        </p:spPr>
        <p:txBody>
          <a:bodyPr wrap="square" lIns="0" tIns="0" rIns="0" bIns="0" rtlCol="0" anchor="ctr"/>
          <a:lstStyle/>
          <a:p>
            <a:pPr marL="0" indent="0" algn="ctr">
              <a:buNone/>
            </a:pPr>
            <a:r>
              <a:rPr lang="en-US" sz="1800" b="1" dirty="0">
                <a:solidFill>
                  <a:srgbClr val="7C3AED"/>
                </a:solidFill>
              </a:rPr>
              <a:t>Ingestão</a:t>
            </a:r>
            <a:endParaRPr lang="en-US" sz="1800" dirty="0"/>
          </a:p>
          <a:p>
            <a:pPr marL="0" indent="0" algn="ctr">
              <a:buNone/>
            </a:pPr>
            <a:r>
              <a:rPr lang="en-US" sz="1800" b="1" dirty="0">
                <a:solidFill>
                  <a:srgbClr val="7C3AED"/>
                </a:solidFill>
              </a:rPr>
              <a:t>Regras</a:t>
            </a:r>
            <a:endParaRPr lang="en-US" sz="1800" dirty="0"/>
          </a:p>
          <a:p>
            <a:pPr marL="0" indent="0" algn="ctr">
              <a:buNone/>
            </a:pPr>
            <a:r>
              <a:rPr lang="en-US" sz="1800" b="1" dirty="0">
                <a:solidFill>
                  <a:srgbClr val="7C3AED"/>
                </a:solidFill>
              </a:rPr>
              <a:t>Banco de dados</a:t>
            </a:r>
            <a:endParaRPr lang="en-US" sz="1800" dirty="0"/>
          </a:p>
          <a:p>
            <a:pPr marL="0" indent="0" algn="ctr">
              <a:buNone/>
            </a:pPr>
            <a:r>
              <a:rPr lang="en-US" sz="1800" b="1" dirty="0">
                <a:solidFill>
                  <a:srgbClr val="7C3AED"/>
                </a:solidFill>
              </a:rPr>
              <a:t>APIs</a:t>
            </a:r>
            <a:endParaRPr lang="en-US" sz="1800" dirty="0"/>
          </a:p>
        </p:txBody>
      </p:sp>
      <p:sp>
        <p:nvSpPr>
          <p:cNvPr id="10" name="Text 8"/>
          <p:cNvSpPr/>
          <p:nvPr/>
        </p:nvSpPr>
        <p:spPr>
          <a:xfrm>
            <a:off x="7818120" y="4206240"/>
            <a:ext cx="1280160" cy="502920"/>
          </a:xfrm>
          <a:prstGeom prst="roundRect">
            <a:avLst/>
          </a:prstGeom>
          <a:solidFill>
            <a:srgbClr val="E0F2FE"/>
          </a:solidFill>
          <a:ln>
            <a:solidFill>
              <a:srgbClr val="0284C7"/>
            </a:solidFill>
          </a:ln>
        </p:spPr>
        <p:txBody>
          <a:bodyPr wrap="square" lIns="508" tIns="508" rIns="508" bIns="508" rtlCol="0" anchor="ctr">
            <a:normAutofit/>
          </a:bodyPr>
          <a:lstStyle/>
          <a:p>
            <a:pPr marL="0" indent="0" algn="ctr">
              <a:buNone/>
            </a:pPr>
            <a:r>
              <a:rPr lang="en-US" sz="1100" b="1" dirty="0">
                <a:solidFill>
                  <a:srgbClr val="0284C7"/>
                </a:solidFill>
              </a:rPr>
              <a:t>Dispositivos</a:t>
            </a:r>
            <a:endParaRPr lang="en-US" sz="1100" dirty="0"/>
          </a:p>
        </p:txBody>
      </p:sp>
      <p:sp>
        <p:nvSpPr>
          <p:cNvPr id="11" name="Text 9"/>
          <p:cNvSpPr/>
          <p:nvPr/>
        </p:nvSpPr>
        <p:spPr>
          <a:xfrm>
            <a:off x="10058400" y="4206240"/>
            <a:ext cx="1280160" cy="502920"/>
          </a:xfrm>
          <a:prstGeom prst="roundRect">
            <a:avLst/>
          </a:prstGeom>
          <a:solidFill>
            <a:srgbClr val="DCFCE7"/>
          </a:solidFill>
          <a:ln>
            <a:solidFill>
              <a:srgbClr val="10B981"/>
            </a:solidFill>
          </a:ln>
        </p:spPr>
        <p:txBody>
          <a:bodyPr wrap="square" lIns="508" tIns="508" rIns="508" bIns="508" rtlCol="0" anchor="ctr">
            <a:normAutofit/>
          </a:bodyPr>
          <a:lstStyle/>
          <a:p>
            <a:pPr marL="0" indent="0" algn="ctr">
              <a:buNone/>
            </a:pPr>
            <a:r>
              <a:rPr lang="en-US" sz="1100" b="1" dirty="0">
                <a:solidFill>
                  <a:srgbClr val="10B981"/>
                </a:solidFill>
              </a:rPr>
              <a:t>Aplicações</a:t>
            </a:r>
            <a:endParaRPr lang="en-US" sz="11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Eclipse Ditto — Digital Twins</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Identidade do dispositivo</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Quem está falando?</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Cada dispositivo precisa ser identificado de forma única.</a:t>
            </a:r>
            <a:endParaRPr lang="en-US" sz="2400" dirty="0"/>
          </a:p>
          <a:p>
            <a:pPr marL="0" indent="0">
              <a:buNone/>
            </a:pPr>
            <a:endParaRPr lang="en-US" sz="2400" dirty="0"/>
          </a:p>
          <a:p>
            <a:pPr marL="0" indent="0">
              <a:buNone/>
            </a:pPr>
            <a:r>
              <a:rPr lang="en-US" sz="2400" dirty="0">
                <a:solidFill>
                  <a:srgbClr val="172033"/>
                </a:solidFill>
              </a:rPr>
              <a:t>• Credenciais autenticam o dispositivo na plataforma.</a:t>
            </a:r>
            <a:endParaRPr lang="en-US" sz="2400" dirty="0"/>
          </a:p>
          <a:p>
            <a:pPr marL="0" indent="0">
              <a:buNone/>
            </a:pPr>
            <a:endParaRPr lang="en-US" sz="2400" dirty="0"/>
          </a:p>
          <a:p>
            <a:pPr marL="0" indent="0">
              <a:buNone/>
            </a:pPr>
            <a:r>
              <a:rPr lang="en-US" sz="2400" dirty="0">
                <a:solidFill>
                  <a:srgbClr val="172033"/>
                </a:solidFill>
              </a:rPr>
              <a:t>• Registro de dispositivos guarda metadados e permissões.</a:t>
            </a:r>
            <a:endParaRPr lang="en-US" sz="2400" dirty="0"/>
          </a:p>
          <a:p>
            <a:pPr marL="0" indent="0">
              <a:buNone/>
            </a:pPr>
            <a:endParaRPr lang="en-US" sz="2400" dirty="0"/>
          </a:p>
          <a:p>
            <a:pPr marL="0" indent="0">
              <a:buNone/>
            </a:pPr>
            <a:r>
              <a:rPr lang="en-US" sz="2400" dirty="0">
                <a:solidFill>
                  <a:srgbClr val="172033"/>
                </a:solidFill>
              </a:rPr>
              <a:t>• Sem identidade confiável, não há segurança ponta a ponta.</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Segurança ponta a ponta</a:t>
            </a:r>
            <a:endParaRPr lang="en-US" sz="1400" dirty="0"/>
          </a:p>
        </p:txBody>
      </p:sp>
      <p:sp>
        <p:nvSpPr>
          <p:cNvPr id="8" name="Text 6"/>
          <p:cNvSpPr/>
          <p:nvPr/>
        </p:nvSpPr>
        <p:spPr>
          <a:xfrm>
            <a:off x="7635240" y="1463040"/>
            <a:ext cx="3886200" cy="566928"/>
          </a:xfrm>
          <a:prstGeom prst="roundRect">
            <a:avLst>
              <a:gd name="adj" fmla="val 19355"/>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Identidade</a:t>
            </a:r>
            <a:endParaRPr lang="en-US" sz="1500" dirty="0"/>
          </a:p>
          <a:p>
            <a:pPr marL="0" indent="0" algn="ctr">
              <a:buNone/>
            </a:pPr>
            <a:r>
              <a:rPr lang="en-US" sz="1500" b="1" dirty="0">
                <a:solidFill>
                  <a:srgbClr val="0284C7"/>
                </a:solidFill>
              </a:rPr>
              <a:t>do dispositivo</a:t>
            </a:r>
            <a:endParaRPr lang="en-US" sz="1500" dirty="0"/>
          </a:p>
        </p:txBody>
      </p:sp>
      <p:sp>
        <p:nvSpPr>
          <p:cNvPr id="9" name="Text 7"/>
          <p:cNvSpPr/>
          <p:nvPr/>
        </p:nvSpPr>
        <p:spPr>
          <a:xfrm>
            <a:off x="7635240" y="2331720"/>
            <a:ext cx="3886200" cy="566928"/>
          </a:xfrm>
          <a:prstGeom prst="roundRect">
            <a:avLst>
              <a:gd name="adj" fmla="val 19355"/>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Criptografia</a:t>
            </a:r>
            <a:endParaRPr lang="en-US" sz="1500" dirty="0"/>
          </a:p>
          <a:p>
            <a:pPr marL="0" indent="0" algn="ctr">
              <a:buNone/>
            </a:pPr>
            <a:r>
              <a:rPr lang="en-US" sz="1500" b="1" dirty="0">
                <a:solidFill>
                  <a:srgbClr val="10B981"/>
                </a:solidFill>
              </a:rPr>
              <a:t>em trânsito</a:t>
            </a:r>
            <a:endParaRPr lang="en-US" sz="1500" dirty="0"/>
          </a:p>
        </p:txBody>
      </p:sp>
      <p:sp>
        <p:nvSpPr>
          <p:cNvPr id="10" name="Text 8"/>
          <p:cNvSpPr/>
          <p:nvPr/>
        </p:nvSpPr>
        <p:spPr>
          <a:xfrm>
            <a:off x="7635240" y="3200400"/>
            <a:ext cx="3886200" cy="566928"/>
          </a:xfrm>
          <a:prstGeom prst="roundRect">
            <a:avLst>
              <a:gd name="adj" fmla="val 19355"/>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Autorização</a:t>
            </a:r>
            <a:endParaRPr lang="en-US" sz="1500" dirty="0"/>
          </a:p>
          <a:p>
            <a:pPr marL="0" indent="0" algn="ctr">
              <a:buNone/>
            </a:pPr>
            <a:r>
              <a:rPr lang="en-US" sz="1500" b="1" dirty="0">
                <a:solidFill>
                  <a:srgbClr val="F97316"/>
                </a:solidFill>
              </a:rPr>
              <a:t>por permissões</a:t>
            </a:r>
            <a:endParaRPr lang="en-US" sz="1500" dirty="0"/>
          </a:p>
        </p:txBody>
      </p:sp>
      <p:sp>
        <p:nvSpPr>
          <p:cNvPr id="11" name="Text 9"/>
          <p:cNvSpPr/>
          <p:nvPr/>
        </p:nvSpPr>
        <p:spPr>
          <a:xfrm>
            <a:off x="7635240" y="4069080"/>
            <a:ext cx="3886200" cy="566928"/>
          </a:xfrm>
          <a:prstGeom prst="roundRect">
            <a:avLst>
              <a:gd name="adj" fmla="val 19355"/>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Atualização</a:t>
            </a:r>
            <a:endParaRPr lang="en-US" sz="1500" dirty="0"/>
          </a:p>
          <a:p>
            <a:pPr marL="0" indent="0" algn="ctr">
              <a:buNone/>
            </a:pPr>
            <a:r>
              <a:rPr lang="en-US" sz="1500" b="1" dirty="0">
                <a:solidFill>
                  <a:srgbClr val="7C3AED"/>
                </a:solidFill>
              </a:rPr>
              <a:t>segura</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NISTIR 8259A — segurança IoT</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Segurança na comunicação IoT</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Proteção de dados e comandos</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Criptografia protege dados em trânsito.</a:t>
            </a:r>
            <a:endParaRPr lang="en-US" sz="2400" dirty="0"/>
          </a:p>
          <a:p>
            <a:pPr marL="0" indent="0">
              <a:buNone/>
            </a:pPr>
            <a:endParaRPr lang="en-US" sz="2400" dirty="0"/>
          </a:p>
          <a:p>
            <a:pPr marL="0" indent="0">
              <a:buNone/>
            </a:pPr>
            <a:r>
              <a:rPr lang="en-US" sz="2400" dirty="0">
                <a:solidFill>
                  <a:srgbClr val="172033"/>
                </a:solidFill>
              </a:rPr>
              <a:t>• Autorização limita tópicos, comandos e APIs.</a:t>
            </a:r>
            <a:endParaRPr lang="en-US" sz="2400" dirty="0"/>
          </a:p>
          <a:p>
            <a:pPr marL="0" indent="0">
              <a:buNone/>
            </a:pPr>
            <a:endParaRPr lang="en-US" sz="2400" dirty="0"/>
          </a:p>
          <a:p>
            <a:pPr marL="0" indent="0">
              <a:buNone/>
            </a:pPr>
            <a:r>
              <a:rPr lang="en-US" sz="2400" dirty="0">
                <a:solidFill>
                  <a:srgbClr val="172033"/>
                </a:solidFill>
              </a:rPr>
              <a:t>• Segredos não devem ficar expostos no código-fonte.</a:t>
            </a:r>
            <a:endParaRPr lang="en-US" sz="2400" dirty="0"/>
          </a:p>
          <a:p>
            <a:pPr marL="0" indent="0">
              <a:buNone/>
            </a:pPr>
            <a:endParaRPr lang="en-US" sz="2400" dirty="0"/>
          </a:p>
          <a:p>
            <a:pPr marL="0" indent="0">
              <a:buNone/>
            </a:pPr>
            <a:r>
              <a:rPr lang="en-US" sz="2400" dirty="0">
                <a:solidFill>
                  <a:srgbClr val="172033"/>
                </a:solidFill>
              </a:rPr>
              <a:t>• Logs ajudam a investigar falhas e acessos suspeitos.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Segurança ponta a ponta</a:t>
            </a:r>
            <a:endParaRPr lang="en-US" sz="1400" dirty="0"/>
          </a:p>
        </p:txBody>
      </p:sp>
      <p:sp>
        <p:nvSpPr>
          <p:cNvPr id="8" name="Text 6"/>
          <p:cNvSpPr/>
          <p:nvPr/>
        </p:nvSpPr>
        <p:spPr>
          <a:xfrm>
            <a:off x="7635240" y="1463040"/>
            <a:ext cx="3886200" cy="566928"/>
          </a:xfrm>
          <a:prstGeom prst="roundRect">
            <a:avLst>
              <a:gd name="adj" fmla="val 19355"/>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Identidade</a:t>
            </a:r>
            <a:endParaRPr lang="en-US" sz="1500" dirty="0"/>
          </a:p>
          <a:p>
            <a:pPr marL="0" indent="0" algn="ctr">
              <a:buNone/>
            </a:pPr>
            <a:r>
              <a:rPr lang="en-US" sz="1500" b="1" dirty="0">
                <a:solidFill>
                  <a:srgbClr val="0284C7"/>
                </a:solidFill>
              </a:rPr>
              <a:t>do dispositivo</a:t>
            </a:r>
            <a:endParaRPr lang="en-US" sz="1500" dirty="0"/>
          </a:p>
        </p:txBody>
      </p:sp>
      <p:sp>
        <p:nvSpPr>
          <p:cNvPr id="9" name="Text 7"/>
          <p:cNvSpPr/>
          <p:nvPr/>
        </p:nvSpPr>
        <p:spPr>
          <a:xfrm>
            <a:off x="7635240" y="2331720"/>
            <a:ext cx="3886200" cy="566928"/>
          </a:xfrm>
          <a:prstGeom prst="roundRect">
            <a:avLst>
              <a:gd name="adj" fmla="val 19355"/>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Criptografia</a:t>
            </a:r>
            <a:endParaRPr lang="en-US" sz="1500" dirty="0"/>
          </a:p>
          <a:p>
            <a:pPr marL="0" indent="0" algn="ctr">
              <a:buNone/>
            </a:pPr>
            <a:r>
              <a:rPr lang="en-US" sz="1500" b="1" dirty="0">
                <a:solidFill>
                  <a:srgbClr val="10B981"/>
                </a:solidFill>
              </a:rPr>
              <a:t>em trânsito</a:t>
            </a:r>
            <a:endParaRPr lang="en-US" sz="1500" dirty="0"/>
          </a:p>
        </p:txBody>
      </p:sp>
      <p:sp>
        <p:nvSpPr>
          <p:cNvPr id="10" name="Text 8"/>
          <p:cNvSpPr/>
          <p:nvPr/>
        </p:nvSpPr>
        <p:spPr>
          <a:xfrm>
            <a:off x="7635240" y="3200400"/>
            <a:ext cx="3886200" cy="566928"/>
          </a:xfrm>
          <a:prstGeom prst="roundRect">
            <a:avLst>
              <a:gd name="adj" fmla="val 19355"/>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Autorização</a:t>
            </a:r>
            <a:endParaRPr lang="en-US" sz="1500" dirty="0"/>
          </a:p>
          <a:p>
            <a:pPr marL="0" indent="0" algn="ctr">
              <a:buNone/>
            </a:pPr>
            <a:r>
              <a:rPr lang="en-US" sz="1500" b="1" dirty="0">
                <a:solidFill>
                  <a:srgbClr val="F97316"/>
                </a:solidFill>
              </a:rPr>
              <a:t>por permissões</a:t>
            </a:r>
            <a:endParaRPr lang="en-US" sz="1500" dirty="0"/>
          </a:p>
        </p:txBody>
      </p:sp>
      <p:sp>
        <p:nvSpPr>
          <p:cNvPr id="11" name="Text 9"/>
          <p:cNvSpPr/>
          <p:nvPr/>
        </p:nvSpPr>
        <p:spPr>
          <a:xfrm>
            <a:off x="7635240" y="4069080"/>
            <a:ext cx="3886200" cy="566928"/>
          </a:xfrm>
          <a:prstGeom prst="roundRect">
            <a:avLst>
              <a:gd name="adj" fmla="val 19355"/>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Atualização</a:t>
            </a:r>
            <a:endParaRPr lang="en-US" sz="1500" dirty="0"/>
          </a:p>
          <a:p>
            <a:pPr marL="0" indent="0" algn="ctr">
              <a:buNone/>
            </a:pPr>
            <a:r>
              <a:rPr lang="en-US" sz="1500" b="1" dirty="0">
                <a:solidFill>
                  <a:srgbClr val="7C3AED"/>
                </a:solidFill>
              </a:rPr>
              <a:t>segura</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OWASP Internet of Things</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Atualização OTA</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Manutenção remota</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OTA significa atualização over-the-air, sem acesso físico ao dispositivo.</a:t>
            </a:r>
            <a:endParaRPr lang="en-US" sz="2400" dirty="0"/>
          </a:p>
          <a:p>
            <a:pPr marL="0" indent="0">
              <a:buNone/>
            </a:pPr>
            <a:endParaRPr lang="en-US" sz="2400" dirty="0"/>
          </a:p>
          <a:p>
            <a:pPr marL="0" indent="0">
              <a:buNone/>
            </a:pPr>
            <a:r>
              <a:rPr lang="en-US" sz="2400" dirty="0">
                <a:solidFill>
                  <a:srgbClr val="172033"/>
                </a:solidFill>
              </a:rPr>
              <a:t>• Permite corrigir falhas e adicionar recursos em campo.</a:t>
            </a:r>
            <a:endParaRPr lang="en-US" sz="2400" dirty="0"/>
          </a:p>
          <a:p>
            <a:pPr marL="0" indent="0">
              <a:buNone/>
            </a:pPr>
            <a:endParaRPr lang="en-US" sz="2400" dirty="0"/>
          </a:p>
          <a:p>
            <a:pPr marL="0" indent="0">
              <a:buNone/>
            </a:pPr>
            <a:r>
              <a:rPr lang="en-US" sz="2400" dirty="0">
                <a:solidFill>
                  <a:srgbClr val="172033"/>
                </a:solidFill>
              </a:rPr>
              <a:t>• O pacote deve ser verificado antes de instalar.</a:t>
            </a:r>
            <a:endParaRPr lang="en-US" sz="2400" dirty="0"/>
          </a:p>
          <a:p>
            <a:pPr marL="0" indent="0">
              <a:buNone/>
            </a:pPr>
            <a:endParaRPr lang="en-US" sz="2400" dirty="0"/>
          </a:p>
          <a:p>
            <a:pPr marL="0" indent="0">
              <a:buNone/>
            </a:pPr>
            <a:r>
              <a:rPr lang="en-US" sz="2400" dirty="0">
                <a:solidFill>
                  <a:srgbClr val="172033"/>
                </a:solidFill>
              </a:rPr>
              <a:t>• Rollback reduz risco quando a atualização falha.</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Atualização OTA</a:t>
            </a:r>
            <a:endParaRPr lang="en-US" sz="1400" dirty="0"/>
          </a:p>
        </p:txBody>
      </p:sp>
      <p:sp>
        <p:nvSpPr>
          <p:cNvPr id="8" name="Text 6"/>
          <p:cNvSpPr/>
          <p:nvPr/>
        </p:nvSpPr>
        <p:spPr>
          <a:xfrm>
            <a:off x="7635240" y="1828800"/>
            <a:ext cx="1143000" cy="685800"/>
          </a:xfrm>
          <a:prstGeom prst="roundRect">
            <a:avLst/>
          </a:prstGeom>
          <a:solidFill>
            <a:srgbClr val="E2E8F0"/>
          </a:solidFill>
          <a:ln>
            <a:solidFill>
              <a:srgbClr val="475569"/>
            </a:solidFill>
          </a:ln>
        </p:spPr>
        <p:txBody>
          <a:bodyPr wrap="square" lIns="508" tIns="508" rIns="508" bIns="508" rtlCol="0" anchor="ctr">
            <a:normAutofit/>
          </a:bodyPr>
          <a:lstStyle/>
          <a:p>
            <a:pPr marL="0" indent="0" algn="ctr">
              <a:buNone/>
            </a:pPr>
            <a:r>
              <a:rPr lang="en-US" sz="1200" b="1" dirty="0">
                <a:solidFill>
                  <a:srgbClr val="475569"/>
                </a:solidFill>
              </a:rPr>
              <a:t>Versão</a:t>
            </a:r>
            <a:endParaRPr lang="en-US" sz="1200" dirty="0"/>
          </a:p>
          <a:p>
            <a:pPr marL="0" indent="0" algn="ctr">
              <a:buNone/>
            </a:pPr>
            <a:r>
              <a:rPr lang="en-US" sz="1200" b="1" dirty="0">
                <a:solidFill>
                  <a:srgbClr val="475569"/>
                </a:solidFill>
              </a:rPr>
              <a:t>1.0</a:t>
            </a:r>
            <a:endParaRPr lang="en-US" sz="1200" dirty="0"/>
          </a:p>
        </p:txBody>
      </p:sp>
      <p:sp>
        <p:nvSpPr>
          <p:cNvPr id="9" name="Text 7"/>
          <p:cNvSpPr/>
          <p:nvPr/>
        </p:nvSpPr>
        <p:spPr>
          <a:xfrm>
            <a:off x="9144000" y="1828800"/>
            <a:ext cx="1234440" cy="685800"/>
          </a:xfrm>
          <a:prstGeom prst="roundRect">
            <a:avLst/>
          </a:prstGeom>
          <a:solidFill>
            <a:srgbClr val="FFEDD5"/>
          </a:solidFill>
          <a:ln>
            <a:solidFill>
              <a:srgbClr val="F97316"/>
            </a:solidFill>
          </a:ln>
        </p:spPr>
        <p:txBody>
          <a:bodyPr wrap="square" lIns="508" tIns="508" rIns="508" bIns="508" rtlCol="0" anchor="ctr">
            <a:normAutofit/>
          </a:bodyPr>
          <a:lstStyle/>
          <a:p>
            <a:pPr marL="0" indent="0" algn="ctr">
              <a:buNone/>
            </a:pPr>
            <a:r>
              <a:rPr lang="en-US" sz="1200" b="1" dirty="0">
                <a:solidFill>
                  <a:srgbClr val="F97316"/>
                </a:solidFill>
              </a:rPr>
              <a:t>Pacote</a:t>
            </a:r>
            <a:endParaRPr lang="en-US" sz="1200" dirty="0"/>
          </a:p>
          <a:p>
            <a:pPr marL="0" indent="0" algn="ctr">
              <a:buNone/>
            </a:pPr>
            <a:r>
              <a:rPr lang="en-US" sz="1200" b="1" dirty="0">
                <a:solidFill>
                  <a:srgbClr val="F97316"/>
                </a:solidFill>
              </a:rPr>
              <a:t>assinado</a:t>
            </a:r>
            <a:endParaRPr lang="en-US" sz="1200" dirty="0"/>
          </a:p>
        </p:txBody>
      </p:sp>
      <p:sp>
        <p:nvSpPr>
          <p:cNvPr id="10" name="Text 8"/>
          <p:cNvSpPr/>
          <p:nvPr/>
        </p:nvSpPr>
        <p:spPr>
          <a:xfrm>
            <a:off x="10744200" y="1828800"/>
            <a:ext cx="914400" cy="685800"/>
          </a:xfrm>
          <a:prstGeom prst="roundRect">
            <a:avLst/>
          </a:prstGeom>
          <a:solidFill>
            <a:srgbClr val="DCFCE7"/>
          </a:solidFill>
          <a:ln>
            <a:solidFill>
              <a:srgbClr val="10B981"/>
            </a:solidFill>
          </a:ln>
        </p:spPr>
        <p:txBody>
          <a:bodyPr wrap="square" lIns="508" tIns="508" rIns="508" bIns="508" rtlCol="0" anchor="ctr">
            <a:normAutofit/>
          </a:bodyPr>
          <a:lstStyle/>
          <a:p>
            <a:pPr marL="0" indent="0" algn="ctr">
              <a:buNone/>
            </a:pPr>
            <a:r>
              <a:rPr lang="en-US" sz="1200" b="1" dirty="0">
                <a:solidFill>
                  <a:srgbClr val="10B981"/>
                </a:solidFill>
              </a:rPr>
              <a:t>Versão</a:t>
            </a:r>
            <a:endParaRPr lang="en-US" sz="1200" dirty="0"/>
          </a:p>
          <a:p>
            <a:pPr marL="0" indent="0" algn="ctr">
              <a:buNone/>
            </a:pPr>
            <a:r>
              <a:rPr lang="en-US" sz="1200" b="1" dirty="0">
                <a:solidFill>
                  <a:srgbClr val="10B981"/>
                </a:solidFill>
              </a:rPr>
              <a:t>1.1</a:t>
            </a:r>
            <a:endParaRPr lang="en-US" sz="1200" dirty="0"/>
          </a:p>
        </p:txBody>
      </p:sp>
      <p:sp>
        <p:nvSpPr>
          <p:cNvPr id="11" name="Text 9"/>
          <p:cNvSpPr/>
          <p:nvPr/>
        </p:nvSpPr>
        <p:spPr>
          <a:xfrm>
            <a:off x="7635240" y="3383280"/>
            <a:ext cx="3977640" cy="749808"/>
          </a:xfrm>
          <a:prstGeom prst="roundRect">
            <a:avLst>
              <a:gd name="adj" fmla="val 14634"/>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Plano de rollback: voltar à versão anterior se falhar.</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AWS Well-Architected — OTA updates</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Gerenciamento de frota</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Operar muitos dispositivos</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Inventário lista dispositivos, versões e localização lógica.</a:t>
            </a:r>
            <a:endParaRPr lang="en-US" sz="2400" dirty="0"/>
          </a:p>
          <a:p>
            <a:pPr marL="0" indent="0">
              <a:buNone/>
            </a:pPr>
            <a:endParaRPr lang="en-US" sz="2400" dirty="0"/>
          </a:p>
          <a:p>
            <a:pPr marL="0" indent="0">
              <a:buNone/>
            </a:pPr>
            <a:r>
              <a:rPr lang="en-US" sz="2400" dirty="0">
                <a:solidFill>
                  <a:srgbClr val="172033"/>
                </a:solidFill>
              </a:rPr>
              <a:t>• Configuração remota evita visitas técnicas desnecessárias.</a:t>
            </a:r>
            <a:endParaRPr lang="en-US" sz="2400" dirty="0"/>
          </a:p>
          <a:p>
            <a:pPr marL="0" indent="0">
              <a:buNone/>
            </a:pPr>
            <a:endParaRPr lang="en-US" sz="2400" dirty="0"/>
          </a:p>
          <a:p>
            <a:pPr marL="0" indent="0">
              <a:buNone/>
            </a:pPr>
            <a:r>
              <a:rPr lang="en-US" sz="2400" dirty="0">
                <a:solidFill>
                  <a:srgbClr val="172033"/>
                </a:solidFill>
              </a:rPr>
              <a:t>• Monitoramento identifica falhas de conexão e bateria.</a:t>
            </a:r>
            <a:endParaRPr lang="en-US" sz="2400" dirty="0"/>
          </a:p>
          <a:p>
            <a:pPr marL="0" indent="0">
              <a:buNone/>
            </a:pPr>
            <a:endParaRPr lang="en-US" sz="2400" dirty="0"/>
          </a:p>
          <a:p>
            <a:pPr marL="0" indent="0">
              <a:buNone/>
            </a:pPr>
            <a:r>
              <a:rPr lang="en-US" sz="2400" dirty="0">
                <a:solidFill>
                  <a:srgbClr val="172033"/>
                </a:solidFill>
              </a:rPr>
              <a:t>• Grupos permitem políticas diferentes por tipo de dispositivo.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Nuvem IoT</a:t>
            </a:r>
            <a:endParaRPr lang="en-US" sz="1400" dirty="0"/>
          </a:p>
        </p:txBody>
      </p:sp>
      <p:sp>
        <p:nvSpPr>
          <p:cNvPr id="8" name="Shape 6"/>
          <p:cNvSpPr/>
          <p:nvPr/>
        </p:nvSpPr>
        <p:spPr>
          <a:xfrm>
            <a:off x="7635240" y="1554480"/>
            <a:ext cx="3840480" cy="2103120"/>
          </a:xfrm>
          <a:prstGeom prst="cloud">
            <a:avLst/>
          </a:prstGeom>
          <a:solidFill>
            <a:srgbClr val="EDE9FE"/>
          </a:solidFill>
          <a:ln w="12700">
            <a:solidFill>
              <a:srgbClr val="7C3AED"/>
            </a:solidFill>
            <a:prstDash val="solid"/>
          </a:ln>
        </p:spPr>
      </p:sp>
      <p:sp>
        <p:nvSpPr>
          <p:cNvPr id="9" name="Text 7"/>
          <p:cNvSpPr/>
          <p:nvPr/>
        </p:nvSpPr>
        <p:spPr>
          <a:xfrm>
            <a:off x="8275320" y="1965960"/>
            <a:ext cx="2560320" cy="1280160"/>
          </a:xfrm>
          <a:prstGeom prst="rect">
            <a:avLst/>
          </a:prstGeom>
          <a:noFill/>
          <a:ln/>
        </p:spPr>
        <p:txBody>
          <a:bodyPr wrap="square" lIns="0" tIns="0" rIns="0" bIns="0" rtlCol="0" anchor="ctr"/>
          <a:lstStyle/>
          <a:p>
            <a:pPr marL="0" indent="0" algn="ctr">
              <a:buNone/>
            </a:pPr>
            <a:r>
              <a:rPr lang="en-US" sz="1800" b="1" dirty="0">
                <a:solidFill>
                  <a:srgbClr val="7C3AED"/>
                </a:solidFill>
              </a:rPr>
              <a:t>Ingestão</a:t>
            </a:r>
            <a:endParaRPr lang="en-US" sz="1800" dirty="0"/>
          </a:p>
          <a:p>
            <a:pPr marL="0" indent="0" algn="ctr">
              <a:buNone/>
            </a:pPr>
            <a:r>
              <a:rPr lang="en-US" sz="1800" b="1" dirty="0">
                <a:solidFill>
                  <a:srgbClr val="7C3AED"/>
                </a:solidFill>
              </a:rPr>
              <a:t>Regras</a:t>
            </a:r>
            <a:endParaRPr lang="en-US" sz="1800" dirty="0"/>
          </a:p>
          <a:p>
            <a:pPr marL="0" indent="0" algn="ctr">
              <a:buNone/>
            </a:pPr>
            <a:r>
              <a:rPr lang="en-US" sz="1800" b="1" dirty="0">
                <a:solidFill>
                  <a:srgbClr val="7C3AED"/>
                </a:solidFill>
              </a:rPr>
              <a:t>Banco de dados</a:t>
            </a:r>
            <a:endParaRPr lang="en-US" sz="1800" dirty="0"/>
          </a:p>
          <a:p>
            <a:pPr marL="0" indent="0" algn="ctr">
              <a:buNone/>
            </a:pPr>
            <a:r>
              <a:rPr lang="en-US" sz="1800" b="1" dirty="0">
                <a:solidFill>
                  <a:srgbClr val="7C3AED"/>
                </a:solidFill>
              </a:rPr>
              <a:t>APIs</a:t>
            </a:r>
            <a:endParaRPr lang="en-US" sz="1800" dirty="0"/>
          </a:p>
        </p:txBody>
      </p:sp>
      <p:sp>
        <p:nvSpPr>
          <p:cNvPr id="10" name="Text 8"/>
          <p:cNvSpPr/>
          <p:nvPr/>
        </p:nvSpPr>
        <p:spPr>
          <a:xfrm>
            <a:off x="7818120" y="4206240"/>
            <a:ext cx="1280160" cy="502920"/>
          </a:xfrm>
          <a:prstGeom prst="roundRect">
            <a:avLst/>
          </a:prstGeom>
          <a:solidFill>
            <a:srgbClr val="E0F2FE"/>
          </a:solidFill>
          <a:ln>
            <a:solidFill>
              <a:srgbClr val="0284C7"/>
            </a:solidFill>
          </a:ln>
        </p:spPr>
        <p:txBody>
          <a:bodyPr wrap="square" lIns="508" tIns="508" rIns="508" bIns="508" rtlCol="0" anchor="ctr">
            <a:normAutofit/>
          </a:bodyPr>
          <a:lstStyle/>
          <a:p>
            <a:pPr marL="0" indent="0" algn="ctr">
              <a:buNone/>
            </a:pPr>
            <a:r>
              <a:rPr lang="en-US" sz="1100" b="1" dirty="0">
                <a:solidFill>
                  <a:srgbClr val="0284C7"/>
                </a:solidFill>
              </a:rPr>
              <a:t>Dispositivos</a:t>
            </a:r>
            <a:endParaRPr lang="en-US" sz="1100" dirty="0"/>
          </a:p>
        </p:txBody>
      </p:sp>
      <p:sp>
        <p:nvSpPr>
          <p:cNvPr id="11" name="Text 9"/>
          <p:cNvSpPr/>
          <p:nvPr/>
        </p:nvSpPr>
        <p:spPr>
          <a:xfrm>
            <a:off x="10058400" y="4206240"/>
            <a:ext cx="1280160" cy="502920"/>
          </a:xfrm>
          <a:prstGeom prst="roundRect">
            <a:avLst/>
          </a:prstGeom>
          <a:solidFill>
            <a:srgbClr val="DCFCE7"/>
          </a:solidFill>
          <a:ln>
            <a:solidFill>
              <a:srgbClr val="10B981"/>
            </a:solidFill>
          </a:ln>
        </p:spPr>
        <p:txBody>
          <a:bodyPr wrap="square" lIns="508" tIns="508" rIns="508" bIns="508" rtlCol="0" anchor="ctr">
            <a:normAutofit/>
          </a:bodyPr>
          <a:lstStyle/>
          <a:p>
            <a:pPr marL="0" indent="0" algn="ctr">
              <a:buNone/>
            </a:pPr>
            <a:r>
              <a:rPr lang="en-US" sz="1100" b="1" dirty="0">
                <a:solidFill>
                  <a:srgbClr val="10B981"/>
                </a:solidFill>
              </a:rPr>
              <a:t>Aplicações</a:t>
            </a:r>
            <a:endParaRPr lang="en-US" sz="11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Microsoft Learn — Device Update</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Observabilidade em IoT</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Saber o que está acontecendo</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Métricas mostram desempenho, bateria, mensagens e latência.</a:t>
            </a:r>
            <a:endParaRPr lang="en-US" sz="2400" dirty="0"/>
          </a:p>
          <a:p>
            <a:pPr marL="0" indent="0">
              <a:buNone/>
            </a:pPr>
            <a:endParaRPr lang="en-US" sz="2400" dirty="0"/>
          </a:p>
          <a:p>
            <a:pPr marL="0" indent="0">
              <a:buNone/>
            </a:pPr>
            <a:r>
              <a:rPr lang="en-US" sz="2400" dirty="0">
                <a:solidFill>
                  <a:srgbClr val="172033"/>
                </a:solidFill>
              </a:rPr>
              <a:t>• Logs registram eventos e erros.</a:t>
            </a:r>
            <a:endParaRPr lang="en-US" sz="2400" dirty="0"/>
          </a:p>
          <a:p>
            <a:pPr marL="0" indent="0">
              <a:buNone/>
            </a:pPr>
            <a:endParaRPr lang="en-US" sz="2400" dirty="0"/>
          </a:p>
          <a:p>
            <a:pPr marL="0" indent="0">
              <a:buNone/>
            </a:pPr>
            <a:r>
              <a:rPr lang="en-US" sz="2400" dirty="0">
                <a:solidFill>
                  <a:srgbClr val="172033"/>
                </a:solidFill>
              </a:rPr>
              <a:t>• Alertas avisam quando algo foge do esperado.</a:t>
            </a:r>
            <a:endParaRPr lang="en-US" sz="2400" dirty="0"/>
          </a:p>
          <a:p>
            <a:pPr marL="0" indent="0">
              <a:buNone/>
            </a:pPr>
            <a:endParaRPr lang="en-US" sz="2400" dirty="0"/>
          </a:p>
          <a:p>
            <a:pPr marL="0" indent="0">
              <a:buNone/>
            </a:pPr>
            <a:r>
              <a:rPr lang="en-US" sz="2400" dirty="0">
                <a:solidFill>
                  <a:srgbClr val="172033"/>
                </a:solidFill>
              </a:rPr>
              <a:t>• Rastreamento ajuda a localizar gargalos no fluxo.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Exemplo aplicado</a:t>
            </a:r>
            <a:endParaRPr lang="en-US" sz="1400" dirty="0"/>
          </a:p>
        </p:txBody>
      </p:sp>
      <p:sp>
        <p:nvSpPr>
          <p:cNvPr id="8" name="Text 6"/>
          <p:cNvSpPr/>
          <p:nvPr/>
        </p:nvSpPr>
        <p:spPr>
          <a:xfrm>
            <a:off x="7635240" y="1463040"/>
            <a:ext cx="3886200" cy="548640"/>
          </a:xfrm>
          <a:prstGeom prst="roundRect">
            <a:avLst>
              <a:gd name="adj" fmla="val 2000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Máquina</a:t>
            </a:r>
            <a:endParaRPr lang="en-US" sz="1500" dirty="0"/>
          </a:p>
          <a:p>
            <a:pPr marL="0" indent="0" algn="ctr">
              <a:buNone/>
            </a:pPr>
            <a:r>
              <a:rPr lang="en-US" sz="1500" b="1" dirty="0">
                <a:solidFill>
                  <a:srgbClr val="0284C7"/>
                </a:solidFill>
              </a:rPr>
              <a:t>mede vibração</a:t>
            </a:r>
            <a:endParaRPr lang="en-US" sz="1500" dirty="0"/>
          </a:p>
        </p:txBody>
      </p:sp>
      <p:sp>
        <p:nvSpPr>
          <p:cNvPr id="9" name="Text 7"/>
          <p:cNvSpPr/>
          <p:nvPr/>
        </p:nvSpPr>
        <p:spPr>
          <a:xfrm>
            <a:off x="7635240" y="2423160"/>
            <a:ext cx="3886200" cy="548640"/>
          </a:xfrm>
          <a:prstGeom prst="roundRect">
            <a:avLst>
              <a:gd name="adj" fmla="val 2000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a:t>
            </a:r>
            <a:endParaRPr lang="en-US" sz="1500" dirty="0"/>
          </a:p>
          <a:p>
            <a:pPr marL="0" indent="0" algn="ctr">
              <a:buNone/>
            </a:pPr>
            <a:r>
              <a:rPr lang="en-US" sz="1500" b="1" dirty="0">
                <a:solidFill>
                  <a:srgbClr val="10B981"/>
                </a:solidFill>
              </a:rPr>
              <a:t>filtra ruído</a:t>
            </a:r>
            <a:endParaRPr lang="en-US" sz="1500" dirty="0"/>
          </a:p>
        </p:txBody>
      </p:sp>
      <p:sp>
        <p:nvSpPr>
          <p:cNvPr id="10" name="Text 8"/>
          <p:cNvSpPr/>
          <p:nvPr/>
        </p:nvSpPr>
        <p:spPr>
          <a:xfrm>
            <a:off x="7635240" y="3383280"/>
            <a:ext cx="3886200" cy="548640"/>
          </a:xfrm>
          <a:prstGeom prst="roundRect">
            <a:avLst>
              <a:gd name="adj" fmla="val 2000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analisa tendência</a:t>
            </a:r>
            <a:endParaRPr lang="en-US" sz="1500" dirty="0"/>
          </a:p>
        </p:txBody>
      </p:sp>
      <p:sp>
        <p:nvSpPr>
          <p:cNvPr id="11" name="Text 9"/>
          <p:cNvSpPr/>
          <p:nvPr/>
        </p:nvSpPr>
        <p:spPr>
          <a:xfrm>
            <a:off x="7635240" y="4343400"/>
            <a:ext cx="3886200" cy="548640"/>
          </a:xfrm>
          <a:prstGeom prst="roundRect">
            <a:avLst>
              <a:gd name="adj" fmla="val 20000"/>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Aplicação</a:t>
            </a:r>
            <a:endParaRPr lang="en-US" sz="1500" dirty="0"/>
          </a:p>
          <a:p>
            <a:pPr marL="0" indent="0" algn="ctr">
              <a:buNone/>
            </a:pPr>
            <a:r>
              <a:rPr lang="en-US" sz="1500" b="1" dirty="0">
                <a:solidFill>
                  <a:srgbClr val="F97316"/>
                </a:solidFill>
              </a:rPr>
              <a:t>abre alerta</a:t>
            </a:r>
            <a:endParaRPr lang="en-US" sz="1500" dirty="0"/>
          </a:p>
        </p:txBody>
      </p:sp>
      <p:sp>
        <p:nvSpPr>
          <p:cNvPr id="12" name="Shape 10"/>
          <p:cNvSpPr/>
          <p:nvPr/>
        </p:nvSpPr>
        <p:spPr>
          <a:xfrm>
            <a:off x="502920" y="6327648"/>
            <a:ext cx="11201400" cy="0"/>
          </a:xfrm>
          <a:prstGeom prst="line">
            <a:avLst/>
          </a:prstGeom>
          <a:noFill/>
          <a:ln w="12700">
            <a:solidFill>
              <a:srgbClr val="E2E8F0"/>
            </a:solidFill>
            <a:prstDash val="solid"/>
          </a:ln>
        </p:spPr>
      </p:sp>
      <p:sp>
        <p:nvSpPr>
          <p:cNvPr id="13" name="Text 11"/>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Escalabilidade e custo</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Projetar para crescer</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Mensagens frequentes aumentam tráfego e armazenamento.</a:t>
            </a:r>
            <a:endParaRPr lang="en-US" sz="2400" dirty="0"/>
          </a:p>
          <a:p>
            <a:pPr marL="0" indent="0">
              <a:buNone/>
            </a:pPr>
            <a:endParaRPr lang="en-US" sz="2400" dirty="0"/>
          </a:p>
          <a:p>
            <a:pPr marL="0" indent="0">
              <a:buNone/>
            </a:pPr>
            <a:r>
              <a:rPr lang="en-US" sz="2400" dirty="0">
                <a:solidFill>
                  <a:srgbClr val="172033"/>
                </a:solidFill>
              </a:rPr>
              <a:t>• Dados brutos podem ser filtrados ou agregados na borda.</a:t>
            </a:r>
            <a:endParaRPr lang="en-US" sz="2400" dirty="0"/>
          </a:p>
          <a:p>
            <a:pPr marL="0" indent="0">
              <a:buNone/>
            </a:pPr>
            <a:endParaRPr lang="en-US" sz="2400" dirty="0"/>
          </a:p>
          <a:p>
            <a:pPr marL="0" indent="0">
              <a:buNone/>
            </a:pPr>
            <a:r>
              <a:rPr lang="en-US" sz="2400" dirty="0">
                <a:solidFill>
                  <a:srgbClr val="172033"/>
                </a:solidFill>
              </a:rPr>
              <a:t>• Retenção define por quanto tempo os dados ficam guardados.</a:t>
            </a:r>
            <a:endParaRPr lang="en-US" sz="2400" dirty="0"/>
          </a:p>
          <a:p>
            <a:pPr marL="0" indent="0">
              <a:buNone/>
            </a:pPr>
            <a:endParaRPr lang="en-US" sz="2400" dirty="0"/>
          </a:p>
          <a:p>
            <a:pPr marL="0" indent="0">
              <a:buNone/>
            </a:pPr>
            <a:r>
              <a:rPr lang="en-US" sz="2400" dirty="0">
                <a:solidFill>
                  <a:srgbClr val="172033"/>
                </a:solidFill>
              </a:rPr>
              <a:t>• Escala exige automação, grupos e políticas padronizadas.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Escolha arquitetural</a:t>
            </a:r>
            <a:endParaRPr lang="en-US" sz="1400" dirty="0"/>
          </a:p>
        </p:txBody>
      </p:sp>
      <p:sp>
        <p:nvSpPr>
          <p:cNvPr id="8" name="Text 6"/>
          <p:cNvSpPr/>
          <p:nvPr/>
        </p:nvSpPr>
        <p:spPr>
          <a:xfrm>
            <a:off x="7635240" y="1463040"/>
            <a:ext cx="3886200" cy="594360"/>
          </a:xfrm>
          <a:prstGeom prst="roundRect">
            <a:avLst>
              <a:gd name="adj" fmla="val 18462"/>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Precisa de resposta &lt; 1s?</a:t>
            </a:r>
            <a:endParaRPr lang="en-US" sz="1500" dirty="0"/>
          </a:p>
        </p:txBody>
      </p:sp>
      <p:sp>
        <p:nvSpPr>
          <p:cNvPr id="9" name="Text 7"/>
          <p:cNvSpPr/>
          <p:nvPr/>
        </p:nvSpPr>
        <p:spPr>
          <a:xfrm>
            <a:off x="7589520" y="2926080"/>
            <a:ext cx="1874520" cy="685800"/>
          </a:xfrm>
          <a:prstGeom prst="roundRect">
            <a:avLst>
              <a:gd name="adj" fmla="val 1600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Sim:</a:t>
            </a:r>
            <a:endParaRPr lang="en-US" sz="1500" dirty="0"/>
          </a:p>
          <a:p>
            <a:pPr marL="0" indent="0" algn="ctr">
              <a:buNone/>
            </a:pPr>
            <a:r>
              <a:rPr lang="en-US" sz="1500" b="1" dirty="0">
                <a:solidFill>
                  <a:srgbClr val="10B981"/>
                </a:solidFill>
              </a:rPr>
              <a:t>processar na borda</a:t>
            </a:r>
            <a:endParaRPr lang="en-US" sz="1500" dirty="0"/>
          </a:p>
        </p:txBody>
      </p:sp>
      <p:sp>
        <p:nvSpPr>
          <p:cNvPr id="10" name="Text 8"/>
          <p:cNvSpPr/>
          <p:nvPr/>
        </p:nvSpPr>
        <p:spPr>
          <a:xfrm>
            <a:off x="9921240" y="2926080"/>
            <a:ext cx="1874520" cy="685800"/>
          </a:xfrm>
          <a:prstGeom prst="roundRect">
            <a:avLst>
              <a:gd name="adj" fmla="val 1600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Não:</a:t>
            </a:r>
            <a:endParaRPr lang="en-US" sz="1500" dirty="0"/>
          </a:p>
          <a:p>
            <a:pPr marL="0" indent="0" algn="ctr">
              <a:buNone/>
            </a:pPr>
            <a:r>
              <a:rPr lang="en-US" sz="1500" b="1" dirty="0">
                <a:solidFill>
                  <a:srgbClr val="7C3AED"/>
                </a:solidFill>
              </a:rPr>
              <a:t>enviar à nuvem</a:t>
            </a:r>
            <a:endParaRPr lang="en-US" sz="1500" dirty="0"/>
          </a:p>
        </p:txBody>
      </p:sp>
      <p:sp>
        <p:nvSpPr>
          <p:cNvPr id="11" name="Text 9"/>
          <p:cNvSpPr/>
          <p:nvPr/>
        </p:nvSpPr>
        <p:spPr>
          <a:xfrm>
            <a:off x="7635240" y="4206240"/>
            <a:ext cx="3886200" cy="731520"/>
          </a:xfrm>
          <a:prstGeom prst="roundRect">
            <a:avLst>
              <a:gd name="adj" fmla="val 1500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Combine quando houver custo, privacidade ou instabilidade de rede.</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AWS Well-Architected — IoT Edge</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Privacidade e governança de dados</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Usar dados com responsabilidade</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Colete apenas dados necessários para o objetivo.</a:t>
            </a:r>
            <a:endParaRPr lang="en-US" sz="2400" dirty="0"/>
          </a:p>
          <a:p>
            <a:pPr marL="0" indent="0">
              <a:buNone/>
            </a:pPr>
            <a:endParaRPr lang="en-US" sz="2400" dirty="0"/>
          </a:p>
          <a:p>
            <a:pPr marL="0" indent="0">
              <a:buNone/>
            </a:pPr>
            <a:r>
              <a:rPr lang="en-US" sz="2400" dirty="0">
                <a:solidFill>
                  <a:srgbClr val="172033"/>
                </a:solidFill>
              </a:rPr>
              <a:t>• Evite expor informações pessoais sem necessidade.</a:t>
            </a:r>
            <a:endParaRPr lang="en-US" sz="2400" dirty="0"/>
          </a:p>
          <a:p>
            <a:pPr marL="0" indent="0">
              <a:buNone/>
            </a:pPr>
            <a:endParaRPr lang="en-US" sz="2400" dirty="0"/>
          </a:p>
          <a:p>
            <a:pPr marL="0" indent="0">
              <a:buNone/>
            </a:pPr>
            <a:r>
              <a:rPr lang="en-US" sz="2400" dirty="0">
                <a:solidFill>
                  <a:srgbClr val="172033"/>
                </a:solidFill>
              </a:rPr>
              <a:t>• Defina quem pode acessar dados e comandos.</a:t>
            </a:r>
            <a:endParaRPr lang="en-US" sz="2400" dirty="0"/>
          </a:p>
          <a:p>
            <a:pPr marL="0" indent="0">
              <a:buNone/>
            </a:pPr>
            <a:endParaRPr lang="en-US" sz="2400" dirty="0"/>
          </a:p>
          <a:p>
            <a:pPr marL="0" indent="0">
              <a:buNone/>
            </a:pPr>
            <a:r>
              <a:rPr lang="en-US" sz="2400" dirty="0">
                <a:solidFill>
                  <a:srgbClr val="172033"/>
                </a:solidFill>
              </a:rPr>
              <a:t>• Documente origem, uso e tempo de retenção dos dados.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Segurança ponta a ponta</a:t>
            </a:r>
            <a:endParaRPr lang="en-US" sz="1400" dirty="0"/>
          </a:p>
        </p:txBody>
      </p:sp>
      <p:sp>
        <p:nvSpPr>
          <p:cNvPr id="8" name="Text 6"/>
          <p:cNvSpPr/>
          <p:nvPr/>
        </p:nvSpPr>
        <p:spPr>
          <a:xfrm>
            <a:off x="7635240" y="1463040"/>
            <a:ext cx="3886200" cy="566928"/>
          </a:xfrm>
          <a:prstGeom prst="roundRect">
            <a:avLst>
              <a:gd name="adj" fmla="val 19355"/>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Identidade</a:t>
            </a:r>
            <a:endParaRPr lang="en-US" sz="1500" dirty="0"/>
          </a:p>
          <a:p>
            <a:pPr marL="0" indent="0" algn="ctr">
              <a:buNone/>
            </a:pPr>
            <a:r>
              <a:rPr lang="en-US" sz="1500" b="1" dirty="0">
                <a:solidFill>
                  <a:srgbClr val="0284C7"/>
                </a:solidFill>
              </a:rPr>
              <a:t>do dispositivo</a:t>
            </a:r>
            <a:endParaRPr lang="en-US" sz="1500" dirty="0"/>
          </a:p>
        </p:txBody>
      </p:sp>
      <p:sp>
        <p:nvSpPr>
          <p:cNvPr id="9" name="Text 7"/>
          <p:cNvSpPr/>
          <p:nvPr/>
        </p:nvSpPr>
        <p:spPr>
          <a:xfrm>
            <a:off x="7635240" y="2331720"/>
            <a:ext cx="3886200" cy="566928"/>
          </a:xfrm>
          <a:prstGeom prst="roundRect">
            <a:avLst>
              <a:gd name="adj" fmla="val 19355"/>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Criptografia</a:t>
            </a:r>
            <a:endParaRPr lang="en-US" sz="1500" dirty="0"/>
          </a:p>
          <a:p>
            <a:pPr marL="0" indent="0" algn="ctr">
              <a:buNone/>
            </a:pPr>
            <a:r>
              <a:rPr lang="en-US" sz="1500" b="1" dirty="0">
                <a:solidFill>
                  <a:srgbClr val="10B981"/>
                </a:solidFill>
              </a:rPr>
              <a:t>em trânsito</a:t>
            </a:r>
            <a:endParaRPr lang="en-US" sz="1500" dirty="0"/>
          </a:p>
        </p:txBody>
      </p:sp>
      <p:sp>
        <p:nvSpPr>
          <p:cNvPr id="10" name="Text 8"/>
          <p:cNvSpPr/>
          <p:nvPr/>
        </p:nvSpPr>
        <p:spPr>
          <a:xfrm>
            <a:off x="7635240" y="3200400"/>
            <a:ext cx="3886200" cy="566928"/>
          </a:xfrm>
          <a:prstGeom prst="roundRect">
            <a:avLst>
              <a:gd name="adj" fmla="val 19355"/>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Autorização</a:t>
            </a:r>
            <a:endParaRPr lang="en-US" sz="1500" dirty="0"/>
          </a:p>
          <a:p>
            <a:pPr marL="0" indent="0" algn="ctr">
              <a:buNone/>
            </a:pPr>
            <a:r>
              <a:rPr lang="en-US" sz="1500" b="1" dirty="0">
                <a:solidFill>
                  <a:srgbClr val="F97316"/>
                </a:solidFill>
              </a:rPr>
              <a:t>por permissões</a:t>
            </a:r>
            <a:endParaRPr lang="en-US" sz="1500" dirty="0"/>
          </a:p>
        </p:txBody>
      </p:sp>
      <p:sp>
        <p:nvSpPr>
          <p:cNvPr id="11" name="Text 9"/>
          <p:cNvSpPr/>
          <p:nvPr/>
        </p:nvSpPr>
        <p:spPr>
          <a:xfrm>
            <a:off x="7635240" y="4069080"/>
            <a:ext cx="3886200" cy="566928"/>
          </a:xfrm>
          <a:prstGeom prst="roundRect">
            <a:avLst>
              <a:gd name="adj" fmla="val 19355"/>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Atualização</a:t>
            </a:r>
            <a:endParaRPr lang="en-US" sz="1500" dirty="0"/>
          </a:p>
          <a:p>
            <a:pPr marL="0" indent="0" algn="ctr">
              <a:buNone/>
            </a:pPr>
            <a:r>
              <a:rPr lang="en-US" sz="1500" b="1" dirty="0">
                <a:solidFill>
                  <a:srgbClr val="7C3AED"/>
                </a:solidFill>
              </a:rPr>
              <a:t>segura</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NISTIR 8259A — segurança IoT</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Arquitetura de referência</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Projeto completo em camadas</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Dispositivo: sensor, firmware e conectividade.</a:t>
            </a:r>
            <a:endParaRPr lang="en-US" sz="2400" dirty="0"/>
          </a:p>
          <a:p>
            <a:pPr marL="0" indent="0">
              <a:buNone/>
            </a:pPr>
            <a:endParaRPr lang="en-US" sz="2400" dirty="0"/>
          </a:p>
          <a:p>
            <a:pPr marL="0" indent="0">
              <a:buNone/>
            </a:pPr>
            <a:r>
              <a:rPr lang="en-US" sz="2400" dirty="0">
                <a:solidFill>
                  <a:srgbClr val="172033"/>
                </a:solidFill>
              </a:rPr>
              <a:t>• Gateway/borda: filtragem, cache e regras locais.</a:t>
            </a:r>
            <a:endParaRPr lang="en-US" sz="2400" dirty="0"/>
          </a:p>
          <a:p>
            <a:pPr marL="0" indent="0">
              <a:buNone/>
            </a:pPr>
            <a:endParaRPr lang="en-US" sz="2400" dirty="0"/>
          </a:p>
          <a:p>
            <a:pPr marL="0" indent="0">
              <a:buNone/>
            </a:pPr>
            <a:r>
              <a:rPr lang="en-US" sz="2400" dirty="0">
                <a:solidFill>
                  <a:srgbClr val="172033"/>
                </a:solidFill>
              </a:rPr>
              <a:t>• Nuvem: ingestão, banco, integração e gestão.</a:t>
            </a:r>
            <a:endParaRPr lang="en-US" sz="2400" dirty="0"/>
          </a:p>
          <a:p>
            <a:pPr marL="0" indent="0">
              <a:buNone/>
            </a:pPr>
            <a:endParaRPr lang="en-US" sz="2400" dirty="0"/>
          </a:p>
          <a:p>
            <a:pPr marL="0" indent="0">
              <a:buNone/>
            </a:pPr>
            <a:r>
              <a:rPr lang="en-US" sz="2400" dirty="0">
                <a:solidFill>
                  <a:srgbClr val="172033"/>
                </a:solidFill>
              </a:rPr>
              <a:t>• Aplicação: visualização, alerta e automação.</a:t>
            </a:r>
            <a:endParaRPr lang="en-US" sz="2400" dirty="0"/>
          </a:p>
          <a:p>
            <a:pPr marL="0" indent="0">
              <a:buNone/>
            </a:pPr>
            <a:endParaRPr lang="en-US" sz="2400" dirty="0"/>
          </a:p>
          <a:p>
            <a:pPr marL="0" indent="0">
              <a:buNone/>
            </a:pPr>
            <a:r>
              <a:rPr lang="en-US" sz="2400" dirty="0">
                <a:solidFill>
                  <a:srgbClr val="172033"/>
                </a:solidFill>
              </a:rPr>
              <a:t>• Segurança atravessa todas as camadas.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Arquitetura em camadas</a:t>
            </a:r>
            <a:endParaRPr lang="en-US" sz="1400" dirty="0"/>
          </a:p>
        </p:txBody>
      </p:sp>
      <p:sp>
        <p:nvSpPr>
          <p:cNvPr id="8" name="Text 6"/>
          <p:cNvSpPr/>
          <p:nvPr/>
        </p:nvSpPr>
        <p:spPr>
          <a:xfrm>
            <a:off x="7543800" y="1325880"/>
            <a:ext cx="4069080" cy="530352"/>
          </a:xfrm>
          <a:prstGeom prst="roundRect">
            <a:avLst>
              <a:gd name="adj" fmla="val 20690"/>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Aplicação</a:t>
            </a:r>
            <a:endParaRPr lang="en-US" sz="1500" dirty="0"/>
          </a:p>
          <a:p>
            <a:pPr marL="0" indent="0" algn="ctr">
              <a:buNone/>
            </a:pPr>
            <a:r>
              <a:rPr lang="en-US" sz="1500" b="1" dirty="0">
                <a:solidFill>
                  <a:srgbClr val="CA8A04"/>
                </a:solidFill>
              </a:rPr>
              <a:t>dashboards, alertas, APIs</a:t>
            </a:r>
            <a:endParaRPr lang="en-US" sz="1500" dirty="0"/>
          </a:p>
        </p:txBody>
      </p:sp>
      <p:sp>
        <p:nvSpPr>
          <p:cNvPr id="9" name="Text 7"/>
          <p:cNvSpPr/>
          <p:nvPr/>
        </p:nvSpPr>
        <p:spPr>
          <a:xfrm>
            <a:off x="7543800" y="2075688"/>
            <a:ext cx="4069080" cy="530352"/>
          </a:xfrm>
          <a:prstGeom prst="roundRect">
            <a:avLst>
              <a:gd name="adj" fmla="val 2069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ingestão, banco, análise</a:t>
            </a:r>
            <a:endParaRPr lang="en-US" sz="1500" dirty="0"/>
          </a:p>
        </p:txBody>
      </p:sp>
      <p:sp>
        <p:nvSpPr>
          <p:cNvPr id="10" name="Text 8"/>
          <p:cNvSpPr/>
          <p:nvPr/>
        </p:nvSpPr>
        <p:spPr>
          <a:xfrm>
            <a:off x="7543800" y="2825496"/>
            <a:ext cx="4069080" cy="530352"/>
          </a:xfrm>
          <a:prstGeom prst="roundRect">
            <a:avLst>
              <a:gd name="adj" fmla="val 2069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Borda/Gateway</a:t>
            </a:r>
            <a:endParaRPr lang="en-US" sz="1500" dirty="0"/>
          </a:p>
          <a:p>
            <a:pPr marL="0" indent="0" algn="ctr">
              <a:buNone/>
            </a:pPr>
            <a:r>
              <a:rPr lang="en-US" sz="1500" b="1" dirty="0">
                <a:solidFill>
                  <a:srgbClr val="10B981"/>
                </a:solidFill>
              </a:rPr>
              <a:t>filtro, protocolo, resposta local</a:t>
            </a:r>
            <a:endParaRPr lang="en-US" sz="1500" dirty="0"/>
          </a:p>
        </p:txBody>
      </p:sp>
      <p:sp>
        <p:nvSpPr>
          <p:cNvPr id="11" name="Text 9"/>
          <p:cNvSpPr/>
          <p:nvPr/>
        </p:nvSpPr>
        <p:spPr>
          <a:xfrm>
            <a:off x="7543800" y="3575304"/>
            <a:ext cx="4069080" cy="530352"/>
          </a:xfrm>
          <a:prstGeom prst="roundRect">
            <a:avLst>
              <a:gd name="adj" fmla="val 20690"/>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Comunicação</a:t>
            </a:r>
            <a:endParaRPr lang="en-US" sz="1500" dirty="0"/>
          </a:p>
          <a:p>
            <a:pPr marL="0" indent="0" algn="ctr">
              <a:buNone/>
            </a:pPr>
            <a:r>
              <a:rPr lang="en-US" sz="1500" b="1" dirty="0">
                <a:solidFill>
                  <a:srgbClr val="F97316"/>
                </a:solidFill>
              </a:rPr>
              <a:t>Wi-Fi, Ethernet, 4G/5G, LPWAN</a:t>
            </a:r>
            <a:endParaRPr lang="en-US" sz="1500" dirty="0"/>
          </a:p>
        </p:txBody>
      </p:sp>
      <p:sp>
        <p:nvSpPr>
          <p:cNvPr id="12" name="Text 10"/>
          <p:cNvSpPr/>
          <p:nvPr/>
        </p:nvSpPr>
        <p:spPr>
          <a:xfrm>
            <a:off x="7543800" y="4325112"/>
            <a:ext cx="4069080" cy="530352"/>
          </a:xfrm>
          <a:prstGeom prst="roundRect">
            <a:avLst>
              <a:gd name="adj" fmla="val 2069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Dispositivos</a:t>
            </a:r>
            <a:endParaRPr lang="en-US" sz="1500" dirty="0"/>
          </a:p>
          <a:p>
            <a:pPr marL="0" indent="0" algn="ctr">
              <a:buNone/>
            </a:pPr>
            <a:r>
              <a:rPr lang="en-US" sz="1500" b="1" dirty="0">
                <a:solidFill>
                  <a:srgbClr val="0284C7"/>
                </a:solidFill>
              </a:rPr>
              <a:t>sensores, atuadores, firmware</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AWS IoT Greengrass</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Estudo de caso: manutenção preditiva</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Ambiente industrial</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Sensores medem vibração e temperatura de motores.</a:t>
            </a:r>
            <a:endParaRPr lang="en-US" sz="2400" dirty="0"/>
          </a:p>
          <a:p>
            <a:pPr marL="0" indent="0">
              <a:buNone/>
            </a:pPr>
            <a:endParaRPr lang="en-US" sz="2400" dirty="0"/>
          </a:p>
          <a:p>
            <a:pPr marL="0" indent="0">
              <a:buNone/>
            </a:pPr>
            <a:r>
              <a:rPr lang="en-US" sz="2400" dirty="0">
                <a:solidFill>
                  <a:srgbClr val="172033"/>
                </a:solidFill>
              </a:rPr>
              <a:t>• Gateway industrial coleta dados de várias máquinas.</a:t>
            </a:r>
            <a:endParaRPr lang="en-US" sz="2400" dirty="0"/>
          </a:p>
          <a:p>
            <a:pPr marL="0" indent="0">
              <a:buNone/>
            </a:pPr>
            <a:endParaRPr lang="en-US" sz="2400" dirty="0"/>
          </a:p>
          <a:p>
            <a:pPr marL="0" indent="0">
              <a:buNone/>
            </a:pPr>
            <a:r>
              <a:rPr lang="en-US" sz="2400" dirty="0">
                <a:solidFill>
                  <a:srgbClr val="172033"/>
                </a:solidFill>
              </a:rPr>
              <a:t>• Borda detecta anomalias simples em tempo real.</a:t>
            </a:r>
            <a:endParaRPr lang="en-US" sz="2400" dirty="0"/>
          </a:p>
          <a:p>
            <a:pPr marL="0" indent="0">
              <a:buNone/>
            </a:pPr>
            <a:endParaRPr lang="en-US" sz="2400" dirty="0"/>
          </a:p>
          <a:p>
            <a:pPr marL="0" indent="0">
              <a:buNone/>
            </a:pPr>
            <a:r>
              <a:rPr lang="en-US" sz="2400" dirty="0">
                <a:solidFill>
                  <a:srgbClr val="172033"/>
                </a:solidFill>
              </a:rPr>
              <a:t>• Nuvem analisa histórico e gera ordens de manutenção.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Exemplo aplicado</a:t>
            </a:r>
            <a:endParaRPr lang="en-US" sz="1400" dirty="0"/>
          </a:p>
        </p:txBody>
      </p:sp>
      <p:sp>
        <p:nvSpPr>
          <p:cNvPr id="8" name="Text 6"/>
          <p:cNvSpPr/>
          <p:nvPr/>
        </p:nvSpPr>
        <p:spPr>
          <a:xfrm>
            <a:off x="7635240" y="1463040"/>
            <a:ext cx="3886200" cy="548640"/>
          </a:xfrm>
          <a:prstGeom prst="roundRect">
            <a:avLst>
              <a:gd name="adj" fmla="val 2000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Máquina</a:t>
            </a:r>
            <a:endParaRPr lang="en-US" sz="1500" dirty="0"/>
          </a:p>
          <a:p>
            <a:pPr marL="0" indent="0" algn="ctr">
              <a:buNone/>
            </a:pPr>
            <a:r>
              <a:rPr lang="en-US" sz="1500" b="1" dirty="0">
                <a:solidFill>
                  <a:srgbClr val="0284C7"/>
                </a:solidFill>
              </a:rPr>
              <a:t>mede vibração</a:t>
            </a:r>
            <a:endParaRPr lang="en-US" sz="1500" dirty="0"/>
          </a:p>
        </p:txBody>
      </p:sp>
      <p:sp>
        <p:nvSpPr>
          <p:cNvPr id="9" name="Text 7"/>
          <p:cNvSpPr/>
          <p:nvPr/>
        </p:nvSpPr>
        <p:spPr>
          <a:xfrm>
            <a:off x="7635240" y="2423160"/>
            <a:ext cx="3886200" cy="548640"/>
          </a:xfrm>
          <a:prstGeom prst="roundRect">
            <a:avLst>
              <a:gd name="adj" fmla="val 2000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a:t>
            </a:r>
            <a:endParaRPr lang="en-US" sz="1500" dirty="0"/>
          </a:p>
          <a:p>
            <a:pPr marL="0" indent="0" algn="ctr">
              <a:buNone/>
            </a:pPr>
            <a:r>
              <a:rPr lang="en-US" sz="1500" b="1" dirty="0">
                <a:solidFill>
                  <a:srgbClr val="10B981"/>
                </a:solidFill>
              </a:rPr>
              <a:t>filtra ruído</a:t>
            </a:r>
            <a:endParaRPr lang="en-US" sz="1500" dirty="0"/>
          </a:p>
        </p:txBody>
      </p:sp>
      <p:sp>
        <p:nvSpPr>
          <p:cNvPr id="10" name="Text 8"/>
          <p:cNvSpPr/>
          <p:nvPr/>
        </p:nvSpPr>
        <p:spPr>
          <a:xfrm>
            <a:off x="7635240" y="3383280"/>
            <a:ext cx="3886200" cy="548640"/>
          </a:xfrm>
          <a:prstGeom prst="roundRect">
            <a:avLst>
              <a:gd name="adj" fmla="val 2000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analisa tendência</a:t>
            </a:r>
            <a:endParaRPr lang="en-US" sz="1500" dirty="0"/>
          </a:p>
        </p:txBody>
      </p:sp>
      <p:sp>
        <p:nvSpPr>
          <p:cNvPr id="11" name="Text 9"/>
          <p:cNvSpPr/>
          <p:nvPr/>
        </p:nvSpPr>
        <p:spPr>
          <a:xfrm>
            <a:off x="7635240" y="4343400"/>
            <a:ext cx="3886200" cy="548640"/>
          </a:xfrm>
          <a:prstGeom prst="roundRect">
            <a:avLst>
              <a:gd name="adj" fmla="val 20000"/>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Aplicação</a:t>
            </a:r>
            <a:endParaRPr lang="en-US" sz="1500" dirty="0"/>
          </a:p>
          <a:p>
            <a:pPr marL="0" indent="0" algn="ctr">
              <a:buNone/>
            </a:pPr>
            <a:r>
              <a:rPr lang="en-US" sz="1500" b="1" dirty="0">
                <a:solidFill>
                  <a:srgbClr val="F97316"/>
                </a:solidFill>
              </a:rPr>
              <a:t>abre alerta</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AWS Well-Architected — IoT Edge</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Estudo de caso: campus inteligente</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Ambiente acadêmico</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Sensores monitoram ocupação, temperatura e consumo de energia.</a:t>
            </a:r>
            <a:endParaRPr lang="en-US" sz="2400" dirty="0"/>
          </a:p>
          <a:p>
            <a:pPr marL="0" indent="0">
              <a:buNone/>
            </a:pPr>
            <a:endParaRPr lang="en-US" sz="2400" dirty="0"/>
          </a:p>
          <a:p>
            <a:pPr marL="0" indent="0">
              <a:buNone/>
            </a:pPr>
            <a:r>
              <a:rPr lang="en-US" sz="2400" dirty="0">
                <a:solidFill>
                  <a:srgbClr val="172033"/>
                </a:solidFill>
              </a:rPr>
              <a:t>• Gateways conectam salas e laboratórios.</a:t>
            </a:r>
            <a:endParaRPr lang="en-US" sz="2400" dirty="0"/>
          </a:p>
          <a:p>
            <a:pPr marL="0" indent="0">
              <a:buNone/>
            </a:pPr>
            <a:endParaRPr lang="en-US" sz="2400" dirty="0"/>
          </a:p>
          <a:p>
            <a:pPr marL="0" indent="0">
              <a:buNone/>
            </a:pPr>
            <a:r>
              <a:rPr lang="en-US" sz="2400" dirty="0">
                <a:solidFill>
                  <a:srgbClr val="172033"/>
                </a:solidFill>
              </a:rPr>
              <a:t>• Nuvem armazena histórico e integra dashboards.</a:t>
            </a:r>
            <a:endParaRPr lang="en-US" sz="2400" dirty="0"/>
          </a:p>
          <a:p>
            <a:pPr marL="0" indent="0">
              <a:buNone/>
            </a:pPr>
            <a:endParaRPr lang="en-US" sz="2400" dirty="0"/>
          </a:p>
          <a:p>
            <a:pPr marL="0" indent="0">
              <a:buNone/>
            </a:pPr>
            <a:r>
              <a:rPr lang="en-US" sz="2400" dirty="0">
                <a:solidFill>
                  <a:srgbClr val="172033"/>
                </a:solidFill>
              </a:rPr>
              <a:t>• Aplicações apoiam economia de energia e conforto.</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Fluxo geral de uma solução IoT</a:t>
            </a:r>
            <a:endParaRPr lang="en-US" sz="1400" dirty="0"/>
          </a:p>
        </p:txBody>
      </p:sp>
      <p:sp>
        <p:nvSpPr>
          <p:cNvPr id="8" name="Text 6"/>
          <p:cNvSpPr/>
          <p:nvPr/>
        </p:nvSpPr>
        <p:spPr>
          <a:xfrm>
            <a:off x="7543800" y="1417320"/>
            <a:ext cx="4069080" cy="594360"/>
          </a:xfrm>
          <a:prstGeom prst="roundRect">
            <a:avLst>
              <a:gd name="adj" fmla="val 18462"/>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Dispositivo</a:t>
            </a:r>
            <a:endParaRPr lang="en-US" sz="1500" dirty="0"/>
          </a:p>
          <a:p>
            <a:pPr marL="0" indent="0" algn="ctr">
              <a:buNone/>
            </a:pPr>
            <a:r>
              <a:rPr lang="en-US" sz="1500" b="1" dirty="0">
                <a:solidFill>
                  <a:srgbClr val="0284C7"/>
                </a:solidFill>
              </a:rPr>
              <a:t>(sensor/atuador)</a:t>
            </a:r>
            <a:endParaRPr lang="en-US" sz="1500" dirty="0"/>
          </a:p>
        </p:txBody>
      </p:sp>
      <p:sp>
        <p:nvSpPr>
          <p:cNvPr id="9" name="Text 7"/>
          <p:cNvSpPr/>
          <p:nvPr/>
        </p:nvSpPr>
        <p:spPr>
          <a:xfrm>
            <a:off x="7543800" y="2240280"/>
            <a:ext cx="4069080" cy="594360"/>
          </a:xfrm>
          <a:prstGeom prst="roundRect">
            <a:avLst>
              <a:gd name="adj" fmla="val 18462"/>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Gateway</a:t>
            </a:r>
            <a:endParaRPr lang="en-US" sz="1500" dirty="0"/>
          </a:p>
          <a:p>
            <a:pPr marL="0" indent="0" algn="ctr">
              <a:buNone/>
            </a:pPr>
            <a:r>
              <a:rPr lang="en-US" sz="1500" b="1" dirty="0">
                <a:solidFill>
                  <a:srgbClr val="F97316"/>
                </a:solidFill>
              </a:rPr>
              <a:t>(concentra e traduz)</a:t>
            </a:r>
            <a:endParaRPr lang="en-US" sz="1500" dirty="0"/>
          </a:p>
        </p:txBody>
      </p:sp>
      <p:sp>
        <p:nvSpPr>
          <p:cNvPr id="10" name="Text 8"/>
          <p:cNvSpPr/>
          <p:nvPr/>
        </p:nvSpPr>
        <p:spPr>
          <a:xfrm>
            <a:off x="7543800" y="3063240"/>
            <a:ext cx="4069080" cy="594360"/>
          </a:xfrm>
          <a:prstGeom prst="roundRect">
            <a:avLst>
              <a:gd name="adj" fmla="val 18462"/>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 / Edge</a:t>
            </a:r>
            <a:endParaRPr lang="en-US" sz="1500" dirty="0"/>
          </a:p>
          <a:p>
            <a:pPr marL="0" indent="0" algn="ctr">
              <a:buNone/>
            </a:pPr>
            <a:r>
              <a:rPr lang="en-US" sz="1500" b="1" dirty="0">
                <a:solidFill>
                  <a:srgbClr val="10B981"/>
                </a:solidFill>
              </a:rPr>
              <a:t>(processa perto)</a:t>
            </a:r>
            <a:endParaRPr lang="en-US" sz="1500" dirty="0"/>
          </a:p>
        </p:txBody>
      </p:sp>
      <p:sp>
        <p:nvSpPr>
          <p:cNvPr id="11" name="Text 9"/>
          <p:cNvSpPr/>
          <p:nvPr/>
        </p:nvSpPr>
        <p:spPr>
          <a:xfrm>
            <a:off x="7543800" y="3886200"/>
            <a:ext cx="4069080" cy="594360"/>
          </a:xfrm>
          <a:prstGeom prst="roundRect">
            <a:avLst>
              <a:gd name="adj" fmla="val 18462"/>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(escala e armazena)</a:t>
            </a:r>
            <a:endParaRPr lang="en-US" sz="1500" dirty="0"/>
          </a:p>
        </p:txBody>
      </p:sp>
      <p:sp>
        <p:nvSpPr>
          <p:cNvPr id="12" name="Text 10"/>
          <p:cNvSpPr/>
          <p:nvPr/>
        </p:nvSpPr>
        <p:spPr>
          <a:xfrm>
            <a:off x="7543800" y="4709160"/>
            <a:ext cx="4069080" cy="594360"/>
          </a:xfrm>
          <a:prstGeom prst="roundRect">
            <a:avLst>
              <a:gd name="adj" fmla="val 18462"/>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Aplicações</a:t>
            </a:r>
            <a:endParaRPr lang="en-US" sz="1500" dirty="0"/>
          </a:p>
          <a:p>
            <a:pPr marL="0" indent="0" algn="ctr">
              <a:buNone/>
            </a:pPr>
            <a:r>
              <a:rPr lang="en-US" sz="1500" b="1" dirty="0">
                <a:solidFill>
                  <a:srgbClr val="CA8A04"/>
                </a:solidFill>
              </a:rPr>
              <a:t>(decisão e ação)</a:t>
            </a:r>
            <a:endParaRPr lang="en-US" sz="1500" dirty="0"/>
          </a:p>
        </p:txBody>
      </p:sp>
      <p:sp>
        <p:nvSpPr>
          <p:cNvPr id="13" name="Text 11">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Microsoft Learn — Azure IoT Hub</a:t>
            </a:r>
            <a:endParaRPr lang="en-US" sz="1150" dirty="0"/>
          </a:p>
        </p:txBody>
      </p:sp>
      <p:sp>
        <p:nvSpPr>
          <p:cNvPr id="14" name="Shape 12"/>
          <p:cNvSpPr/>
          <p:nvPr/>
        </p:nvSpPr>
        <p:spPr>
          <a:xfrm>
            <a:off x="502920" y="6327648"/>
            <a:ext cx="11201400" cy="0"/>
          </a:xfrm>
          <a:prstGeom prst="line">
            <a:avLst/>
          </a:prstGeom>
          <a:noFill/>
          <a:ln w="12700">
            <a:solidFill>
              <a:srgbClr val="E2E8F0"/>
            </a:solidFill>
            <a:prstDash val="solid"/>
          </a:ln>
        </p:spPr>
      </p:sp>
      <p:sp>
        <p:nvSpPr>
          <p:cNvPr id="15" name="Text 13"/>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Critérios de decisão arquitetural</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Como escolher o desenho certo</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Latência: quão rápida precisa ser a resposta?</a:t>
            </a:r>
            <a:endParaRPr lang="en-US" sz="2400" dirty="0"/>
          </a:p>
          <a:p>
            <a:pPr marL="0" indent="0">
              <a:buNone/>
            </a:pPr>
            <a:endParaRPr lang="en-US" sz="2400" dirty="0"/>
          </a:p>
          <a:p>
            <a:pPr marL="0" indent="0">
              <a:buNone/>
            </a:pPr>
            <a:r>
              <a:rPr lang="en-US" sz="2400" dirty="0">
                <a:solidFill>
                  <a:srgbClr val="172033"/>
                </a:solidFill>
              </a:rPr>
              <a:t>• Confiabilidade: o sistema deve funcionar sem internet?</a:t>
            </a:r>
            <a:endParaRPr lang="en-US" sz="2400" dirty="0"/>
          </a:p>
          <a:p>
            <a:pPr marL="0" indent="0">
              <a:buNone/>
            </a:pPr>
            <a:endParaRPr lang="en-US" sz="2400" dirty="0"/>
          </a:p>
          <a:p>
            <a:pPr marL="0" indent="0">
              <a:buNone/>
            </a:pPr>
            <a:r>
              <a:rPr lang="en-US" sz="2400" dirty="0">
                <a:solidFill>
                  <a:srgbClr val="172033"/>
                </a:solidFill>
              </a:rPr>
              <a:t>• Energia: o dispositivo usa bateria?</a:t>
            </a:r>
            <a:endParaRPr lang="en-US" sz="2400" dirty="0"/>
          </a:p>
          <a:p>
            <a:pPr marL="0" indent="0">
              <a:buNone/>
            </a:pPr>
            <a:endParaRPr lang="en-US" sz="2400" dirty="0"/>
          </a:p>
          <a:p>
            <a:pPr marL="0" indent="0">
              <a:buNone/>
            </a:pPr>
            <a:r>
              <a:rPr lang="en-US" sz="2400" dirty="0">
                <a:solidFill>
                  <a:srgbClr val="172033"/>
                </a:solidFill>
              </a:rPr>
              <a:t>• Segurança: quais dados e comandos são sensíveis?</a:t>
            </a:r>
            <a:endParaRPr lang="en-US" sz="2400" dirty="0"/>
          </a:p>
          <a:p>
            <a:pPr marL="0" indent="0">
              <a:buNone/>
            </a:pPr>
            <a:endParaRPr lang="en-US" sz="2400" dirty="0"/>
          </a:p>
          <a:p>
            <a:pPr marL="0" indent="0">
              <a:buNone/>
            </a:pPr>
            <a:r>
              <a:rPr lang="en-US" sz="2400" dirty="0">
                <a:solidFill>
                  <a:srgbClr val="172033"/>
                </a:solidFill>
              </a:rPr>
              <a:t>• Custo: quanto tráfego e armazenamento serão gerados?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Escolha arquitetural</a:t>
            </a:r>
            <a:endParaRPr lang="en-US" sz="1400" dirty="0"/>
          </a:p>
        </p:txBody>
      </p:sp>
      <p:sp>
        <p:nvSpPr>
          <p:cNvPr id="8" name="Text 6"/>
          <p:cNvSpPr/>
          <p:nvPr/>
        </p:nvSpPr>
        <p:spPr>
          <a:xfrm>
            <a:off x="7635240" y="1463040"/>
            <a:ext cx="3886200" cy="594360"/>
          </a:xfrm>
          <a:prstGeom prst="roundRect">
            <a:avLst>
              <a:gd name="adj" fmla="val 18462"/>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Precisa de resposta &lt; 1s?</a:t>
            </a:r>
            <a:endParaRPr lang="en-US" sz="1500" dirty="0"/>
          </a:p>
        </p:txBody>
      </p:sp>
      <p:sp>
        <p:nvSpPr>
          <p:cNvPr id="9" name="Text 7"/>
          <p:cNvSpPr/>
          <p:nvPr/>
        </p:nvSpPr>
        <p:spPr>
          <a:xfrm>
            <a:off x="7589520" y="2926080"/>
            <a:ext cx="1874520" cy="685800"/>
          </a:xfrm>
          <a:prstGeom prst="roundRect">
            <a:avLst>
              <a:gd name="adj" fmla="val 1600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Sim:</a:t>
            </a:r>
            <a:endParaRPr lang="en-US" sz="1500" dirty="0"/>
          </a:p>
          <a:p>
            <a:pPr marL="0" indent="0" algn="ctr">
              <a:buNone/>
            </a:pPr>
            <a:r>
              <a:rPr lang="en-US" sz="1500" b="1" dirty="0">
                <a:solidFill>
                  <a:srgbClr val="10B981"/>
                </a:solidFill>
              </a:rPr>
              <a:t>processar na borda</a:t>
            </a:r>
            <a:endParaRPr lang="en-US" sz="1500" dirty="0"/>
          </a:p>
        </p:txBody>
      </p:sp>
      <p:sp>
        <p:nvSpPr>
          <p:cNvPr id="10" name="Text 8"/>
          <p:cNvSpPr/>
          <p:nvPr/>
        </p:nvSpPr>
        <p:spPr>
          <a:xfrm>
            <a:off x="9921240" y="2926080"/>
            <a:ext cx="1874520" cy="685800"/>
          </a:xfrm>
          <a:prstGeom prst="roundRect">
            <a:avLst>
              <a:gd name="adj" fmla="val 1600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Não:</a:t>
            </a:r>
            <a:endParaRPr lang="en-US" sz="1500" dirty="0"/>
          </a:p>
          <a:p>
            <a:pPr marL="0" indent="0" algn="ctr">
              <a:buNone/>
            </a:pPr>
            <a:r>
              <a:rPr lang="en-US" sz="1500" b="1" dirty="0">
                <a:solidFill>
                  <a:srgbClr val="7C3AED"/>
                </a:solidFill>
              </a:rPr>
              <a:t>enviar à nuvem</a:t>
            </a:r>
            <a:endParaRPr lang="en-US" sz="1500" dirty="0"/>
          </a:p>
        </p:txBody>
      </p:sp>
      <p:sp>
        <p:nvSpPr>
          <p:cNvPr id="11" name="Text 9"/>
          <p:cNvSpPr/>
          <p:nvPr/>
        </p:nvSpPr>
        <p:spPr>
          <a:xfrm>
            <a:off x="7635240" y="4206240"/>
            <a:ext cx="3886200" cy="731520"/>
          </a:xfrm>
          <a:prstGeom prst="roundRect">
            <a:avLst>
              <a:gd name="adj" fmla="val 1500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Combine quando houver custo, privacidade ou instabilidade de rede.</a:t>
            </a:r>
            <a:endParaRPr lang="en-US" sz="1500" dirty="0"/>
          </a:p>
        </p:txBody>
      </p:sp>
      <p:sp>
        <p:nvSpPr>
          <p:cNvPr id="12" name="Shape 10"/>
          <p:cNvSpPr/>
          <p:nvPr/>
        </p:nvSpPr>
        <p:spPr>
          <a:xfrm>
            <a:off x="502920" y="6327648"/>
            <a:ext cx="11201400" cy="0"/>
          </a:xfrm>
          <a:prstGeom prst="line">
            <a:avLst/>
          </a:prstGeom>
          <a:noFill/>
          <a:ln w="12700">
            <a:solidFill>
              <a:srgbClr val="E2E8F0"/>
            </a:solidFill>
            <a:prstDash val="solid"/>
          </a:ln>
        </p:spPr>
      </p:sp>
      <p:sp>
        <p:nvSpPr>
          <p:cNvPr id="13" name="Text 11"/>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Passos para projetar uma solução IoT</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Método prático</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1. Definir objetivo e dado necessário.</a:t>
            </a:r>
            <a:endParaRPr lang="en-US" sz="2400" dirty="0"/>
          </a:p>
          <a:p>
            <a:pPr marL="0" indent="0">
              <a:buNone/>
            </a:pPr>
            <a:endParaRPr lang="en-US" sz="2400" dirty="0"/>
          </a:p>
          <a:p>
            <a:pPr marL="0" indent="0">
              <a:buNone/>
            </a:pPr>
            <a:r>
              <a:rPr lang="en-US" sz="2400" dirty="0">
                <a:solidFill>
                  <a:srgbClr val="172033"/>
                </a:solidFill>
              </a:rPr>
              <a:t>• 2. Escolher sensor, conectividade e protocolo.</a:t>
            </a:r>
            <a:endParaRPr lang="en-US" sz="2400" dirty="0"/>
          </a:p>
          <a:p>
            <a:pPr marL="0" indent="0">
              <a:buNone/>
            </a:pPr>
            <a:endParaRPr lang="en-US" sz="2400" dirty="0"/>
          </a:p>
          <a:p>
            <a:pPr marL="0" indent="0">
              <a:buNone/>
            </a:pPr>
            <a:r>
              <a:rPr lang="en-US" sz="2400" dirty="0">
                <a:solidFill>
                  <a:srgbClr val="172033"/>
                </a:solidFill>
              </a:rPr>
              <a:t>• 3. Decidir gateway, borda e nuvem.</a:t>
            </a:r>
            <a:endParaRPr lang="en-US" sz="2400" dirty="0"/>
          </a:p>
          <a:p>
            <a:pPr marL="0" indent="0">
              <a:buNone/>
            </a:pPr>
            <a:endParaRPr lang="en-US" sz="2400" dirty="0"/>
          </a:p>
          <a:p>
            <a:pPr marL="0" indent="0">
              <a:buNone/>
            </a:pPr>
            <a:r>
              <a:rPr lang="en-US" sz="2400" dirty="0">
                <a:solidFill>
                  <a:srgbClr val="172033"/>
                </a:solidFill>
              </a:rPr>
              <a:t>• 4. Definir segurança, atualização e observabilidade.</a:t>
            </a:r>
            <a:endParaRPr lang="en-US" sz="2400" dirty="0"/>
          </a:p>
          <a:p>
            <a:pPr marL="0" indent="0">
              <a:buNone/>
            </a:pPr>
            <a:endParaRPr lang="en-US" sz="2400" dirty="0"/>
          </a:p>
          <a:p>
            <a:pPr marL="0" indent="0">
              <a:buNone/>
            </a:pPr>
            <a:r>
              <a:rPr lang="en-US" sz="2400" dirty="0">
                <a:solidFill>
                  <a:srgbClr val="172033"/>
                </a:solidFill>
              </a:rPr>
              <a:t>• 5. Validar com protótipo e métricas.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Arquitetura em camadas</a:t>
            </a:r>
            <a:endParaRPr lang="en-US" sz="1400" dirty="0"/>
          </a:p>
        </p:txBody>
      </p:sp>
      <p:sp>
        <p:nvSpPr>
          <p:cNvPr id="8" name="Text 6"/>
          <p:cNvSpPr/>
          <p:nvPr/>
        </p:nvSpPr>
        <p:spPr>
          <a:xfrm>
            <a:off x="7543800" y="1325880"/>
            <a:ext cx="4069080" cy="530352"/>
          </a:xfrm>
          <a:prstGeom prst="roundRect">
            <a:avLst>
              <a:gd name="adj" fmla="val 20690"/>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Aplicação</a:t>
            </a:r>
            <a:endParaRPr lang="en-US" sz="1500" dirty="0"/>
          </a:p>
          <a:p>
            <a:pPr marL="0" indent="0" algn="ctr">
              <a:buNone/>
            </a:pPr>
            <a:r>
              <a:rPr lang="en-US" sz="1500" b="1" dirty="0">
                <a:solidFill>
                  <a:srgbClr val="CA8A04"/>
                </a:solidFill>
              </a:rPr>
              <a:t>dashboards, alertas, APIs</a:t>
            </a:r>
            <a:endParaRPr lang="en-US" sz="1500" dirty="0"/>
          </a:p>
        </p:txBody>
      </p:sp>
      <p:sp>
        <p:nvSpPr>
          <p:cNvPr id="9" name="Text 7"/>
          <p:cNvSpPr/>
          <p:nvPr/>
        </p:nvSpPr>
        <p:spPr>
          <a:xfrm>
            <a:off x="7543800" y="2075688"/>
            <a:ext cx="4069080" cy="530352"/>
          </a:xfrm>
          <a:prstGeom prst="roundRect">
            <a:avLst>
              <a:gd name="adj" fmla="val 2069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ingestão, banco, análise</a:t>
            </a:r>
            <a:endParaRPr lang="en-US" sz="1500" dirty="0"/>
          </a:p>
        </p:txBody>
      </p:sp>
      <p:sp>
        <p:nvSpPr>
          <p:cNvPr id="10" name="Text 8"/>
          <p:cNvSpPr/>
          <p:nvPr/>
        </p:nvSpPr>
        <p:spPr>
          <a:xfrm>
            <a:off x="7543800" y="2825496"/>
            <a:ext cx="4069080" cy="530352"/>
          </a:xfrm>
          <a:prstGeom prst="roundRect">
            <a:avLst>
              <a:gd name="adj" fmla="val 2069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Borda/Gateway</a:t>
            </a:r>
            <a:endParaRPr lang="en-US" sz="1500" dirty="0"/>
          </a:p>
          <a:p>
            <a:pPr marL="0" indent="0" algn="ctr">
              <a:buNone/>
            </a:pPr>
            <a:r>
              <a:rPr lang="en-US" sz="1500" b="1" dirty="0">
                <a:solidFill>
                  <a:srgbClr val="10B981"/>
                </a:solidFill>
              </a:rPr>
              <a:t>filtro, protocolo, resposta local</a:t>
            </a:r>
            <a:endParaRPr lang="en-US" sz="1500" dirty="0"/>
          </a:p>
        </p:txBody>
      </p:sp>
      <p:sp>
        <p:nvSpPr>
          <p:cNvPr id="11" name="Text 9"/>
          <p:cNvSpPr/>
          <p:nvPr/>
        </p:nvSpPr>
        <p:spPr>
          <a:xfrm>
            <a:off x="7543800" y="3575304"/>
            <a:ext cx="4069080" cy="530352"/>
          </a:xfrm>
          <a:prstGeom prst="roundRect">
            <a:avLst>
              <a:gd name="adj" fmla="val 20690"/>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Comunicação</a:t>
            </a:r>
            <a:endParaRPr lang="en-US" sz="1500" dirty="0"/>
          </a:p>
          <a:p>
            <a:pPr marL="0" indent="0" algn="ctr">
              <a:buNone/>
            </a:pPr>
            <a:r>
              <a:rPr lang="en-US" sz="1500" b="1" dirty="0">
                <a:solidFill>
                  <a:srgbClr val="F97316"/>
                </a:solidFill>
              </a:rPr>
              <a:t>Wi-Fi, Ethernet, 4G/5G, LPWAN</a:t>
            </a:r>
            <a:endParaRPr lang="en-US" sz="1500" dirty="0"/>
          </a:p>
        </p:txBody>
      </p:sp>
      <p:sp>
        <p:nvSpPr>
          <p:cNvPr id="12" name="Text 10"/>
          <p:cNvSpPr/>
          <p:nvPr/>
        </p:nvSpPr>
        <p:spPr>
          <a:xfrm>
            <a:off x="7543800" y="4325112"/>
            <a:ext cx="4069080" cy="530352"/>
          </a:xfrm>
          <a:prstGeom prst="roundRect">
            <a:avLst>
              <a:gd name="adj" fmla="val 2069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Dispositivos</a:t>
            </a:r>
            <a:endParaRPr lang="en-US" sz="1500" dirty="0"/>
          </a:p>
          <a:p>
            <a:pPr marL="0" indent="0" algn="ctr">
              <a:buNone/>
            </a:pPr>
            <a:r>
              <a:rPr lang="en-US" sz="1500" b="1" dirty="0">
                <a:solidFill>
                  <a:srgbClr val="0284C7"/>
                </a:solidFill>
              </a:rPr>
              <a:t>sensores, atuadores, firmware</a:t>
            </a:r>
            <a:endParaRPr lang="en-US" sz="150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Atividade prática</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Desenho de arquitetura IoT</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Cenário: monitorar temperatura e presença em 10 salas.</a:t>
            </a:r>
            <a:endParaRPr lang="en-US" sz="2400" dirty="0"/>
          </a:p>
          <a:p>
            <a:pPr marL="0" indent="0">
              <a:buNone/>
            </a:pPr>
            <a:endParaRPr lang="en-US" sz="2400" dirty="0"/>
          </a:p>
          <a:p>
            <a:pPr marL="0" indent="0">
              <a:buNone/>
            </a:pPr>
            <a:r>
              <a:rPr lang="en-US" sz="2400" dirty="0">
                <a:solidFill>
                  <a:srgbClr val="172033"/>
                </a:solidFill>
              </a:rPr>
              <a:t>• Objetivo: economizar energia sem perder conforto.</a:t>
            </a:r>
            <a:endParaRPr lang="en-US" sz="2400" dirty="0"/>
          </a:p>
          <a:p>
            <a:pPr marL="0" indent="0">
              <a:buNone/>
            </a:pPr>
            <a:endParaRPr lang="en-US" sz="2400" dirty="0"/>
          </a:p>
          <a:p>
            <a:pPr marL="0" indent="0">
              <a:buNone/>
            </a:pPr>
            <a:r>
              <a:rPr lang="en-US" sz="2400" dirty="0">
                <a:solidFill>
                  <a:srgbClr val="172033"/>
                </a:solidFill>
              </a:rPr>
              <a:t>• Entrega: fluxo dispositivo → gateway/borda → nuvem → aplicação.</a:t>
            </a:r>
            <a:endParaRPr lang="en-US" sz="2400" dirty="0"/>
          </a:p>
          <a:p>
            <a:pPr marL="0" indent="0">
              <a:buNone/>
            </a:pPr>
            <a:endParaRPr lang="en-US" sz="2400" dirty="0"/>
          </a:p>
          <a:p>
            <a:pPr marL="0" indent="0">
              <a:buNone/>
            </a:pPr>
            <a:r>
              <a:rPr lang="en-US" sz="2400" dirty="0">
                <a:solidFill>
                  <a:srgbClr val="172033"/>
                </a:solidFill>
              </a:rPr>
              <a:t>• Inclua: protocolo, dado enviado, segurança e alerta.</a:t>
            </a:r>
            <a:endParaRPr lang="en-US" sz="2400" dirty="0"/>
          </a:p>
          <a:p>
            <a:pPr marL="0" indent="0">
              <a:buNone/>
            </a:pPr>
            <a:endParaRPr lang="en-US" sz="2400" dirty="0"/>
          </a:p>
          <a:p>
            <a:pPr marL="0" indent="0">
              <a:buNone/>
            </a:pPr>
            <a:r>
              <a:rPr lang="en-US" sz="2400" dirty="0">
                <a:solidFill>
                  <a:srgbClr val="172033"/>
                </a:solidFill>
              </a:rPr>
              <a:t>• Tempo sugerido: 10 a 12 minutos em duplas.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Atividade de arquitetura</a:t>
            </a:r>
            <a:endParaRPr lang="en-US" sz="1400" dirty="0"/>
          </a:p>
        </p:txBody>
      </p:sp>
      <p:sp>
        <p:nvSpPr>
          <p:cNvPr id="8" name="Text 6"/>
          <p:cNvSpPr/>
          <p:nvPr/>
        </p:nvSpPr>
        <p:spPr>
          <a:xfrm>
            <a:off x="7635240" y="1417320"/>
            <a:ext cx="3886200" cy="603504"/>
          </a:xfrm>
          <a:prstGeom prst="roundRect">
            <a:avLst>
              <a:gd name="adj" fmla="val 18182"/>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Cenário:</a:t>
            </a:r>
            <a:endParaRPr lang="en-US" sz="1500" dirty="0"/>
          </a:p>
          <a:p>
            <a:pPr marL="0" indent="0" algn="ctr">
              <a:buNone/>
            </a:pPr>
            <a:r>
              <a:rPr lang="en-US" sz="1500" b="1" dirty="0">
                <a:solidFill>
                  <a:srgbClr val="0284C7"/>
                </a:solidFill>
              </a:rPr>
              <a:t>sensores de sala</a:t>
            </a:r>
            <a:endParaRPr lang="en-US" sz="1500" dirty="0"/>
          </a:p>
        </p:txBody>
      </p:sp>
      <p:sp>
        <p:nvSpPr>
          <p:cNvPr id="9" name="Text 7"/>
          <p:cNvSpPr/>
          <p:nvPr/>
        </p:nvSpPr>
        <p:spPr>
          <a:xfrm>
            <a:off x="7635240" y="2331720"/>
            <a:ext cx="3886200" cy="603504"/>
          </a:xfrm>
          <a:prstGeom prst="roundRect">
            <a:avLst>
              <a:gd name="adj" fmla="val 18182"/>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Decida:</a:t>
            </a:r>
            <a:endParaRPr lang="en-US" sz="1500" dirty="0"/>
          </a:p>
          <a:p>
            <a:pPr marL="0" indent="0" algn="ctr">
              <a:buNone/>
            </a:pPr>
            <a:r>
              <a:rPr lang="en-US" sz="1500" b="1" dirty="0">
                <a:solidFill>
                  <a:srgbClr val="F97316"/>
                </a:solidFill>
              </a:rPr>
              <a:t>Gateway? Borda? Nuvem?</a:t>
            </a:r>
            <a:endParaRPr lang="en-US" sz="1500" dirty="0"/>
          </a:p>
        </p:txBody>
      </p:sp>
      <p:sp>
        <p:nvSpPr>
          <p:cNvPr id="10" name="Text 8"/>
          <p:cNvSpPr/>
          <p:nvPr/>
        </p:nvSpPr>
        <p:spPr>
          <a:xfrm>
            <a:off x="7635240" y="3246120"/>
            <a:ext cx="3886200" cy="603504"/>
          </a:xfrm>
          <a:prstGeom prst="roundRect">
            <a:avLst>
              <a:gd name="adj" fmla="val 18182"/>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Justifique:</a:t>
            </a:r>
            <a:endParaRPr lang="en-US" sz="1500" dirty="0"/>
          </a:p>
          <a:p>
            <a:pPr marL="0" indent="0" algn="ctr">
              <a:buNone/>
            </a:pPr>
            <a:r>
              <a:rPr lang="en-US" sz="1500" b="1" dirty="0">
                <a:solidFill>
                  <a:srgbClr val="10B981"/>
                </a:solidFill>
              </a:rPr>
              <a:t>protocolo + segurança</a:t>
            </a:r>
            <a:endParaRPr lang="en-US" sz="1500" dirty="0"/>
          </a:p>
        </p:txBody>
      </p:sp>
      <p:sp>
        <p:nvSpPr>
          <p:cNvPr id="11" name="Text 9"/>
          <p:cNvSpPr/>
          <p:nvPr/>
        </p:nvSpPr>
        <p:spPr>
          <a:xfrm>
            <a:off x="7635240" y="4160520"/>
            <a:ext cx="3886200" cy="603504"/>
          </a:xfrm>
          <a:prstGeom prst="roundRect">
            <a:avLst>
              <a:gd name="adj" fmla="val 18182"/>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Entregue:</a:t>
            </a:r>
            <a:endParaRPr lang="en-US" sz="1500" dirty="0"/>
          </a:p>
          <a:p>
            <a:pPr marL="0" indent="0" algn="ctr">
              <a:buNone/>
            </a:pPr>
            <a:r>
              <a:rPr lang="en-US" sz="1500" b="1" dirty="0">
                <a:solidFill>
                  <a:srgbClr val="7C3AED"/>
                </a:solidFill>
              </a:rPr>
              <a:t>fluxo em 5 etapas</a:t>
            </a:r>
            <a:endParaRPr lang="en-US" sz="1500" dirty="0"/>
          </a:p>
        </p:txBody>
      </p:sp>
      <p:sp>
        <p:nvSpPr>
          <p:cNvPr id="12" name="Shape 10"/>
          <p:cNvSpPr/>
          <p:nvPr/>
        </p:nvSpPr>
        <p:spPr>
          <a:xfrm>
            <a:off x="502920" y="6327648"/>
            <a:ext cx="11201400" cy="0"/>
          </a:xfrm>
          <a:prstGeom prst="line">
            <a:avLst/>
          </a:prstGeom>
          <a:noFill/>
          <a:ln w="12700">
            <a:solidFill>
              <a:srgbClr val="E2E8F0"/>
            </a:solidFill>
            <a:prstDash val="solid"/>
          </a:ln>
        </p:spPr>
      </p:sp>
      <p:sp>
        <p:nvSpPr>
          <p:cNvPr id="13" name="Text 11"/>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Gabarito comentado da atividade</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Uma solução possível</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Sensores de presença e temperatura em cada sala.</a:t>
            </a:r>
            <a:endParaRPr lang="en-US" sz="2400" dirty="0"/>
          </a:p>
          <a:p>
            <a:pPr marL="0" indent="0">
              <a:buNone/>
            </a:pPr>
            <a:endParaRPr lang="en-US" sz="2400" dirty="0"/>
          </a:p>
          <a:p>
            <a:pPr marL="0" indent="0">
              <a:buNone/>
            </a:pPr>
            <a:r>
              <a:rPr lang="en-US" sz="2400" dirty="0">
                <a:solidFill>
                  <a:srgbClr val="172033"/>
                </a:solidFill>
              </a:rPr>
              <a:t>• Gateway por bloco ou andar, com filtragem de leituras repetidas.</a:t>
            </a:r>
            <a:endParaRPr lang="en-US" sz="2400" dirty="0"/>
          </a:p>
          <a:p>
            <a:pPr marL="0" indent="0">
              <a:buNone/>
            </a:pPr>
            <a:endParaRPr lang="en-US" sz="2400" dirty="0"/>
          </a:p>
          <a:p>
            <a:pPr marL="0" indent="0">
              <a:buNone/>
            </a:pPr>
            <a:r>
              <a:rPr lang="en-US" sz="2400" dirty="0">
                <a:solidFill>
                  <a:srgbClr val="172033"/>
                </a:solidFill>
              </a:rPr>
              <a:t>• Borda aciona alerta local quando há temperatura fora do limite.</a:t>
            </a:r>
            <a:endParaRPr lang="en-US" sz="2400" dirty="0"/>
          </a:p>
          <a:p>
            <a:pPr marL="0" indent="0">
              <a:buNone/>
            </a:pPr>
            <a:endParaRPr lang="en-US" sz="2400" dirty="0"/>
          </a:p>
          <a:p>
            <a:pPr marL="0" indent="0">
              <a:buNone/>
            </a:pPr>
            <a:r>
              <a:rPr lang="en-US" sz="2400" dirty="0">
                <a:solidFill>
                  <a:srgbClr val="172033"/>
                </a:solidFill>
              </a:rPr>
              <a:t>• Nuvem armazena histórico e gera dashboard de consumo.</a:t>
            </a:r>
            <a:endParaRPr lang="en-US" sz="2400" dirty="0"/>
          </a:p>
          <a:p>
            <a:pPr marL="0" indent="0">
              <a:buNone/>
            </a:pPr>
            <a:endParaRPr lang="en-US" sz="2400" dirty="0"/>
          </a:p>
          <a:p>
            <a:pPr marL="0" indent="0">
              <a:buNone/>
            </a:pPr>
            <a:r>
              <a:rPr lang="en-US" sz="2400" dirty="0">
                <a:solidFill>
                  <a:srgbClr val="172033"/>
                </a:solidFill>
              </a:rPr>
              <a:t>• Segurança: identidade por dispositivo e comunicação criptografada.</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Exemplo aplicado</a:t>
            </a:r>
            <a:endParaRPr lang="en-US" sz="1400" dirty="0"/>
          </a:p>
        </p:txBody>
      </p:sp>
      <p:sp>
        <p:nvSpPr>
          <p:cNvPr id="8" name="Text 6"/>
          <p:cNvSpPr/>
          <p:nvPr/>
        </p:nvSpPr>
        <p:spPr>
          <a:xfrm>
            <a:off x="7635240" y="1463040"/>
            <a:ext cx="3886200" cy="548640"/>
          </a:xfrm>
          <a:prstGeom prst="roundRect">
            <a:avLst>
              <a:gd name="adj" fmla="val 20000"/>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Máquina</a:t>
            </a:r>
            <a:endParaRPr lang="en-US" sz="1500" dirty="0"/>
          </a:p>
          <a:p>
            <a:pPr marL="0" indent="0" algn="ctr">
              <a:buNone/>
            </a:pPr>
            <a:r>
              <a:rPr lang="en-US" sz="1500" b="1" dirty="0">
                <a:solidFill>
                  <a:srgbClr val="0284C7"/>
                </a:solidFill>
              </a:rPr>
              <a:t>mede vibração</a:t>
            </a:r>
            <a:endParaRPr lang="en-US" sz="1500" dirty="0"/>
          </a:p>
        </p:txBody>
      </p:sp>
      <p:sp>
        <p:nvSpPr>
          <p:cNvPr id="9" name="Text 7"/>
          <p:cNvSpPr/>
          <p:nvPr/>
        </p:nvSpPr>
        <p:spPr>
          <a:xfrm>
            <a:off x="7635240" y="2423160"/>
            <a:ext cx="3886200" cy="548640"/>
          </a:xfrm>
          <a:prstGeom prst="roundRect">
            <a:avLst>
              <a:gd name="adj" fmla="val 20000"/>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a:t>
            </a:r>
            <a:endParaRPr lang="en-US" sz="1500" dirty="0"/>
          </a:p>
          <a:p>
            <a:pPr marL="0" indent="0" algn="ctr">
              <a:buNone/>
            </a:pPr>
            <a:r>
              <a:rPr lang="en-US" sz="1500" b="1" dirty="0">
                <a:solidFill>
                  <a:srgbClr val="10B981"/>
                </a:solidFill>
              </a:rPr>
              <a:t>filtra ruído</a:t>
            </a:r>
            <a:endParaRPr lang="en-US" sz="1500" dirty="0"/>
          </a:p>
        </p:txBody>
      </p:sp>
      <p:sp>
        <p:nvSpPr>
          <p:cNvPr id="10" name="Text 8"/>
          <p:cNvSpPr/>
          <p:nvPr/>
        </p:nvSpPr>
        <p:spPr>
          <a:xfrm>
            <a:off x="7635240" y="3383280"/>
            <a:ext cx="3886200" cy="548640"/>
          </a:xfrm>
          <a:prstGeom prst="roundRect">
            <a:avLst>
              <a:gd name="adj" fmla="val 20000"/>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analisa tendência</a:t>
            </a:r>
            <a:endParaRPr lang="en-US" sz="1500" dirty="0"/>
          </a:p>
        </p:txBody>
      </p:sp>
      <p:sp>
        <p:nvSpPr>
          <p:cNvPr id="11" name="Text 9"/>
          <p:cNvSpPr/>
          <p:nvPr/>
        </p:nvSpPr>
        <p:spPr>
          <a:xfrm>
            <a:off x="7635240" y="4343400"/>
            <a:ext cx="3886200" cy="548640"/>
          </a:xfrm>
          <a:prstGeom prst="roundRect">
            <a:avLst>
              <a:gd name="adj" fmla="val 20000"/>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Aplicação</a:t>
            </a:r>
            <a:endParaRPr lang="en-US" sz="1500" dirty="0"/>
          </a:p>
          <a:p>
            <a:pPr marL="0" indent="0" algn="ctr">
              <a:buNone/>
            </a:pPr>
            <a:r>
              <a:rPr lang="en-US" sz="1500" b="1" dirty="0">
                <a:solidFill>
                  <a:srgbClr val="F97316"/>
                </a:solidFill>
              </a:rPr>
              <a:t>abre alerta</a:t>
            </a:r>
            <a:endParaRPr lang="en-US" sz="1500" dirty="0"/>
          </a:p>
        </p:txBody>
      </p:sp>
      <p:sp>
        <p:nvSpPr>
          <p:cNvPr id="12" name="Shape 10"/>
          <p:cNvSpPr/>
          <p:nvPr/>
        </p:nvSpPr>
        <p:spPr>
          <a:xfrm>
            <a:off x="502920" y="6327648"/>
            <a:ext cx="11201400" cy="0"/>
          </a:xfrm>
          <a:prstGeom prst="line">
            <a:avLst/>
          </a:prstGeom>
          <a:noFill/>
          <a:ln w="12700">
            <a:solidFill>
              <a:srgbClr val="E2E8F0"/>
            </a:solidFill>
            <a:prstDash val="solid"/>
          </a:ln>
        </p:spPr>
      </p:sp>
      <p:sp>
        <p:nvSpPr>
          <p:cNvPr id="13" name="Text 11"/>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Síntese da aula</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O que levar para o projeto</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Arquitetura IoT é uma cadeia de decisões técnicas.</a:t>
            </a:r>
            <a:endParaRPr lang="en-US" sz="2400" dirty="0"/>
          </a:p>
          <a:p>
            <a:pPr marL="0" indent="0">
              <a:buNone/>
            </a:pPr>
            <a:endParaRPr lang="en-US" sz="2400" dirty="0"/>
          </a:p>
          <a:p>
            <a:pPr marL="0" indent="0">
              <a:buNone/>
            </a:pPr>
            <a:r>
              <a:rPr lang="en-US" sz="2400" dirty="0">
                <a:solidFill>
                  <a:srgbClr val="172033"/>
                </a:solidFill>
              </a:rPr>
              <a:t>• Comunicação deve considerar energia, alcance, latência e confiabilidade.</a:t>
            </a:r>
            <a:endParaRPr lang="en-US" sz="2400" dirty="0"/>
          </a:p>
          <a:p>
            <a:pPr marL="0" indent="0">
              <a:buNone/>
            </a:pPr>
            <a:endParaRPr lang="en-US" sz="2400" dirty="0"/>
          </a:p>
          <a:p>
            <a:pPr marL="0" indent="0">
              <a:buNone/>
            </a:pPr>
            <a:r>
              <a:rPr lang="en-US" sz="2400" dirty="0">
                <a:solidFill>
                  <a:srgbClr val="172033"/>
                </a:solidFill>
              </a:rPr>
              <a:t>• Gateway, borda e nuvem têm responsabilidades diferentes.</a:t>
            </a:r>
            <a:endParaRPr lang="en-US" sz="2400" dirty="0"/>
          </a:p>
          <a:p>
            <a:pPr marL="0" indent="0">
              <a:buNone/>
            </a:pPr>
            <a:endParaRPr lang="en-US" sz="2400" dirty="0"/>
          </a:p>
          <a:p>
            <a:pPr marL="0" indent="0">
              <a:buNone/>
            </a:pPr>
            <a:r>
              <a:rPr lang="en-US" sz="2400" dirty="0">
                <a:solidFill>
                  <a:srgbClr val="172033"/>
                </a:solidFill>
              </a:rPr>
              <a:t>• Segurança, OTA e observabilidade fazem parte do projeto.</a:t>
            </a:r>
            <a:endParaRPr lang="en-US" sz="2400" dirty="0"/>
          </a:p>
          <a:p>
            <a:pPr marL="0" indent="0">
              <a:buNone/>
            </a:pPr>
            <a:endParaRPr lang="en-US" sz="2400" dirty="0"/>
          </a:p>
          <a:p>
            <a:pPr marL="0" indent="0">
              <a:buNone/>
            </a:pPr>
            <a:r>
              <a:rPr lang="en-US" sz="2400" dirty="0">
                <a:solidFill>
                  <a:srgbClr val="172033"/>
                </a:solidFill>
              </a:rPr>
              <a:t>• O valor aparece quando dados viram ações úteis.</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Fluxo geral de uma solução IoT</a:t>
            </a:r>
            <a:endParaRPr lang="en-US" sz="1400" dirty="0"/>
          </a:p>
        </p:txBody>
      </p:sp>
      <p:sp>
        <p:nvSpPr>
          <p:cNvPr id="8" name="Text 6"/>
          <p:cNvSpPr/>
          <p:nvPr/>
        </p:nvSpPr>
        <p:spPr>
          <a:xfrm>
            <a:off x="7543800" y="1417320"/>
            <a:ext cx="4069080" cy="594360"/>
          </a:xfrm>
          <a:prstGeom prst="roundRect">
            <a:avLst>
              <a:gd name="adj" fmla="val 18462"/>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Dispositivo</a:t>
            </a:r>
            <a:endParaRPr lang="en-US" sz="1500" dirty="0"/>
          </a:p>
          <a:p>
            <a:pPr marL="0" indent="0" algn="ctr">
              <a:buNone/>
            </a:pPr>
            <a:r>
              <a:rPr lang="en-US" sz="1500" b="1" dirty="0">
                <a:solidFill>
                  <a:srgbClr val="0284C7"/>
                </a:solidFill>
              </a:rPr>
              <a:t>(sensor/atuador)</a:t>
            </a:r>
            <a:endParaRPr lang="en-US" sz="1500" dirty="0"/>
          </a:p>
        </p:txBody>
      </p:sp>
      <p:sp>
        <p:nvSpPr>
          <p:cNvPr id="9" name="Text 7"/>
          <p:cNvSpPr/>
          <p:nvPr/>
        </p:nvSpPr>
        <p:spPr>
          <a:xfrm>
            <a:off x="7543800" y="2240280"/>
            <a:ext cx="4069080" cy="594360"/>
          </a:xfrm>
          <a:prstGeom prst="roundRect">
            <a:avLst>
              <a:gd name="adj" fmla="val 18462"/>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Gateway</a:t>
            </a:r>
            <a:endParaRPr lang="en-US" sz="1500" dirty="0"/>
          </a:p>
          <a:p>
            <a:pPr marL="0" indent="0" algn="ctr">
              <a:buNone/>
            </a:pPr>
            <a:r>
              <a:rPr lang="en-US" sz="1500" b="1" dirty="0">
                <a:solidFill>
                  <a:srgbClr val="F97316"/>
                </a:solidFill>
              </a:rPr>
              <a:t>(concentra e traduz)</a:t>
            </a:r>
            <a:endParaRPr lang="en-US" sz="1500" dirty="0"/>
          </a:p>
        </p:txBody>
      </p:sp>
      <p:sp>
        <p:nvSpPr>
          <p:cNvPr id="10" name="Text 8"/>
          <p:cNvSpPr/>
          <p:nvPr/>
        </p:nvSpPr>
        <p:spPr>
          <a:xfrm>
            <a:off x="7543800" y="3063240"/>
            <a:ext cx="4069080" cy="594360"/>
          </a:xfrm>
          <a:prstGeom prst="roundRect">
            <a:avLst>
              <a:gd name="adj" fmla="val 18462"/>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Borda / Edge</a:t>
            </a:r>
            <a:endParaRPr lang="en-US" sz="1500" dirty="0"/>
          </a:p>
          <a:p>
            <a:pPr marL="0" indent="0" algn="ctr">
              <a:buNone/>
            </a:pPr>
            <a:r>
              <a:rPr lang="en-US" sz="1500" b="1" dirty="0">
                <a:solidFill>
                  <a:srgbClr val="10B981"/>
                </a:solidFill>
              </a:rPr>
              <a:t>(processa perto)</a:t>
            </a:r>
            <a:endParaRPr lang="en-US" sz="1500" dirty="0"/>
          </a:p>
        </p:txBody>
      </p:sp>
      <p:sp>
        <p:nvSpPr>
          <p:cNvPr id="11" name="Text 9"/>
          <p:cNvSpPr/>
          <p:nvPr/>
        </p:nvSpPr>
        <p:spPr>
          <a:xfrm>
            <a:off x="7543800" y="3886200"/>
            <a:ext cx="4069080" cy="594360"/>
          </a:xfrm>
          <a:prstGeom prst="roundRect">
            <a:avLst>
              <a:gd name="adj" fmla="val 18462"/>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Nuvem</a:t>
            </a:r>
            <a:endParaRPr lang="en-US" sz="1500" dirty="0"/>
          </a:p>
          <a:p>
            <a:pPr marL="0" indent="0" algn="ctr">
              <a:buNone/>
            </a:pPr>
            <a:r>
              <a:rPr lang="en-US" sz="1500" b="1" dirty="0">
                <a:solidFill>
                  <a:srgbClr val="7C3AED"/>
                </a:solidFill>
              </a:rPr>
              <a:t>(escala e armazena)</a:t>
            </a:r>
            <a:endParaRPr lang="en-US" sz="1500" dirty="0"/>
          </a:p>
        </p:txBody>
      </p:sp>
      <p:sp>
        <p:nvSpPr>
          <p:cNvPr id="12" name="Text 10"/>
          <p:cNvSpPr/>
          <p:nvPr/>
        </p:nvSpPr>
        <p:spPr>
          <a:xfrm>
            <a:off x="7543800" y="4709160"/>
            <a:ext cx="4069080" cy="594360"/>
          </a:xfrm>
          <a:prstGeom prst="roundRect">
            <a:avLst>
              <a:gd name="adj" fmla="val 18462"/>
            </a:avLst>
          </a:prstGeom>
          <a:solidFill>
            <a:srgbClr val="FEF9C3"/>
          </a:solidFill>
          <a:ln>
            <a:solidFill>
              <a:srgbClr val="CA8A04"/>
            </a:solidFill>
          </a:ln>
        </p:spPr>
        <p:txBody>
          <a:bodyPr wrap="square" lIns="762" tIns="762" rIns="762" bIns="762" rtlCol="0" anchor="ctr">
            <a:normAutofit/>
          </a:bodyPr>
          <a:lstStyle/>
          <a:p>
            <a:pPr marL="0" indent="0" algn="ctr">
              <a:buNone/>
            </a:pPr>
            <a:r>
              <a:rPr lang="en-US" sz="1500" b="1" dirty="0">
                <a:solidFill>
                  <a:srgbClr val="CA8A04"/>
                </a:solidFill>
              </a:rPr>
              <a:t>Aplicações</a:t>
            </a:r>
            <a:endParaRPr lang="en-US" sz="1500" dirty="0"/>
          </a:p>
          <a:p>
            <a:pPr marL="0" indent="0" algn="ctr">
              <a:buNone/>
            </a:pPr>
            <a:r>
              <a:rPr lang="en-US" sz="1500" b="1" dirty="0">
                <a:solidFill>
                  <a:srgbClr val="CA8A04"/>
                </a:solidFill>
              </a:rPr>
              <a:t>(decisão e ação)</a:t>
            </a:r>
            <a:endParaRPr lang="en-US" sz="150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w="12700">
            <a:solidFill>
              <a:srgbClr val="F8FAFC">
                <a:alpha val="0"/>
              </a:srgbClr>
            </a:solidFill>
            <a:prstDash val="solid"/>
          </a:ln>
        </p:spPr>
      </p:sp>
      <p:sp>
        <p:nvSpPr>
          <p:cNvPr id="3" name="Text 1"/>
          <p:cNvSpPr/>
          <p:nvPr/>
        </p:nvSpPr>
        <p:spPr>
          <a:xfrm>
            <a:off x="502920" y="228600"/>
            <a:ext cx="11155680" cy="502920"/>
          </a:xfrm>
          <a:prstGeom prst="rect">
            <a:avLst/>
          </a:prstGeom>
          <a:noFill/>
          <a:ln/>
        </p:spPr>
        <p:txBody>
          <a:bodyPr wrap="square" lIns="0" tIns="0" rIns="0" bIns="0" rtlCol="0" anchor="ctr">
            <a:norm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Referências e estudo complementar</a:t>
            </a:r>
            <a:endParaRPr lang="en-US" sz="3200" dirty="0"/>
          </a:p>
        </p:txBody>
      </p:sp>
      <p:sp>
        <p:nvSpPr>
          <p:cNvPr id="4" name="Shape 2"/>
          <p:cNvSpPr/>
          <p:nvPr/>
        </p:nvSpPr>
        <p:spPr>
          <a:xfrm>
            <a:off x="502920" y="877824"/>
            <a:ext cx="11201400" cy="0"/>
          </a:xfrm>
          <a:prstGeom prst="line">
            <a:avLst/>
          </a:prstGeom>
          <a:noFill/>
          <a:ln w="12700">
            <a:solidFill>
              <a:srgbClr val="E2E8F0"/>
            </a:solidFill>
            <a:prstDash val="solid"/>
          </a:ln>
        </p:spPr>
      </p:sp>
      <p:sp>
        <p:nvSpPr>
          <p:cNvPr id="5" name="Text 3"/>
          <p:cNvSpPr/>
          <p:nvPr/>
        </p:nvSpPr>
        <p:spPr>
          <a:xfrm>
            <a:off x="594360" y="987552"/>
            <a:ext cx="6629400" cy="292608"/>
          </a:xfrm>
          <a:prstGeom prst="rect">
            <a:avLst/>
          </a:prstGeom>
          <a:noFill/>
          <a:ln/>
        </p:spPr>
        <p:txBody>
          <a:bodyPr wrap="square" lIns="0" tIns="0" rIns="0" bIns="0" rtlCol="0" anchor="ctr"/>
          <a:lstStyle/>
          <a:p>
            <a:pPr marL="0" indent="0">
              <a:buNone/>
            </a:pPr>
            <a:r>
              <a:rPr lang="en-US" sz="1600" b="1" dirty="0">
                <a:solidFill>
                  <a:srgbClr val="0284C7"/>
                </a:solidFill>
              </a:rPr>
              <a:t>Tópico: Fontes confiáveis para aprofundamento</a:t>
            </a:r>
            <a:endParaRPr lang="en-US" sz="1600" dirty="0"/>
          </a:p>
        </p:txBody>
      </p:sp>
      <p:sp>
        <p:nvSpPr>
          <p:cNvPr id="6" name="Text 4"/>
          <p:cNvSpPr/>
          <p:nvPr/>
        </p:nvSpPr>
        <p:spPr>
          <a:xfrm>
            <a:off x="594360" y="1353312"/>
            <a:ext cx="6537960" cy="4389120"/>
          </a:xfrm>
          <a:prstGeom prst="rect">
            <a:avLst/>
          </a:prstGeom>
          <a:noFill/>
          <a:ln/>
        </p:spPr>
        <p:txBody>
          <a:bodyPr wrap="square" lIns="889" tIns="1524" rIns="1524" bIns="889" rtlCol="0" anchor="t">
            <a:normAutofit/>
          </a:bodyPr>
          <a:lstStyle/>
          <a:p>
            <a:pPr marL="0" indent="0">
              <a:buNone/>
            </a:pPr>
            <a:r>
              <a:rPr lang="en-US" sz="2400" dirty="0">
                <a:solidFill>
                  <a:srgbClr val="172033"/>
                </a:solidFill>
              </a:rPr>
              <a:t>• MQTT.org e OASIS: MQTT e modelo publish/subscribe.</a:t>
            </a:r>
            <a:endParaRPr lang="en-US" sz="2400" dirty="0"/>
          </a:p>
          <a:p>
            <a:pPr marL="0" indent="0">
              <a:buNone/>
            </a:pPr>
            <a:endParaRPr lang="en-US" sz="2400" dirty="0"/>
          </a:p>
          <a:p>
            <a:pPr marL="0" indent="0">
              <a:buNone/>
            </a:pPr>
            <a:r>
              <a:rPr lang="en-US" sz="2400" dirty="0">
                <a:solidFill>
                  <a:srgbClr val="172033"/>
                </a:solidFill>
              </a:rPr>
              <a:t>• IETF RFC 7252: protocolo CoAP.</a:t>
            </a:r>
            <a:endParaRPr lang="en-US" sz="2400" dirty="0"/>
          </a:p>
          <a:p>
            <a:pPr marL="0" indent="0">
              <a:buNone/>
            </a:pPr>
            <a:endParaRPr lang="en-US" sz="2400" dirty="0"/>
          </a:p>
          <a:p>
            <a:pPr marL="0" indent="0">
              <a:buNone/>
            </a:pPr>
            <a:r>
              <a:rPr lang="en-US" sz="2400" dirty="0">
                <a:solidFill>
                  <a:srgbClr val="172033"/>
                </a:solidFill>
              </a:rPr>
              <a:t>• Microsoft Learn e AWS: arquitetura, nuvem, borda e OTA.</a:t>
            </a:r>
            <a:endParaRPr lang="en-US" sz="2400" dirty="0"/>
          </a:p>
          <a:p>
            <a:pPr marL="0" indent="0">
              <a:buNone/>
            </a:pPr>
            <a:endParaRPr lang="en-US" sz="2400" dirty="0"/>
          </a:p>
          <a:p>
            <a:pPr marL="0" indent="0">
              <a:buNone/>
            </a:pPr>
            <a:r>
              <a:rPr lang="en-US" sz="2400" dirty="0">
                <a:solidFill>
                  <a:srgbClr val="172033"/>
                </a:solidFill>
              </a:rPr>
              <a:t>• NIST e OWASP: segurança e riscos em IoT.</a:t>
            </a:r>
            <a:endParaRPr lang="en-US" sz="2400" dirty="0"/>
          </a:p>
          <a:p>
            <a:pPr marL="0" indent="0">
              <a:buNone/>
            </a:pPr>
            <a:endParaRPr lang="en-US" sz="2400" dirty="0"/>
          </a:p>
          <a:p>
            <a:pPr marL="0" indent="0">
              <a:buNone/>
            </a:pPr>
            <a:r>
              <a:rPr lang="en-US" sz="2400" dirty="0">
                <a:solidFill>
                  <a:srgbClr val="172033"/>
                </a:solidFill>
              </a:rPr>
              <a:t>• Eclipse Ditto: gêmeos digitais em IoT.</a:t>
            </a:r>
            <a:endParaRPr lang="en-US" sz="2400" dirty="0"/>
          </a:p>
        </p:txBody>
      </p:sp>
      <p:sp>
        <p:nvSpPr>
          <p:cNvPr id="7" name="Text 5"/>
          <p:cNvSpPr/>
          <p:nvPr/>
        </p:nvSpPr>
        <p:spPr>
          <a:xfrm>
            <a:off x="7406640" y="987552"/>
            <a:ext cx="4251960" cy="292608"/>
          </a:xfrm>
          <a:prstGeom prst="rect">
            <a:avLst/>
          </a:prstGeom>
          <a:noFill/>
          <a:ln/>
        </p:spPr>
        <p:txBody>
          <a:bodyPr wrap="square" lIns="0" tIns="0" rIns="0" bIns="0" rtlCol="0" anchor="ctr"/>
          <a:lstStyle/>
          <a:p>
            <a:pPr marL="0" indent="0" algn="ctr">
              <a:buNone/>
            </a:pPr>
            <a:r>
              <a:rPr lang="en-US" sz="1400" b="1" dirty="0">
                <a:solidFill>
                  <a:srgbClr val="475569"/>
                </a:solidFill>
              </a:rPr>
              <a:t>Segurança ponta a ponta</a:t>
            </a:r>
            <a:endParaRPr lang="en-US" sz="1400" dirty="0"/>
          </a:p>
        </p:txBody>
      </p:sp>
      <p:sp>
        <p:nvSpPr>
          <p:cNvPr id="8" name="Text 6"/>
          <p:cNvSpPr/>
          <p:nvPr/>
        </p:nvSpPr>
        <p:spPr>
          <a:xfrm>
            <a:off x="7635240" y="1463040"/>
            <a:ext cx="3886200" cy="566928"/>
          </a:xfrm>
          <a:prstGeom prst="roundRect">
            <a:avLst>
              <a:gd name="adj" fmla="val 19355"/>
            </a:avLst>
          </a:prstGeom>
          <a:solidFill>
            <a:srgbClr val="E0F2FE"/>
          </a:solidFill>
          <a:ln>
            <a:solidFill>
              <a:srgbClr val="0284C7"/>
            </a:solidFill>
          </a:ln>
        </p:spPr>
        <p:txBody>
          <a:bodyPr wrap="square" lIns="762" tIns="762" rIns="762" bIns="762" rtlCol="0" anchor="ctr">
            <a:normAutofit/>
          </a:bodyPr>
          <a:lstStyle/>
          <a:p>
            <a:pPr marL="0" indent="0" algn="ctr">
              <a:buNone/>
            </a:pPr>
            <a:r>
              <a:rPr lang="en-US" sz="1500" b="1" dirty="0">
                <a:solidFill>
                  <a:srgbClr val="0284C7"/>
                </a:solidFill>
              </a:rPr>
              <a:t>Identidade</a:t>
            </a:r>
            <a:endParaRPr lang="en-US" sz="1500" dirty="0"/>
          </a:p>
          <a:p>
            <a:pPr marL="0" indent="0" algn="ctr">
              <a:buNone/>
            </a:pPr>
            <a:r>
              <a:rPr lang="en-US" sz="1500" b="1" dirty="0">
                <a:solidFill>
                  <a:srgbClr val="0284C7"/>
                </a:solidFill>
              </a:rPr>
              <a:t>do dispositivo</a:t>
            </a:r>
            <a:endParaRPr lang="en-US" sz="1500" dirty="0"/>
          </a:p>
        </p:txBody>
      </p:sp>
      <p:sp>
        <p:nvSpPr>
          <p:cNvPr id="9" name="Text 7"/>
          <p:cNvSpPr/>
          <p:nvPr/>
        </p:nvSpPr>
        <p:spPr>
          <a:xfrm>
            <a:off x="7635240" y="2331720"/>
            <a:ext cx="3886200" cy="566928"/>
          </a:xfrm>
          <a:prstGeom prst="roundRect">
            <a:avLst>
              <a:gd name="adj" fmla="val 19355"/>
            </a:avLst>
          </a:prstGeom>
          <a:solidFill>
            <a:srgbClr val="DCFCE7"/>
          </a:solidFill>
          <a:ln>
            <a:solidFill>
              <a:srgbClr val="10B981"/>
            </a:solidFill>
          </a:ln>
        </p:spPr>
        <p:txBody>
          <a:bodyPr wrap="square" lIns="762" tIns="762" rIns="762" bIns="762" rtlCol="0" anchor="ctr">
            <a:normAutofit/>
          </a:bodyPr>
          <a:lstStyle/>
          <a:p>
            <a:pPr marL="0" indent="0" algn="ctr">
              <a:buNone/>
            </a:pPr>
            <a:r>
              <a:rPr lang="en-US" sz="1500" b="1" dirty="0">
                <a:solidFill>
                  <a:srgbClr val="10B981"/>
                </a:solidFill>
              </a:rPr>
              <a:t>Criptografia</a:t>
            </a:r>
            <a:endParaRPr lang="en-US" sz="1500" dirty="0"/>
          </a:p>
          <a:p>
            <a:pPr marL="0" indent="0" algn="ctr">
              <a:buNone/>
            </a:pPr>
            <a:r>
              <a:rPr lang="en-US" sz="1500" b="1" dirty="0">
                <a:solidFill>
                  <a:srgbClr val="10B981"/>
                </a:solidFill>
              </a:rPr>
              <a:t>em trânsito</a:t>
            </a:r>
            <a:endParaRPr lang="en-US" sz="1500" dirty="0"/>
          </a:p>
        </p:txBody>
      </p:sp>
      <p:sp>
        <p:nvSpPr>
          <p:cNvPr id="10" name="Text 8"/>
          <p:cNvSpPr/>
          <p:nvPr/>
        </p:nvSpPr>
        <p:spPr>
          <a:xfrm>
            <a:off x="7635240" y="3200400"/>
            <a:ext cx="3886200" cy="566928"/>
          </a:xfrm>
          <a:prstGeom prst="roundRect">
            <a:avLst>
              <a:gd name="adj" fmla="val 19355"/>
            </a:avLst>
          </a:prstGeom>
          <a:solidFill>
            <a:srgbClr val="FFEDD5"/>
          </a:solidFill>
          <a:ln>
            <a:solidFill>
              <a:srgbClr val="F97316"/>
            </a:solidFill>
          </a:ln>
        </p:spPr>
        <p:txBody>
          <a:bodyPr wrap="square" lIns="762" tIns="762" rIns="762" bIns="762" rtlCol="0" anchor="ctr">
            <a:normAutofit/>
          </a:bodyPr>
          <a:lstStyle/>
          <a:p>
            <a:pPr marL="0" indent="0" algn="ctr">
              <a:buNone/>
            </a:pPr>
            <a:r>
              <a:rPr lang="en-US" sz="1500" b="1" dirty="0">
                <a:solidFill>
                  <a:srgbClr val="F97316"/>
                </a:solidFill>
              </a:rPr>
              <a:t>Autorização</a:t>
            </a:r>
            <a:endParaRPr lang="en-US" sz="1500" dirty="0"/>
          </a:p>
          <a:p>
            <a:pPr marL="0" indent="0" algn="ctr">
              <a:buNone/>
            </a:pPr>
            <a:r>
              <a:rPr lang="en-US" sz="1500" b="1" dirty="0">
                <a:solidFill>
                  <a:srgbClr val="F97316"/>
                </a:solidFill>
              </a:rPr>
              <a:t>por permissões</a:t>
            </a:r>
            <a:endParaRPr lang="en-US" sz="1500" dirty="0"/>
          </a:p>
        </p:txBody>
      </p:sp>
      <p:sp>
        <p:nvSpPr>
          <p:cNvPr id="11" name="Text 9"/>
          <p:cNvSpPr/>
          <p:nvPr/>
        </p:nvSpPr>
        <p:spPr>
          <a:xfrm>
            <a:off x="7635240" y="4069080"/>
            <a:ext cx="3886200" cy="566928"/>
          </a:xfrm>
          <a:prstGeom prst="roundRect">
            <a:avLst>
              <a:gd name="adj" fmla="val 19355"/>
            </a:avLst>
          </a:prstGeom>
          <a:solidFill>
            <a:srgbClr val="EDE9FE"/>
          </a:solidFill>
          <a:ln>
            <a:solidFill>
              <a:srgbClr val="7C3AED"/>
            </a:solidFill>
          </a:ln>
        </p:spPr>
        <p:txBody>
          <a:bodyPr wrap="square" lIns="762" tIns="762" rIns="762" bIns="762" rtlCol="0" anchor="ctr">
            <a:normAutofit/>
          </a:bodyPr>
          <a:lstStyle/>
          <a:p>
            <a:pPr marL="0" indent="0" algn="ctr">
              <a:buNone/>
            </a:pPr>
            <a:r>
              <a:rPr lang="en-US" sz="1500" b="1" dirty="0">
                <a:solidFill>
                  <a:srgbClr val="7C3AED"/>
                </a:solidFill>
              </a:rPr>
              <a:t>Atualização</a:t>
            </a:r>
            <a:endParaRPr lang="en-US" sz="1500" dirty="0"/>
          </a:p>
          <a:p>
            <a:pPr marL="0" indent="0" algn="ctr">
              <a:buNone/>
            </a:pPr>
            <a:r>
              <a:rPr lang="en-US" sz="1500" b="1" dirty="0">
                <a:solidFill>
                  <a:srgbClr val="7C3AED"/>
                </a:solidFill>
              </a:rPr>
              <a:t>segura</a:t>
            </a:r>
            <a:endParaRPr lang="en-US" sz="1500" dirty="0"/>
          </a:p>
        </p:txBody>
      </p:sp>
      <p:sp>
        <p:nvSpPr>
          <p:cNvPr id="12" name="Text 10">
            <a:hlinkClick r:id="rId3"/>
          </p:cNvPr>
          <p:cNvSpPr/>
          <p:nvPr/>
        </p:nvSpPr>
        <p:spPr>
          <a:xfrm>
            <a:off x="594360" y="5925312"/>
            <a:ext cx="10881360" cy="256032"/>
          </a:xfrm>
          <a:prstGeom prst="rect">
            <a:avLst/>
          </a:prstGeom>
          <a:noFill/>
          <a:ln/>
        </p:spPr>
        <p:txBody>
          <a:bodyPr wrap="square" lIns="0" tIns="0" rIns="0" bIns="0" rtlCol="0" anchor="ctr"/>
          <a:lstStyle/>
          <a:p>
            <a:pPr marL="0" indent="0">
              <a:buNone/>
            </a:pPr>
            <a:r>
              <a:rPr lang="en-US" sz="1150" u="sng" dirty="0">
                <a:solidFill>
                  <a:srgbClr val="0284C7"/>
                </a:solidFill>
                <a:hlinkClick r:id="rId3">
                  <a:extLst>
                    <a:ext uri="{A12FA001-AC4F-418D-AE19-62706E023703}">
                      <ahyp:hlinkClr xmlns:ahyp="http://schemas.microsoft.com/office/drawing/2018/hyperlinkcolor" val="tx"/>
                    </a:ext>
                  </a:extLst>
                </a:hlinkClick>
              </a:rPr>
              <a:t>Link recomendado: MQTT.org</a:t>
            </a:r>
            <a:endParaRPr lang="en-US" sz="1150" dirty="0"/>
          </a:p>
        </p:txBody>
      </p:sp>
      <p:sp>
        <p:nvSpPr>
          <p:cNvPr id="13" name="Shape 11"/>
          <p:cNvSpPr/>
          <p:nvPr/>
        </p:nvSpPr>
        <p:spPr>
          <a:xfrm>
            <a:off x="502920" y="6327648"/>
            <a:ext cx="11201400" cy="0"/>
          </a:xfrm>
          <a:prstGeom prst="line">
            <a:avLst/>
          </a:prstGeom>
          <a:noFill/>
          <a:ln w="12700">
            <a:solidFill>
              <a:srgbClr val="E2E8F0"/>
            </a:solidFill>
            <a:prstDash val="solid"/>
          </a:ln>
        </p:spPr>
      </p:sp>
      <p:sp>
        <p:nvSpPr>
          <p:cNvPr id="14" name="Text 12"/>
          <p:cNvSpPr/>
          <p:nvPr/>
        </p:nvSpPr>
        <p:spPr>
          <a:xfrm>
            <a:off x="502920" y="6428232"/>
            <a:ext cx="11155680" cy="228600"/>
          </a:xfrm>
          <a:prstGeom prst="rect">
            <a:avLst/>
          </a:prstGeom>
          <a:noFill/>
          <a:ln/>
        </p:spPr>
        <p:txBody>
          <a:bodyPr wrap="square" lIns="0" tIns="0" rIns="0" bIns="0" rtlCol="0" anchor="ctr"/>
          <a:lstStyle/>
          <a:p>
            <a:pPr marL="0" indent="0" algn="r">
              <a:buNone/>
            </a:pPr>
            <a:r>
              <a:rPr lang="en-US" sz="1050" dirty="0">
                <a:solidFill>
                  <a:srgbClr val="475569"/>
                </a:solidFill>
              </a:rPr>
              <a:t>professor Msc Elionai Magalhães – 39</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6656</Words>
  <Application>Microsoft Office PowerPoint</Application>
  <PresentationFormat>Widescreen</PresentationFormat>
  <Paragraphs>867</Paragraphs>
  <Slides>39</Slides>
  <Notes>39</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39</vt:i4>
      </vt:variant>
    </vt:vector>
  </HeadingPairs>
  <TitlesOfParts>
    <vt:vector size="42" baseType="lpstr">
      <vt:lpstr>Aptos Display</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Material didático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Comunicação e arquitetura IoT</dc:title>
  <dc:subject>Internet das Coisas - Comunicação e arquitetura IoT</dc:subject>
  <dc:creator>Professor Msc Elionai Magalhães</dc:creator>
  <cp:lastModifiedBy>Elionai</cp:lastModifiedBy>
  <cp:revision>1</cp:revision>
  <dcterms:created xsi:type="dcterms:W3CDTF">2026-08-14T01:02:59Z</dcterms:created>
  <dcterms:modified xsi:type="dcterms:W3CDTF">2026-08-14T01:09:41Z</dcterms:modified>
</cp:coreProperties>
</file>